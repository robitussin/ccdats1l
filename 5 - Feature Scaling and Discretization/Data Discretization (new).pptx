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7" r:id="rId2"/>
    <p:sldId id="442" r:id="rId3"/>
    <p:sldId id="530" r:id="rId4"/>
    <p:sldId id="531" r:id="rId5"/>
    <p:sldId id="532" r:id="rId6"/>
    <p:sldId id="529" r:id="rId7"/>
    <p:sldId id="524" r:id="rId8"/>
    <p:sldId id="520" r:id="rId9"/>
    <p:sldId id="521" r:id="rId10"/>
    <p:sldId id="522" r:id="rId11"/>
    <p:sldId id="523" r:id="rId12"/>
    <p:sldId id="527" r:id="rId13"/>
    <p:sldId id="528" r:id="rId14"/>
    <p:sldId id="525" r:id="rId15"/>
    <p:sldId id="540" r:id="rId16"/>
    <p:sldId id="541" r:id="rId17"/>
    <p:sldId id="542" r:id="rId18"/>
    <p:sldId id="539" r:id="rId19"/>
    <p:sldId id="538" r:id="rId20"/>
    <p:sldId id="535" r:id="rId21"/>
    <p:sldId id="543" r:id="rId22"/>
    <p:sldId id="506" r:id="rId23"/>
    <p:sldId id="519" r:id="rId24"/>
    <p:sldId id="507" r:id="rId25"/>
    <p:sldId id="44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2"/>
            <p14:sldId id="530"/>
            <p14:sldId id="531"/>
            <p14:sldId id="532"/>
            <p14:sldId id="529"/>
            <p14:sldId id="524"/>
            <p14:sldId id="520"/>
            <p14:sldId id="521"/>
            <p14:sldId id="522"/>
            <p14:sldId id="523"/>
            <p14:sldId id="527"/>
            <p14:sldId id="528"/>
            <p14:sldId id="525"/>
            <p14:sldId id="540"/>
            <p14:sldId id="541"/>
            <p14:sldId id="542"/>
            <p14:sldId id="539"/>
            <p14:sldId id="538"/>
            <p14:sldId id="535"/>
            <p14:sldId id="543"/>
            <p14:sldId id="506"/>
            <p14:sldId id="519"/>
            <p14:sldId id="507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93"/>
    <p:restoredTop sz="94511"/>
  </p:normalViewPr>
  <p:slideViewPr>
    <p:cSldViewPr snapToGrid="0">
      <p:cViewPr>
        <p:scale>
          <a:sx n="94" d="100"/>
          <a:sy n="94" d="100"/>
        </p:scale>
        <p:origin x="14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Sheet1!$A$2:$A$101</cx:f>
        <cx:lvl ptCount="100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  <cx:pt idx="9">10</cx:pt>
          <cx:pt idx="10">11</cx:pt>
          <cx:pt idx="11">12</cx:pt>
          <cx:pt idx="12">13</cx:pt>
          <cx:pt idx="13">14</cx:pt>
          <cx:pt idx="14">15</cx:pt>
          <cx:pt idx="15">16</cx:pt>
          <cx:pt idx="16">17</cx:pt>
          <cx:pt idx="17">18</cx:pt>
          <cx:pt idx="18">19</cx:pt>
          <cx:pt idx="19">20</cx:pt>
          <cx:pt idx="20">21</cx:pt>
          <cx:pt idx="21">22</cx:pt>
          <cx:pt idx="22">23</cx:pt>
          <cx:pt idx="23">24</cx:pt>
          <cx:pt idx="24">25</cx:pt>
          <cx:pt idx="25">26</cx:pt>
          <cx:pt idx="26">27</cx:pt>
          <cx:pt idx="27">28</cx:pt>
          <cx:pt idx="28">29</cx:pt>
          <cx:pt idx="29">30</cx:pt>
          <cx:pt idx="30">31</cx:pt>
          <cx:pt idx="31">32</cx:pt>
          <cx:pt idx="32">33</cx:pt>
          <cx:pt idx="33">34</cx:pt>
          <cx:pt idx="34">35</cx:pt>
          <cx:pt idx="35">36</cx:pt>
          <cx:pt idx="36">37</cx:pt>
          <cx:pt idx="37">38</cx:pt>
          <cx:pt idx="38">39</cx:pt>
          <cx:pt idx="39">40</cx:pt>
          <cx:pt idx="40">41</cx:pt>
          <cx:pt idx="41">42</cx:pt>
          <cx:pt idx="42">43</cx:pt>
          <cx:pt idx="43">44</cx:pt>
          <cx:pt idx="44">45</cx:pt>
          <cx:pt idx="45">46</cx:pt>
          <cx:pt idx="46">47</cx:pt>
          <cx:pt idx="47">48</cx:pt>
          <cx:pt idx="48">49</cx:pt>
          <cx:pt idx="49">50</cx:pt>
          <cx:pt idx="50">51</cx:pt>
          <cx:pt idx="51">52</cx:pt>
          <cx:pt idx="52">53</cx:pt>
          <cx:pt idx="53">54</cx:pt>
          <cx:pt idx="54">55</cx:pt>
          <cx:pt idx="55">56</cx:pt>
          <cx:pt idx="56">57</cx:pt>
          <cx:pt idx="57">58</cx:pt>
          <cx:pt idx="58">59</cx:pt>
          <cx:pt idx="59">60</cx:pt>
          <cx:pt idx="60">61</cx:pt>
          <cx:pt idx="61">62</cx:pt>
          <cx:pt idx="62">63</cx:pt>
          <cx:pt idx="63">64</cx:pt>
          <cx:pt idx="64">65</cx:pt>
          <cx:pt idx="65">66</cx:pt>
          <cx:pt idx="66">67</cx:pt>
          <cx:pt idx="67">68</cx:pt>
          <cx:pt idx="68">69</cx:pt>
          <cx:pt idx="69">70</cx:pt>
          <cx:pt idx="70">71</cx:pt>
          <cx:pt idx="71">72</cx:pt>
          <cx:pt idx="72">73</cx:pt>
          <cx:pt idx="73">74</cx:pt>
          <cx:pt idx="74">75</cx:pt>
          <cx:pt idx="75">76</cx:pt>
          <cx:pt idx="76">77</cx:pt>
          <cx:pt idx="77">78</cx:pt>
          <cx:pt idx="78">79</cx:pt>
          <cx:pt idx="79">80</cx:pt>
          <cx:pt idx="80">81</cx:pt>
          <cx:pt idx="81">82</cx:pt>
          <cx:pt idx="82">83</cx:pt>
          <cx:pt idx="83">84</cx:pt>
          <cx:pt idx="84">85</cx:pt>
          <cx:pt idx="85">86</cx:pt>
          <cx:pt idx="86">87</cx:pt>
          <cx:pt idx="87">88</cx:pt>
          <cx:pt idx="88">89</cx:pt>
          <cx:pt idx="89">90</cx:pt>
          <cx:pt idx="90">91</cx:pt>
          <cx:pt idx="91">92</cx:pt>
          <cx:pt idx="92">93</cx:pt>
          <cx:pt idx="93">94</cx:pt>
          <cx:pt idx="94">95</cx:pt>
          <cx:pt idx="95">96</cx:pt>
          <cx:pt idx="96">97</cx:pt>
          <cx:pt idx="97">98</cx:pt>
          <cx:pt idx="98">99</cx:pt>
          <cx:pt idx="99">100</cx:pt>
        </cx:lvl>
      </cx:numDim>
    </cx:data>
  </cx:chartData>
  <cx:chart>
    <cx:title pos="t" align="ctr" overlay="0"/>
    <cx:plotArea>
      <cx:plotAreaRegion>
        <cx:series layoutId="clusteredColumn" uniqueId="{125A8436-8CC9-B941-A212-A2391FF0854A}">
          <cx:tx>
            <cx:txData>
              <cx:f>Sheet1!$A$1</cx:f>
              <cx:v>Series1</cx:v>
            </cx:txData>
          </cx:tx>
          <cx:dataPt idx="3"/>
          <cx:dataId val="0"/>
          <cx:layoutPr>
            <cx:binning intervalClosed="r">
              <cx:binCount val="5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vinaypaspula.substack.com/p/min-max-normalization-and-z-score-normalization-550988c2a990?utm_campaign=post&amp;utm_medium=web" TargetMode="External"/><Relationship Id="rId2" Type="http://schemas.openxmlformats.org/officeDocument/2006/relationships/hyperlink" Target="https://jisooleeworks.github.io/blog-site/2022/09/09/feature-scaling-min-max-z-scor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Data Discretization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2619-5EFC-BA06-BE7D-091B4DBE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CD4-0274-3601-29FC-DA55B942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Many machine learning models, particularly those relying on categorical variables, cannot directly process continuous values. </a:t>
            </a:r>
            <a:endParaRPr lang="en-US" dirty="0">
              <a:latin typeface="Calibri Body"/>
            </a:endParaRP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2A1F8EF1-32A7-555B-F45B-CA16EBB6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28" y="2286869"/>
            <a:ext cx="573979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B681-E6DE-37A0-EA80-818450EF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CB4A-9DA7-98C7-E770-6A40D12F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818AB-85B7-6B08-C684-6A2FA63E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Discretization helps overcome this limitation by segmenting continuous data into meaningful bins or ranges.  </a:t>
            </a:r>
            <a:endParaRPr lang="en-US" dirty="0">
              <a:latin typeface="Calibri Body"/>
            </a:endParaRP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472BA5D5-7546-5196-6042-85DB7A21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28" y="2286869"/>
            <a:ext cx="573979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7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C2865-53C4-1207-6420-774065B3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BAE8-8336-6EF3-8E41-9FB96152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B05BC-84B7-9EBD-EDA2-0EE45EDF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For example, decision trees and Naïve Bayes classifiers often perform better with discretized data, as they reduce the dimensionality and complexity of input features. </a:t>
            </a: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F03AA3D3-E9D4-1E1B-5C28-54B67E72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28" y="2286869"/>
            <a:ext cx="573979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6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6864-2BE5-EA1E-2417-205977AF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A219-9A72-981B-11EE-030966BB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D26F3-CD02-C528-6FB5-A78D1E389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Discretization helps uncover patterns or trends that may be obscured in continuous data, such as the relationship between age ranges and purchasing habits in customer analytics. </a:t>
            </a:r>
            <a:endParaRPr lang="en-US" dirty="0">
              <a:latin typeface="Calibri Body"/>
            </a:endParaRP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AF16CC15-176C-F805-28DB-4D63215B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28" y="2286869"/>
            <a:ext cx="573979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45D9-F438-40C2-256F-B61D3F07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F463-319A-90B4-F71C-FB19D873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782B-4D3B-D4F2-BE3A-EC52FFA92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Discretization is the process of converting continuous data or numerical values into discrete categories or bins </a:t>
            </a:r>
            <a:r>
              <a:rPr lang="en-US" dirty="0">
                <a:latin typeface="Calibri Body"/>
              </a:rPr>
              <a:t>and associating with each bin some specific data value or conceptual labels.</a:t>
            </a: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45336603-A171-B2B8-DC03-77C68530E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28" y="2286869"/>
            <a:ext cx="573979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5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76B5-AF60-7907-A0AA-35FAA1C5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E14E-4DFA-6E50-6FE7-2559558B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Discretization?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B925-179B-E7A9-DAA6-2D4DF7DDF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7477"/>
            <a:ext cx="10890380" cy="1210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dirty="0"/>
              <a:t>Instead of dealing with exact values, discretization groups the data into ranges and helps algorithms perform better especially in classification tasks.</a:t>
            </a:r>
            <a:endParaRPr lang="en-US" dirty="0">
              <a:latin typeface="Calibri Body"/>
            </a:endParaRPr>
          </a:p>
        </p:txBody>
      </p:sp>
      <p:pic>
        <p:nvPicPr>
          <p:cNvPr id="6" name="Picture 5" descr="A diagram of a normal and a normal graph&#10;&#10;AI-generated content may be incorrect.">
            <a:extLst>
              <a:ext uri="{FF2B5EF4-FFF2-40B4-BE49-F238E27FC236}">
                <a16:creationId xmlns:a16="http://schemas.microsoft.com/office/drawing/2014/main" id="{9AC56D03-36B0-C464-71BD-6E28A0578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283" y="2027977"/>
            <a:ext cx="72136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5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CB45A0-2978-F2CA-DF13-28491EFE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B148-A154-9C44-16AB-B6CA7B53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vs Discrete Data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1B2610CF-BB6B-46C8-D8CF-E28630113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60893"/>
              </p:ext>
            </p:extLst>
          </p:nvPr>
        </p:nvGraphicFramePr>
        <p:xfrm>
          <a:off x="2032000" y="2151932"/>
          <a:ext cx="812800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72737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83358443"/>
                    </a:ext>
                  </a:extLst>
                </a:gridCol>
              </a:tblGrid>
              <a:tr h="16436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A set of data is said to be </a:t>
                      </a:r>
                      <a:r>
                        <a:rPr lang="en-US" sz="3000" b="1" dirty="0">
                          <a:solidFill>
                            <a:srgbClr val="00B050"/>
                          </a:solidFill>
                        </a:rPr>
                        <a:t>continuous</a:t>
                      </a:r>
                      <a:r>
                        <a:rPr lang="en-US" sz="3000" dirty="0"/>
                        <a:t> if the values belonging to the set can take on any value </a:t>
                      </a:r>
                      <a:r>
                        <a:rPr lang="en-US" sz="3000" b="1" dirty="0">
                          <a:solidFill>
                            <a:srgbClr val="00B0F0"/>
                          </a:solidFill>
                        </a:rPr>
                        <a:t>within a finite or infinite interval</a:t>
                      </a:r>
                      <a:endParaRPr lang="en-PH" sz="3000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A set of data is said to be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discrete</a:t>
                      </a:r>
                      <a:r>
                        <a:rPr lang="en-US" sz="3000" dirty="0"/>
                        <a:t> if the values belonging to the set are </a:t>
                      </a:r>
                      <a:r>
                        <a:rPr lang="en-US" sz="3000" b="1" dirty="0">
                          <a:solidFill>
                            <a:srgbClr val="00B0F0"/>
                          </a:solidFill>
                        </a:rPr>
                        <a:t>distinct</a:t>
                      </a:r>
                      <a:r>
                        <a:rPr lang="en-US" sz="3000" dirty="0"/>
                        <a:t> and </a:t>
                      </a:r>
                      <a:r>
                        <a:rPr lang="en-US" sz="3000" b="1" dirty="0">
                          <a:solidFill>
                            <a:srgbClr val="00B0F0"/>
                          </a:solidFill>
                        </a:rPr>
                        <a:t>separate</a:t>
                      </a:r>
                      <a:endParaRPr lang="en-PH" sz="3000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5757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8DE0E5-748C-2D74-6CE2-EAE1A55E34F2}"/>
              </a:ext>
            </a:extLst>
          </p:cNvPr>
          <p:cNvSpPr txBox="1"/>
          <p:nvPr/>
        </p:nvSpPr>
        <p:spPr>
          <a:xfrm>
            <a:off x="2859974" y="5137983"/>
            <a:ext cx="2648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Measured</a:t>
            </a:r>
            <a:endParaRPr lang="en-PH" sz="4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3A653-ABB2-C7CD-BBB0-F6B72EAF683D}"/>
              </a:ext>
            </a:extLst>
          </p:cNvPr>
          <p:cNvSpPr txBox="1"/>
          <p:nvPr/>
        </p:nvSpPr>
        <p:spPr>
          <a:xfrm>
            <a:off x="6909460" y="5137983"/>
            <a:ext cx="2422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Counted</a:t>
            </a:r>
            <a:endParaRPr lang="en-PH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21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CF522A-1DB5-D026-4FCA-41103FDF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281D-8A83-491A-2DDF-8825B22E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vs Discrete Data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7D9B7B-FC4A-65BC-52D7-CD355E62E8DE}"/>
              </a:ext>
            </a:extLst>
          </p:cNvPr>
          <p:cNvSpPr txBox="1">
            <a:spLocks/>
          </p:cNvSpPr>
          <p:nvPr/>
        </p:nvSpPr>
        <p:spPr>
          <a:xfrm>
            <a:off x="1523999" y="1964318"/>
            <a:ext cx="1034190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b="1" dirty="0"/>
          </a:p>
          <a:p>
            <a:pPr algn="l"/>
            <a:endParaRPr lang="en-US" sz="3100" b="1" dirty="0"/>
          </a:p>
          <a:p>
            <a:pPr algn="l"/>
            <a:endParaRPr lang="en-US" sz="3100" b="1" dirty="0"/>
          </a:p>
          <a:p>
            <a:pPr algn="l"/>
            <a:endParaRPr lang="en-US" sz="3100" b="1" dirty="0"/>
          </a:p>
          <a:p>
            <a:pPr algn="l"/>
            <a:endParaRPr lang="en-US" sz="3000" b="1" dirty="0"/>
          </a:p>
          <a:p>
            <a:pPr algn="l"/>
            <a:endParaRPr lang="en-US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7EE26-DA5C-7078-2E19-C0D43471AA2F}"/>
              </a:ext>
            </a:extLst>
          </p:cNvPr>
          <p:cNvSpPr txBox="1"/>
          <p:nvPr/>
        </p:nvSpPr>
        <p:spPr>
          <a:xfrm>
            <a:off x="2375627" y="1952240"/>
            <a:ext cx="2739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Measured</a:t>
            </a:r>
            <a:endParaRPr lang="en-PH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B8831-4B5E-4B7A-C7C3-9A8CBB383209}"/>
              </a:ext>
            </a:extLst>
          </p:cNvPr>
          <p:cNvSpPr txBox="1"/>
          <p:nvPr/>
        </p:nvSpPr>
        <p:spPr>
          <a:xfrm>
            <a:off x="7751093" y="1889546"/>
            <a:ext cx="2288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Counted</a:t>
            </a:r>
            <a:endParaRPr lang="en-PH" sz="4000" b="1" dirty="0">
              <a:solidFill>
                <a:srgbClr val="0070C0"/>
              </a:solidFill>
            </a:endParaRPr>
          </a:p>
        </p:txBody>
      </p:sp>
      <p:pic>
        <p:nvPicPr>
          <p:cNvPr id="6" name="Picture 5" descr="A person and person posing for a picture&#10;&#10;Description automatically generated">
            <a:extLst>
              <a:ext uri="{FF2B5EF4-FFF2-40B4-BE49-F238E27FC236}">
                <a16:creationId xmlns:a16="http://schemas.microsoft.com/office/drawing/2014/main" id="{83F961C2-9E7F-FD56-CF11-B8685A8B0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41" y="2954959"/>
            <a:ext cx="3877694" cy="17994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F94717-47FF-5B6A-5514-1FFB1B36A7AD}"/>
              </a:ext>
            </a:extLst>
          </p:cNvPr>
          <p:cNvSpPr txBox="1"/>
          <p:nvPr/>
        </p:nvSpPr>
        <p:spPr>
          <a:xfrm>
            <a:off x="1240971" y="4989996"/>
            <a:ext cx="46785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Height of a person can range anywhere between 0 to 7 feet tall</a:t>
            </a:r>
            <a:endParaRPr lang="en-PH" sz="2500" dirty="0"/>
          </a:p>
        </p:txBody>
      </p:sp>
      <p:pic>
        <p:nvPicPr>
          <p:cNvPr id="11" name="Picture 10" descr="A group of colorful dice&#10;&#10;Description automatically generated">
            <a:extLst>
              <a:ext uri="{FF2B5EF4-FFF2-40B4-BE49-F238E27FC236}">
                <a16:creationId xmlns:a16="http://schemas.microsoft.com/office/drawing/2014/main" id="{131ED73D-586C-7955-01DC-69B1F5244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07" y="2763685"/>
            <a:ext cx="2596250" cy="1990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ACCD74-04A8-D561-6557-7207756109CA}"/>
              </a:ext>
            </a:extLst>
          </p:cNvPr>
          <p:cNvSpPr txBox="1"/>
          <p:nvPr/>
        </p:nvSpPr>
        <p:spPr>
          <a:xfrm>
            <a:off x="6829360" y="5053405"/>
            <a:ext cx="52316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Dice rolls can only be 1 or 2 or 3 or 4 or 5 or 6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405952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79106D-D265-EE70-0919-3953E113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E327-B4B0-72E2-535D-41EBFC3C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vs Discrete Data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58AD8C9F-B090-BF40-4BB7-D69B49A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99467"/>
              </p:ext>
            </p:extLst>
          </p:nvPr>
        </p:nvGraphicFramePr>
        <p:xfrm>
          <a:off x="2031999" y="2151932"/>
          <a:ext cx="8716866" cy="412634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58433">
                  <a:extLst>
                    <a:ext uri="{9D8B030D-6E8A-4147-A177-3AD203B41FA5}">
                      <a16:colId xmlns:a16="http://schemas.microsoft.com/office/drawing/2014/main" val="2277273722"/>
                    </a:ext>
                  </a:extLst>
                </a:gridCol>
                <a:gridCol w="4358433">
                  <a:extLst>
                    <a:ext uri="{9D8B030D-6E8A-4147-A177-3AD203B41FA5}">
                      <a16:colId xmlns:a16="http://schemas.microsoft.com/office/drawing/2014/main" val="3583358443"/>
                    </a:ext>
                  </a:extLst>
                </a:gridCol>
              </a:tblGrid>
              <a:tr h="651624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FF0000"/>
                          </a:solidFill>
                        </a:rPr>
                        <a:t>Measured</a:t>
                      </a:r>
                      <a:endParaRPr lang="en-PH" sz="3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00B0F0"/>
                          </a:solidFill>
                        </a:rPr>
                        <a:t>Counted</a:t>
                      </a:r>
                      <a:endParaRPr lang="en-PH" sz="30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984690"/>
                  </a:ext>
                </a:extLst>
              </a:tr>
              <a:tr h="651624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Height of a person</a:t>
                      </a:r>
                      <a:endParaRPr lang="en-PH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Number of persons living in a house</a:t>
                      </a:r>
                      <a:endParaRPr lang="en-PH" sz="3000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700"/>
                  </a:ext>
                </a:extLst>
              </a:tr>
              <a:tr h="55776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Length of a leaf</a:t>
                      </a:r>
                      <a:endParaRPr lang="en-PH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Number of dry leaves in a plant</a:t>
                      </a:r>
                      <a:endParaRPr lang="en-PH" sz="3000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86974"/>
                  </a:ext>
                </a:extLst>
              </a:tr>
              <a:tr h="75515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Speed of a vehicle</a:t>
                      </a:r>
                      <a:endParaRPr lang="en-PH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Number of vehicles caught for speeding in a highway</a:t>
                      </a:r>
                      <a:endParaRPr lang="en-PH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24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2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D588-929E-6636-F967-7ED67111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Age Discretization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3FB1-727F-A4F9-B74C-514D33118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0025"/>
            <a:ext cx="10515600" cy="5403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Continuous data:</a:t>
            </a:r>
          </a:p>
          <a:p>
            <a:pPr marL="0" indent="0">
              <a:buNone/>
            </a:pPr>
            <a:r>
              <a:rPr lang="en-PH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1, 77, 9, 4, 70, 11, 42, 17, 13, 18, 19, 31, 33, 36, 14, 44, 46, 7, 74, 78, 5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CD3557-9ADF-BBDD-4F6B-7D1AD37A76C2}"/>
              </a:ext>
            </a:extLst>
          </p:cNvPr>
          <p:cNvSpPr txBox="1">
            <a:spLocks/>
          </p:cNvSpPr>
          <p:nvPr/>
        </p:nvSpPr>
        <p:spPr>
          <a:xfrm>
            <a:off x="1328057" y="5519281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8FC7D-F5D8-4191-ECCD-3B73038F8831}"/>
              </a:ext>
            </a:extLst>
          </p:cNvPr>
          <p:cNvSpPr txBox="1"/>
          <p:nvPr/>
        </p:nvSpPr>
        <p:spPr>
          <a:xfrm>
            <a:off x="838200" y="4176541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rgbClr val="333333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Sorted Data:</a:t>
            </a:r>
          </a:p>
          <a:p>
            <a:r>
              <a:rPr lang="en-PH" sz="2800" dirty="0">
                <a:solidFill>
                  <a:srgbClr val="333333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1, 5, 9, 4, 7, 11, 14, 17, 13, 18, 19, 31, 33, 36, 42, 44, 46, 70, 74, 78, 77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C63E9-EC43-4A79-A2EE-1B24239BD5F5}"/>
              </a:ext>
            </a:extLst>
          </p:cNvPr>
          <p:cNvSpPr txBox="1"/>
          <p:nvPr/>
        </p:nvSpPr>
        <p:spPr>
          <a:xfrm>
            <a:off x="11016343" y="8465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7C2FB-71EC-95DA-B970-D9D9FB64FB49}"/>
              </a:ext>
            </a:extLst>
          </p:cNvPr>
          <p:cNvSpPr txBox="1"/>
          <p:nvPr/>
        </p:nvSpPr>
        <p:spPr>
          <a:xfrm>
            <a:off x="1732244" y="5242282"/>
            <a:ext cx="87275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effectLst/>
                <a:latin typeface="Calibri Body"/>
                <a:ea typeface="Cambria Math" panose="02040503050406030204" pitchFamily="18" charset="0"/>
              </a:rPr>
              <a:t>Step 1: </a:t>
            </a:r>
            <a:r>
              <a:rPr lang="en-US" sz="3000" b="0" i="0" dirty="0">
                <a:solidFill>
                  <a:srgbClr val="242424"/>
                </a:solidFill>
                <a:effectLst/>
                <a:latin typeface="Calibri Body"/>
                <a:ea typeface="Cambria Math" panose="02040503050406030204" pitchFamily="18" charset="0"/>
              </a:rPr>
              <a:t>Sort the continuous values in ascending order </a:t>
            </a:r>
          </a:p>
        </p:txBody>
      </p:sp>
    </p:spTree>
    <p:extLst>
      <p:ext uri="{BB962C8B-B14F-4D97-AF65-F5344CB8AC3E}">
        <p14:creationId xmlns:p14="http://schemas.microsoft.com/office/powerpoint/2010/main" val="237742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A4B5-7814-E174-831F-E3793EE3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9B0E-3E0B-6180-BDD6-99ECC2DB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Age Discretization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3B47EB-9B10-4061-F918-DEBA3A3C8A3F}"/>
              </a:ext>
            </a:extLst>
          </p:cNvPr>
          <p:cNvSpPr txBox="1">
            <a:spLocks/>
          </p:cNvSpPr>
          <p:nvPr/>
        </p:nvSpPr>
        <p:spPr>
          <a:xfrm>
            <a:off x="1328057" y="5519281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C71C8-4A8F-A2A7-1883-3B25EDB1A9C6}"/>
              </a:ext>
            </a:extLst>
          </p:cNvPr>
          <p:cNvSpPr txBox="1"/>
          <p:nvPr/>
        </p:nvSpPr>
        <p:spPr>
          <a:xfrm>
            <a:off x="838200" y="2151932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rgbClr val="333333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Sorted Data:</a:t>
            </a:r>
          </a:p>
          <a:p>
            <a:r>
              <a:rPr lang="en-PH" sz="2800" dirty="0">
                <a:solidFill>
                  <a:srgbClr val="333333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1, 5, 9, 4, 7, 11, 14, 17, 13, 18, 19, 31, 33, 36, 42, 44, 46, 70, 74, 78, 77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A4636-96AA-1B51-C9DA-9EF3434DC8D2}"/>
              </a:ext>
            </a:extLst>
          </p:cNvPr>
          <p:cNvSpPr txBox="1"/>
          <p:nvPr/>
        </p:nvSpPr>
        <p:spPr>
          <a:xfrm>
            <a:off x="11016343" y="8465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753D1-BBC6-A2A7-AD41-664872D3138F}"/>
              </a:ext>
            </a:extLst>
          </p:cNvPr>
          <p:cNvSpPr txBox="1"/>
          <p:nvPr/>
        </p:nvSpPr>
        <p:spPr>
          <a:xfrm>
            <a:off x="1732244" y="5242282"/>
            <a:ext cx="87275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Calibri Body"/>
                <a:ea typeface="Cambria Math" panose="02040503050406030204" pitchFamily="18" charset="0"/>
              </a:rPr>
              <a:t>Step </a:t>
            </a:r>
            <a:r>
              <a:rPr lang="en-US" sz="3000" b="1" dirty="0">
                <a:latin typeface="Calibri Body"/>
                <a:ea typeface="Cambria Math" panose="02040503050406030204" pitchFamily="18" charset="0"/>
              </a:rPr>
              <a:t>2</a:t>
            </a:r>
            <a:r>
              <a:rPr lang="en-US" sz="3000" b="1" i="0" dirty="0">
                <a:effectLst/>
                <a:latin typeface="Calibri Body"/>
                <a:ea typeface="Cambria Math" panose="02040503050406030204" pitchFamily="18" charset="0"/>
              </a:rPr>
              <a:t>: </a:t>
            </a:r>
            <a:r>
              <a:rPr lang="en-US" sz="3000" dirty="0">
                <a:solidFill>
                  <a:srgbClr val="242424"/>
                </a:solidFill>
                <a:latin typeface="Calibri Body"/>
              </a:rPr>
              <a:t> Evaluate a cut point for splitting</a:t>
            </a:r>
            <a:endParaRPr lang="en-US" sz="3000" b="0" i="0" dirty="0">
              <a:solidFill>
                <a:srgbClr val="242424"/>
              </a:solidFill>
              <a:effectLst/>
              <a:latin typeface="Calibri Body"/>
              <a:ea typeface="Cambria Math" panose="020405030504060302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AC9B441-7252-A8A8-CD76-ACAAF9570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461359"/>
              </p:ext>
            </p:extLst>
          </p:nvPr>
        </p:nvGraphicFramePr>
        <p:xfrm>
          <a:off x="838200" y="3968135"/>
          <a:ext cx="10515600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12495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0230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77351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6423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1, 5, 9, 4, 7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11, 14, 17, 13, 18, 19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31, 33, 36, 42, 44, 46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70, 74, 78, 77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83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603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45D5-1FDE-3EE0-7CCC-345D911D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077A-CDB5-168C-5AE0-A72975CF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Age Discretization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8267B-BAA2-4ADC-6C4E-4F9690887B04}"/>
              </a:ext>
            </a:extLst>
          </p:cNvPr>
          <p:cNvSpPr txBox="1">
            <a:spLocks/>
          </p:cNvSpPr>
          <p:nvPr/>
        </p:nvSpPr>
        <p:spPr>
          <a:xfrm>
            <a:off x="1328057" y="5519281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0D3EF-A2BC-56DA-744D-6BDE3DC4B5DF}"/>
              </a:ext>
            </a:extLst>
          </p:cNvPr>
          <p:cNvSpPr txBox="1"/>
          <p:nvPr/>
        </p:nvSpPr>
        <p:spPr>
          <a:xfrm>
            <a:off x="11016343" y="8465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5D86B-E5B7-4182-A1E4-0D934145C74F}"/>
              </a:ext>
            </a:extLst>
          </p:cNvPr>
          <p:cNvSpPr txBox="1"/>
          <p:nvPr/>
        </p:nvSpPr>
        <p:spPr>
          <a:xfrm>
            <a:off x="1732244" y="5242282"/>
            <a:ext cx="872750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Calibri Body"/>
                <a:ea typeface="Cambria Math" panose="02040503050406030204" pitchFamily="18" charset="0"/>
              </a:rPr>
              <a:t>Step 3: </a:t>
            </a:r>
            <a:r>
              <a:rPr lang="en-US" sz="3000" dirty="0">
                <a:solidFill>
                  <a:srgbClr val="242424"/>
                </a:solidFill>
                <a:latin typeface="Calibri Body"/>
              </a:rPr>
              <a:t> </a:t>
            </a:r>
            <a:r>
              <a:rPr lang="en-US" sz="2800" dirty="0">
                <a:solidFill>
                  <a:srgbClr val="242424"/>
                </a:solidFill>
                <a:latin typeface="source-serif-pro"/>
              </a:rPr>
              <a:t>Split or merging intervals of continuous values according to some defined criterion</a:t>
            </a:r>
            <a:endParaRPr lang="en-US" sz="3000" b="0" i="0" dirty="0">
              <a:solidFill>
                <a:srgbClr val="242424"/>
              </a:solidFill>
              <a:effectLst/>
              <a:latin typeface="Calibri Body"/>
              <a:ea typeface="Cambria Math" panose="020405030504060302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9E44C2A-1F1E-6538-1257-3E519DF58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98860"/>
              </p:ext>
            </p:extLst>
          </p:nvPr>
        </p:nvGraphicFramePr>
        <p:xfrm>
          <a:off x="838200" y="2279787"/>
          <a:ext cx="10515600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12495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0230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77351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6423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1, 5, 9, 4, 7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11, 14, 17, 13, 18, 19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31, 33, 36, 42, 44, 46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70, 74, 78, 77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83337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72DB2E-5009-27E3-BCFC-A3CBA7612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380741"/>
              </p:ext>
            </p:extLst>
          </p:nvPr>
        </p:nvGraphicFramePr>
        <p:xfrm>
          <a:off x="838200" y="3633334"/>
          <a:ext cx="1051560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12495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0230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77351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6423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Young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Mature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208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1, 5, 9, 4, 7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11, 14, 17, 13, 18, 19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31, 33, 36, 42, 44, 46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70, 74, 78, 77</a:t>
                      </a:r>
                      <a:endParaRPr lang="en-PH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83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790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B8D0-A4BF-C894-E8EE-ABEA64CE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72F4-EDE3-8099-D7DB-D7FECE85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A5CA-0EB4-23D1-3E08-7C464D7C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This technique divides the entire range of data into equal-sized intervals. Each bin has an equal width, determined by dividing the range of the data into n intervals.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9D6965-DD60-93ED-6D48-0310E8D0801B}"/>
                  </a:ext>
                </a:extLst>
              </p:cNvPr>
              <p:cNvSpPr txBox="1"/>
              <p:nvPr/>
            </p:nvSpPr>
            <p:spPr>
              <a:xfrm>
                <a:off x="1510004" y="3834699"/>
                <a:ext cx="9171991" cy="23998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GB" sz="40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𝐵𝑖𝑛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𝑊𝑖𝑑𝑡h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num>
                        <m:den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9D6965-DD60-93ED-6D48-0310E8D08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004" y="3834699"/>
                <a:ext cx="9171991" cy="23998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65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E80A-28D2-F1A9-2CA7-FD8A95FE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BABE-8D11-6A80-8F61-A6B035BD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CD7E3F-BDCB-F3D4-A230-EF99379B8508}"/>
                  </a:ext>
                </a:extLst>
              </p:cNvPr>
              <p:cNvSpPr txBox="1"/>
              <p:nvPr/>
            </p:nvSpPr>
            <p:spPr>
              <a:xfrm>
                <a:off x="1510004" y="2045655"/>
                <a:ext cx="9171991" cy="23998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GB" sz="4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𝐵𝑖𝑛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𝑊𝑖𝑑𝑡h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num>
                        <m:den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CD7E3F-BDCB-F3D4-A230-EF99379B8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004" y="2045655"/>
                <a:ext cx="9171991" cy="23998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A35ACDF-FC42-40FF-6B93-6D8688F7ADDE}"/>
              </a:ext>
            </a:extLst>
          </p:cNvPr>
          <p:cNvSpPr txBox="1"/>
          <p:nvPr/>
        </p:nvSpPr>
        <p:spPr>
          <a:xfrm>
            <a:off x="838201" y="5108301"/>
            <a:ext cx="1087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 width indicates how wide each bin is. It tells you the numerical range covered by each bar in a histogram. </a:t>
            </a:r>
          </a:p>
        </p:txBody>
      </p:sp>
    </p:spTree>
    <p:extLst>
      <p:ext uri="{BB962C8B-B14F-4D97-AF65-F5344CB8AC3E}">
        <p14:creationId xmlns:p14="http://schemas.microsoft.com/office/powerpoint/2010/main" val="1151202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C9DF-2A3B-86E1-B0E4-83B5275C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99FD-D729-7616-3C9A-9BAFC51F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A8C6B-2649-15AA-1217-70727E532877}"/>
              </a:ext>
            </a:extLst>
          </p:cNvPr>
          <p:cNvSpPr txBox="1"/>
          <p:nvPr/>
        </p:nvSpPr>
        <p:spPr>
          <a:xfrm>
            <a:off x="838201" y="2151932"/>
            <a:ext cx="105155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If your data ranges from 1 to 100 and you divide it into 5 bins, each bin must cover: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5417AE-8A87-05F3-5136-0960AEEF6CE8}"/>
                  </a:ext>
                </a:extLst>
              </p:cNvPr>
              <p:cNvSpPr txBox="1"/>
              <p:nvPr/>
            </p:nvSpPr>
            <p:spPr>
              <a:xfrm>
                <a:off x="7385879" y="3073299"/>
                <a:ext cx="3190141" cy="149220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25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100−1</m:t>
                          </m:r>
                        </m:num>
                        <m:den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m:rPr>
                          <m:nor/>
                        </m:rPr>
                        <a:rPr lang="en-US" sz="2500" dirty="0"/>
                        <m:t> = 19.8</m:t>
                      </m:r>
                    </m:oMath>
                  </m:oMathPara>
                </a14:m>
                <a:endParaRPr lang="en-GB" sz="2500" dirty="0"/>
              </a:p>
              <a:p>
                <a:endParaRPr lang="en-US" sz="25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5417AE-8A87-05F3-5136-0960AEEF6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79" y="3073299"/>
                <a:ext cx="3190141" cy="14922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6BDCD0-E4DA-C111-E1A3-7CC00727D296}"/>
                  </a:ext>
                </a:extLst>
              </p:cNvPr>
              <p:cNvSpPr txBox="1"/>
              <p:nvPr/>
            </p:nvSpPr>
            <p:spPr>
              <a:xfrm>
                <a:off x="998727" y="3073299"/>
                <a:ext cx="5538551" cy="14998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GB" sz="25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𝐵𝑖𝑛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𝑊𝑖𝑑𝑡h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num>
                        <m:den>
                          <m:r>
                            <a:rPr lang="en-GB" sz="2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  <a:p>
                <a:endParaRPr lang="en-US" sz="25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6BDCD0-E4DA-C111-E1A3-7CC00727D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27" y="3073299"/>
                <a:ext cx="5538551" cy="14998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998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3F68-5447-650D-A0E0-58F163A1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361-37CE-0BA1-CA18-309DC7C6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48029F7-B4C1-291F-74B4-EDABE27FB11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75579011"/>
                  </p:ext>
                </p:extLst>
              </p:nvPr>
            </p:nvGraphicFramePr>
            <p:xfrm>
              <a:off x="838200" y="2151932"/>
              <a:ext cx="10515600" cy="435133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ontent Placeholder 4">
                <a:extLst>
                  <a:ext uri="{FF2B5EF4-FFF2-40B4-BE49-F238E27FC236}">
                    <a16:creationId xmlns:a16="http://schemas.microsoft.com/office/drawing/2014/main" id="{E48029F7-B4C1-291F-74B4-EDABE27FB1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151932"/>
                <a:ext cx="10515600" cy="43513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447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F26C-6D5F-E4E2-7264-869EBC99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3DD1-99C2-9843-4085-AC17C4B0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494CEA8A-C7A0-6226-45B4-9D517C138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6282815" y="1915958"/>
            <a:ext cx="5792728" cy="4320000"/>
          </a:xfrm>
          <a:prstGeom prst="rect">
            <a:avLst/>
          </a:prstGeom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CE45EC6-A13B-0680-FA99-9667C0F15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08" b="43155"/>
          <a:stretch>
            <a:fillRect/>
          </a:stretch>
        </p:blipFill>
        <p:spPr>
          <a:xfrm>
            <a:off x="633790" y="2151932"/>
            <a:ext cx="5275397" cy="20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69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98D0-58EE-31E2-D9EF-32288C7D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302F-06BB-1B8C-B6A9-42B771D4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Width Binning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59EC5-B7A0-5434-E212-BDBE436F1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225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For example, if you have age data of</a:t>
            </a:r>
          </a:p>
          <a:p>
            <a:pPr marL="0" indent="0">
              <a:buNone/>
            </a:pPr>
            <a:r>
              <a:rPr lang="en-PH" dirty="0"/>
              <a:t>0,4,12,16,16,18,24,26,28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Bin 1: 0,4</a:t>
            </a:r>
          </a:p>
          <a:p>
            <a:pPr marL="0" indent="0">
              <a:buNone/>
            </a:pPr>
            <a:r>
              <a:rPr lang="en-PH" dirty="0"/>
              <a:t>Bin 2: 12,16,16,18</a:t>
            </a:r>
          </a:p>
          <a:p>
            <a:pPr marL="0" indent="0">
              <a:buNone/>
            </a:pPr>
            <a:r>
              <a:rPr lang="en-PH" dirty="0"/>
              <a:t>Bin 3: 24,26,28</a:t>
            </a:r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06745D2-BB16-CD78-094B-77058930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7246657" y="3097763"/>
            <a:ext cx="4827273" cy="3600000"/>
          </a:xfrm>
          <a:prstGeom prst="rect">
            <a:avLst/>
          </a:prstGeom>
        </p:spPr>
      </p:pic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1CE8A67-C548-A1A7-9C30-9CC7336E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551" y="1489150"/>
            <a:ext cx="34798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64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49CA-8EBA-F6FC-C670-D4BC365B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DD77-2A98-30C3-5FFC-059E30F3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Frequency Binning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E4570-908F-A27E-D2F3-F58F2FA2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This method divides the data so that each interval has the same number of data points. For example, if you have 100 data points, you might divide them into 5 intervals, each containing 20 data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66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D871-9849-61E2-EC96-02FE0295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F779-3ED3-ABAB-A2F9-362AB4B7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Frequency Binning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EACD41B-31CF-2114-81EA-8EC7C55F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41" r="147"/>
          <a:stretch>
            <a:fillRect/>
          </a:stretch>
        </p:blipFill>
        <p:spPr>
          <a:xfrm>
            <a:off x="6432645" y="1915958"/>
            <a:ext cx="5759355" cy="4320000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5F4FA65-0895-2240-7AAE-6EDE70BB0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988" r="18708" b="174"/>
          <a:stretch>
            <a:fillRect/>
          </a:stretch>
        </p:blipFill>
        <p:spPr>
          <a:xfrm>
            <a:off x="633790" y="2961564"/>
            <a:ext cx="5275397" cy="1542196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4A620B9-76A7-9347-3D01-1EC92E1B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08" b="83197"/>
          <a:stretch>
            <a:fillRect/>
          </a:stretch>
        </p:blipFill>
        <p:spPr>
          <a:xfrm>
            <a:off x="633790" y="2151932"/>
            <a:ext cx="5275397" cy="6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33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3DAC-0B92-6460-448D-6AE3FF0B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F6250-1F3A-A9B4-C964-82DA5EB0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Normalizing your data is an essential part of machine learning. 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You might have an amazing dataset with many great features, but if you forget to normalize, one of those features might completely dominate the others. </a:t>
            </a:r>
            <a:r>
              <a:rPr lang="en-PH" dirty="0"/>
              <a:t>It’s like you’re throwing away almost all of your information! </a:t>
            </a:r>
            <a:r>
              <a:rPr lang="en-US" b="1" dirty="0">
                <a:solidFill>
                  <a:srgbClr val="00B050"/>
                </a:solidFill>
              </a:rPr>
              <a:t>Normalizing solves this problem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607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DACB3-5D80-D789-2174-6EFDD163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01C2-E31C-C12A-7E1F-2BC35934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17B9-4449-745E-A646-D2D7E062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Having features on same scale that can contribute equally to the result. It can enhance the performance of machine learning algorithms.  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If you don't scale features then large scale variables will dominate the small scale features.</a:t>
            </a:r>
          </a:p>
        </p:txBody>
      </p:sp>
    </p:spTree>
    <p:extLst>
      <p:ext uri="{BB962C8B-B14F-4D97-AF65-F5344CB8AC3E}">
        <p14:creationId xmlns:p14="http://schemas.microsoft.com/office/powerpoint/2010/main" val="2082768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C14632-D088-F8D5-BC94-0D3773C8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DC75-8679-4EF5-10C5-B40C9985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65DA-36E8-C502-13B8-BF0E43AA8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Min-max normalization</a:t>
            </a:r>
            <a:r>
              <a:rPr lang="en-US" dirty="0"/>
              <a:t>: Guarantees all features will have the exact same scale but does not handle outliers well.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Z-score normalization</a:t>
            </a:r>
            <a:r>
              <a:rPr lang="en-US" dirty="0"/>
              <a:t>: Handles outliers, but does not produce normalized data with the exact same scale.</a:t>
            </a:r>
          </a:p>
        </p:txBody>
      </p:sp>
    </p:spTree>
    <p:extLst>
      <p:ext uri="{BB962C8B-B14F-4D97-AF65-F5344CB8AC3E}">
        <p14:creationId xmlns:p14="http://schemas.microsoft.com/office/powerpoint/2010/main" val="2407343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https://jisooleeworks.github.io/blog-site/2022/09/09/feature-scaling-min-max-z-score.html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3"/>
              </a:rPr>
              <a:t>https://vinaypaspula.substack.com/p/min-max-normalization-and-z-score-normalization-550988c2a990?utm_campaign=post&amp;utm_medium=web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4972</TotalTime>
  <Words>949</Words>
  <Application>Microsoft Macintosh PowerPoint</Application>
  <PresentationFormat>Widescreen</PresentationFormat>
  <Paragraphs>119</Paragraphs>
  <Slides>25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 Body</vt:lpstr>
      <vt:lpstr>Cambria Math</vt:lpstr>
      <vt:lpstr>source-serif-pro</vt:lpstr>
      <vt:lpstr>Wingdings</vt:lpstr>
      <vt:lpstr>Office Theme</vt:lpstr>
      <vt:lpstr>Data Discretization</vt:lpstr>
      <vt:lpstr>What is Data Discretization?</vt:lpstr>
      <vt:lpstr>What is Data Discretization?</vt:lpstr>
      <vt:lpstr>What is Data Discretization?</vt:lpstr>
      <vt:lpstr>What is Data Discretization?</vt:lpstr>
      <vt:lpstr>What is Data Discretization?</vt:lpstr>
      <vt:lpstr>What is Data Discretization?</vt:lpstr>
      <vt:lpstr>Continuous vs Discrete Data</vt:lpstr>
      <vt:lpstr>Continuous vs Discrete Data</vt:lpstr>
      <vt:lpstr>Continuous vs Discrete Data</vt:lpstr>
      <vt:lpstr>Human Age Discretization</vt:lpstr>
      <vt:lpstr>Human Age Discretization</vt:lpstr>
      <vt:lpstr>Human Age Discretization</vt:lpstr>
      <vt:lpstr>Equal Width Binning</vt:lpstr>
      <vt:lpstr>Equal Width Binning</vt:lpstr>
      <vt:lpstr>Equal Width Binning</vt:lpstr>
      <vt:lpstr>Equal Width Binning</vt:lpstr>
      <vt:lpstr>Equal Width Binning</vt:lpstr>
      <vt:lpstr>Equal Width Binning</vt:lpstr>
      <vt:lpstr>Equal Frequency Binning</vt:lpstr>
      <vt:lpstr>Equal Frequency Binning</vt:lpstr>
      <vt:lpstr>Summary</vt:lpstr>
      <vt:lpstr>Summary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795</cp:revision>
  <dcterms:created xsi:type="dcterms:W3CDTF">2024-08-08T01:29:50Z</dcterms:created>
  <dcterms:modified xsi:type="dcterms:W3CDTF">2025-11-28T09:52:01Z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