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7" r:id="rId2"/>
    <p:sldId id="442" r:id="rId3"/>
    <p:sldId id="474" r:id="rId4"/>
    <p:sldId id="475" r:id="rId5"/>
    <p:sldId id="479" r:id="rId6"/>
    <p:sldId id="481" r:id="rId7"/>
    <p:sldId id="484" r:id="rId8"/>
    <p:sldId id="485" r:id="rId9"/>
    <p:sldId id="487" r:id="rId10"/>
    <p:sldId id="482" r:id="rId11"/>
    <p:sldId id="486" r:id="rId12"/>
    <p:sldId id="477" r:id="rId13"/>
    <p:sldId id="509" r:id="rId14"/>
    <p:sldId id="483" r:id="rId15"/>
    <p:sldId id="510" r:id="rId16"/>
    <p:sldId id="512" r:id="rId17"/>
    <p:sldId id="513" r:id="rId18"/>
    <p:sldId id="514" r:id="rId19"/>
    <p:sldId id="515" r:id="rId20"/>
    <p:sldId id="516" r:id="rId21"/>
    <p:sldId id="490" r:id="rId22"/>
    <p:sldId id="517" r:id="rId23"/>
    <p:sldId id="491" r:id="rId24"/>
    <p:sldId id="492" r:id="rId25"/>
    <p:sldId id="493" r:id="rId26"/>
    <p:sldId id="494" r:id="rId27"/>
    <p:sldId id="495" r:id="rId28"/>
    <p:sldId id="496" r:id="rId29"/>
    <p:sldId id="497" r:id="rId30"/>
    <p:sldId id="498" r:id="rId31"/>
    <p:sldId id="501" r:id="rId32"/>
    <p:sldId id="500" r:id="rId33"/>
    <p:sldId id="503" r:id="rId34"/>
    <p:sldId id="504" r:id="rId35"/>
    <p:sldId id="505" r:id="rId36"/>
    <p:sldId id="520" r:id="rId37"/>
    <p:sldId id="522" r:id="rId38"/>
    <p:sldId id="518" r:id="rId39"/>
    <p:sldId id="523" r:id="rId40"/>
    <p:sldId id="506" r:id="rId41"/>
    <p:sldId id="519" r:id="rId42"/>
    <p:sldId id="507" r:id="rId43"/>
    <p:sldId id="44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E72DE6-BB83-154E-81E2-BC0DD659BA3C}">
          <p14:sldIdLst>
            <p14:sldId id="257"/>
            <p14:sldId id="442"/>
            <p14:sldId id="474"/>
            <p14:sldId id="475"/>
            <p14:sldId id="479"/>
            <p14:sldId id="481"/>
            <p14:sldId id="484"/>
            <p14:sldId id="485"/>
            <p14:sldId id="487"/>
            <p14:sldId id="482"/>
            <p14:sldId id="486"/>
            <p14:sldId id="477"/>
            <p14:sldId id="509"/>
            <p14:sldId id="483"/>
            <p14:sldId id="510"/>
            <p14:sldId id="512"/>
            <p14:sldId id="513"/>
            <p14:sldId id="514"/>
            <p14:sldId id="515"/>
            <p14:sldId id="516"/>
            <p14:sldId id="490"/>
            <p14:sldId id="517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501"/>
            <p14:sldId id="500"/>
            <p14:sldId id="503"/>
            <p14:sldId id="504"/>
            <p14:sldId id="505"/>
            <p14:sldId id="520"/>
            <p14:sldId id="522"/>
            <p14:sldId id="518"/>
            <p14:sldId id="523"/>
            <p14:sldId id="506"/>
            <p14:sldId id="519"/>
            <p14:sldId id="507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65"/>
    <p:restoredTop sz="94512"/>
  </p:normalViewPr>
  <p:slideViewPr>
    <p:cSldViewPr snapToGrid="0">
      <p:cViewPr varScale="1">
        <p:scale>
          <a:sx n="138" d="100"/>
          <a:sy n="138" d="100"/>
        </p:scale>
        <p:origin x="56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72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6230-4894-6F5E-EA60-1D32EF43E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02E7B-93D3-274E-B735-20636F546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DB948-7490-AFA1-5C3E-43A63FAC1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B991B-E2F7-EE55-0556-3FF3BAEB1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1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CCDATSCL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vinaypaspula.substack.com/p/min-max-normalization-and-z-score-normalization-550988c2a990?utm_campaign=post&amp;utm_medium=web" TargetMode="External"/><Relationship Id="rId2" Type="http://schemas.openxmlformats.org/officeDocument/2006/relationships/hyperlink" Target="https://jisooleeworks.github.io/blog-site/2022/09/09/feature-scaling-min-max-z-score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Feature Scaling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2619-5EFC-BA06-BE7D-091B4DBE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Feature Scaling?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2CD4-0274-3601-29FC-DA55B942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Calibri (Body)"/>
              </a:rPr>
              <a:t>In data pre-processing, we try to change the data in such a way that the model can process it without any problems.</a:t>
            </a:r>
          </a:p>
          <a:p>
            <a:endParaRPr lang="en-US" dirty="0">
              <a:solidFill>
                <a:srgbClr val="222222"/>
              </a:solidFill>
              <a:latin typeface="Calibri (Body)"/>
            </a:endParaRPr>
          </a:p>
        </p:txBody>
      </p:sp>
      <p:pic>
        <p:nvPicPr>
          <p:cNvPr id="4" name="Picture 3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D24A84E5-8505-C600-3118-8A3CB986C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846" y="2188933"/>
            <a:ext cx="4403154" cy="247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27CA6-A4C8-DA44-BDC3-92BF46E7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33046-5D87-F9F4-1CC4-DA56B4B8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Feature Scaling?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44FC-56A9-7C5E-C500-58C7A49AE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Calibri (Body)"/>
              </a:rPr>
              <a:t>Feature Scaling is one such process in which we transform the data into a better version.</a:t>
            </a:r>
          </a:p>
          <a:p>
            <a:endParaRPr lang="en-US" dirty="0">
              <a:solidFill>
                <a:srgbClr val="222222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Calibri (Body)"/>
              </a:rPr>
              <a:t>Feature Scaling is done to </a:t>
            </a:r>
            <a:r>
              <a:rPr lang="en-US" b="1" dirty="0">
                <a:solidFill>
                  <a:srgbClr val="0070C0"/>
                </a:solidFill>
                <a:latin typeface="Calibri (Body)"/>
              </a:rPr>
              <a:t>normalize the features in the dataset into a finite range</a:t>
            </a:r>
            <a:r>
              <a:rPr lang="en-US" dirty="0">
                <a:solidFill>
                  <a:srgbClr val="222222"/>
                </a:solidFill>
                <a:latin typeface="Calibri (Body)"/>
              </a:rPr>
              <a:t>.</a:t>
            </a:r>
            <a:endParaRPr lang="en-PH" dirty="0">
              <a:latin typeface="Calibri (Body)"/>
            </a:endParaRPr>
          </a:p>
        </p:txBody>
      </p:sp>
      <p:pic>
        <p:nvPicPr>
          <p:cNvPr id="4" name="Picture 3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A340E523-B31A-5EF2-CDA2-406F57A32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846" y="2188933"/>
            <a:ext cx="4403154" cy="247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0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5135-3B1C-CAA0-A9F3-4EC603B9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6030-0437-7F13-4EF4-CD904319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Feature Scaling?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725E9-F69A-E85F-571B-B09F88D21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53675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Calibri (Body)"/>
              </a:rPr>
              <a:t>Feature Scaling is one such process in which we transform the data into a better version.</a:t>
            </a:r>
          </a:p>
          <a:p>
            <a:endParaRPr lang="en-US" dirty="0">
              <a:solidFill>
                <a:srgbClr val="222222"/>
              </a:solidFill>
              <a:latin typeface="Calibri (Body)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Calibri (Body)"/>
              </a:rPr>
              <a:t>Feature Scaling is done to </a:t>
            </a:r>
            <a:r>
              <a:rPr lang="en-US" b="1" dirty="0">
                <a:solidFill>
                  <a:srgbClr val="0070C0"/>
                </a:solidFill>
                <a:latin typeface="Calibri (Body)"/>
              </a:rPr>
              <a:t>normalize the features in the dataset into a finite range</a:t>
            </a:r>
            <a:r>
              <a:rPr lang="en-US" dirty="0">
                <a:solidFill>
                  <a:srgbClr val="222222"/>
                </a:solidFill>
                <a:latin typeface="Calibri (Body)"/>
              </a:rPr>
              <a:t>.</a:t>
            </a:r>
            <a:endParaRPr lang="en-PH" dirty="0">
              <a:latin typeface="Calibri (Body)"/>
            </a:endParaRPr>
          </a:p>
        </p:txBody>
      </p:sp>
      <p:pic>
        <p:nvPicPr>
          <p:cNvPr id="4" name="Picture 3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3EE2B78-83CD-3A46-3B98-C2AB41600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846" y="2188933"/>
            <a:ext cx="4403154" cy="247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86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A03E92-DF0E-6493-7A41-A8EE9BB0C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679441"/>
              </p:ext>
            </p:extLst>
          </p:nvPr>
        </p:nvGraphicFramePr>
        <p:xfrm>
          <a:off x="838200" y="2057400"/>
          <a:ext cx="10515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7219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72575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26769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Price 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Lot Size (sq 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Distance to City Center (km)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1,250,000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12,300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3,200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18.9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2,300,000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690,000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6184DA-52AD-1B3D-B67D-9C78DAA21589}"/>
              </a:ext>
            </a:extLst>
          </p:cNvPr>
          <p:cNvSpPr txBox="1"/>
          <p:nvPr/>
        </p:nvSpPr>
        <p:spPr>
          <a:xfrm>
            <a:off x="838200" y="5214694"/>
            <a:ext cx="10515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500" dirty="0"/>
              <a:t>For example, in a house price dataset. It will have many features such as number of bedrooms, lot size, distance to the city center, number of rooms and house age.</a:t>
            </a:r>
          </a:p>
        </p:txBody>
      </p:sp>
    </p:spTree>
    <p:extLst>
      <p:ext uri="{BB962C8B-B14F-4D97-AF65-F5344CB8AC3E}">
        <p14:creationId xmlns:p14="http://schemas.microsoft.com/office/powerpoint/2010/main" val="77023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99EA-D034-892B-5A85-1AF3B92D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496684-B95A-D872-D443-693A7428ADA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57400"/>
          <a:ext cx="10515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7219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72575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26769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Price 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Lot Size (sq 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Distance to City Center (km)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1,250,000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12,300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3,200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18.9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2,300,000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690,000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0765C53-33F7-9D4C-382D-C7A3112FA50D}"/>
              </a:ext>
            </a:extLst>
          </p:cNvPr>
          <p:cNvSpPr txBox="1"/>
          <p:nvPr/>
        </p:nvSpPr>
        <p:spPr>
          <a:xfrm>
            <a:off x="838200" y="5214694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/>
              <a:t>For the price column, we can see that the price has a wide range which starts at 420 thousand and up to 2.3 million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BDBDAE-0F55-4A04-1B06-3D32F8D5E76D}"/>
              </a:ext>
            </a:extLst>
          </p:cNvPr>
          <p:cNvSpPr/>
          <p:nvPr/>
        </p:nvSpPr>
        <p:spPr>
          <a:xfrm>
            <a:off x="2586182" y="2971800"/>
            <a:ext cx="1754464" cy="1828800"/>
          </a:xfrm>
          <a:prstGeom prst="rect">
            <a:avLst/>
          </a:prstGeom>
          <a:solidFill>
            <a:srgbClr val="00B050">
              <a:alpha val="4510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4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762E-BBA7-7B94-DD19-1F048B43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66990E-A942-298B-E506-66F77C1702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57400"/>
          <a:ext cx="10515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7219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72575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26769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Price 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Lot Size (sq 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Distance to City Center (km)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1,250,000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12,300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3,200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18.9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2,300,000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690,000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2A6FE82-2B92-0BC2-F4FF-26C40C32774E}"/>
              </a:ext>
            </a:extLst>
          </p:cNvPr>
          <p:cNvSpPr txBox="1"/>
          <p:nvPr/>
        </p:nvSpPr>
        <p:spPr>
          <a:xfrm>
            <a:off x="838200" y="5214694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/>
              <a:t>For the Lot Size column, its values also have a wide range starting from 3,200 up to 20,500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17717-D73F-AA57-1E1B-6167CE940407}"/>
              </a:ext>
            </a:extLst>
          </p:cNvPr>
          <p:cNvSpPr/>
          <p:nvPr/>
        </p:nvSpPr>
        <p:spPr>
          <a:xfrm>
            <a:off x="4341536" y="2971800"/>
            <a:ext cx="1754464" cy="1828800"/>
          </a:xfrm>
          <a:prstGeom prst="rect">
            <a:avLst/>
          </a:prstGeom>
          <a:solidFill>
            <a:srgbClr val="00B050">
              <a:alpha val="4510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83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54D05-2EB5-4118-C1D9-A1BA3C98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2BE5CE-F92C-06A5-5C13-B034FE97236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57400"/>
          <a:ext cx="10515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7219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72575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26769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Price 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Lot Size (sq 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Distance to City Center (km)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1,250,000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12,300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3,200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18.9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2,300,000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690,000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9B38482-AD64-13C7-565E-7057F4BC3ACA}"/>
              </a:ext>
            </a:extLst>
          </p:cNvPr>
          <p:cNvSpPr txBox="1"/>
          <p:nvPr/>
        </p:nvSpPr>
        <p:spPr>
          <a:xfrm>
            <a:off x="838200" y="5214694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/>
              <a:t>While Distance, Rooms, and Age are in very small ranges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1CCC4-FD77-4465-F20C-17B4B389FBB3}"/>
              </a:ext>
            </a:extLst>
          </p:cNvPr>
          <p:cNvSpPr/>
          <p:nvPr/>
        </p:nvSpPr>
        <p:spPr>
          <a:xfrm>
            <a:off x="6096000" y="2971800"/>
            <a:ext cx="5257800" cy="1828800"/>
          </a:xfrm>
          <a:prstGeom prst="rect">
            <a:avLst/>
          </a:prstGeom>
          <a:solidFill>
            <a:srgbClr val="00B050">
              <a:alpha val="4510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5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AD8D-3B6D-93C7-F534-A17ACBBA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46267F-5404-8251-8F12-E185D969A94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57400"/>
          <a:ext cx="10515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7219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72575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26769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Price 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Lot Size (sq 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Distance to City Center (km)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1,250,000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12,300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3,200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18.9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2,300,000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690,000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34277E2-D7DD-97B9-57EB-199E1D05B058}"/>
              </a:ext>
            </a:extLst>
          </p:cNvPr>
          <p:cNvSpPr txBox="1"/>
          <p:nvPr/>
        </p:nvSpPr>
        <p:spPr>
          <a:xfrm>
            <a:off x="838200" y="5214694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This is a huge difference in the range of all features.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90F18-5C56-F32C-9F13-DE76CA66C3E0}"/>
              </a:ext>
            </a:extLst>
          </p:cNvPr>
          <p:cNvSpPr/>
          <p:nvPr/>
        </p:nvSpPr>
        <p:spPr>
          <a:xfrm>
            <a:off x="6096000" y="2971800"/>
            <a:ext cx="5257800" cy="1828800"/>
          </a:xfrm>
          <a:prstGeom prst="rect">
            <a:avLst/>
          </a:prstGeom>
          <a:solidFill>
            <a:srgbClr val="00B050">
              <a:alpha val="4510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9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4536-0BCE-7CE8-539F-EB79D5D7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C44308-FE05-EF96-5369-664F4D1A7BC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57400"/>
          <a:ext cx="10515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7219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72575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26769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Price 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Lot Size (sq 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Distance to City Center (km)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1,250,000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12,300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3,200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18.9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2,300,000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690,000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35F77AE-F6DB-6417-5C70-983C117621C3}"/>
              </a:ext>
            </a:extLst>
          </p:cNvPr>
          <p:cNvSpPr txBox="1"/>
          <p:nvPr/>
        </p:nvSpPr>
        <p:spPr>
          <a:xfrm>
            <a:off x="838200" y="5214694"/>
            <a:ext cx="10515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dirty="0"/>
              <a:t>Algorithms that use distances (</a:t>
            </a:r>
            <a:r>
              <a:rPr lang="en-US" sz="2500" dirty="0" err="1"/>
              <a:t>kNN</a:t>
            </a:r>
            <a:r>
              <a:rPr lang="en-US" sz="2500" dirty="0"/>
              <a:t>, K-Means), gradient-based optimization (linear/logistic regression), or regularization will treat Price and Lot Size </a:t>
            </a:r>
            <a:r>
              <a:rPr lang="en-US" sz="2500" b="1" dirty="0"/>
              <a:t>as more “important”…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203201-0B2F-788C-F1A0-037A89B82AAC}"/>
              </a:ext>
            </a:extLst>
          </p:cNvPr>
          <p:cNvSpPr/>
          <p:nvPr/>
        </p:nvSpPr>
        <p:spPr>
          <a:xfrm>
            <a:off x="2604655" y="2971800"/>
            <a:ext cx="3491345" cy="1828800"/>
          </a:xfrm>
          <a:prstGeom prst="rect">
            <a:avLst/>
          </a:prstGeom>
          <a:solidFill>
            <a:srgbClr val="00B050">
              <a:alpha val="4510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7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093BD-5B24-1DA2-1CC2-D1379F63D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C8FB73-CD82-30A0-2183-003CA71EF47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57400"/>
          <a:ext cx="10515600" cy="27432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721934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72575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026769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Price 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Lot Size (sq 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Distance to City Center (km)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1,250,000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12,300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420,000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3,200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18.9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2,300,000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H005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690,000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8,700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BCF28EB-F856-BA67-03BE-688B7D3CB7B2}"/>
              </a:ext>
            </a:extLst>
          </p:cNvPr>
          <p:cNvSpPr txBox="1"/>
          <p:nvPr/>
        </p:nvSpPr>
        <p:spPr>
          <a:xfrm>
            <a:off x="838200" y="5214694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dirty="0"/>
              <a:t>Simply because their </a:t>
            </a:r>
            <a:r>
              <a:rPr lang="en-US" sz="2500" b="1" dirty="0"/>
              <a:t>numeric scales dominate the others</a:t>
            </a:r>
            <a:r>
              <a:rPr lang="en-US" sz="2500" dirty="0"/>
              <a:t>. That is unless we scale the features.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4E293-6583-F52D-EB3D-2489C66CB905}"/>
              </a:ext>
            </a:extLst>
          </p:cNvPr>
          <p:cNvSpPr/>
          <p:nvPr/>
        </p:nvSpPr>
        <p:spPr>
          <a:xfrm>
            <a:off x="2604655" y="2971800"/>
            <a:ext cx="3491345" cy="1828800"/>
          </a:xfrm>
          <a:prstGeom prst="rect">
            <a:avLst/>
          </a:prstGeom>
          <a:solidFill>
            <a:srgbClr val="00B050">
              <a:alpha val="4510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15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A40C-E0CD-1413-D98E-8058E44B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Feature Scaling?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F9ED-5716-BD3D-6E3F-E04619E3D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Real Life Datasets have many features with a </a:t>
            </a:r>
            <a:r>
              <a:rPr lang="en-US" b="1" dirty="0">
                <a:solidFill>
                  <a:srgbClr val="FF0000"/>
                </a:solidFill>
              </a:rPr>
              <a:t>wide range of values</a:t>
            </a:r>
          </a:p>
          <a:p>
            <a:endParaRPr lang="en-PH" dirty="0"/>
          </a:p>
          <a:p>
            <a:endParaRPr lang="en-US" dirty="0"/>
          </a:p>
        </p:txBody>
      </p:sp>
      <p:pic>
        <p:nvPicPr>
          <p:cNvPr id="4" name="Picture 3" descr="A house with a white door&#10;&#10;Description automatically generated">
            <a:extLst>
              <a:ext uri="{FF2B5EF4-FFF2-40B4-BE49-F238E27FC236}">
                <a16:creationId xmlns:a16="http://schemas.microsoft.com/office/drawing/2014/main" id="{DF2A1325-4211-3028-287D-D84E7D8D6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767" y="3273501"/>
            <a:ext cx="2215160" cy="2414099"/>
          </a:xfrm>
          <a:prstGeom prst="rect">
            <a:avLst/>
          </a:prstGeom>
        </p:spPr>
      </p:pic>
      <p:pic>
        <p:nvPicPr>
          <p:cNvPr id="5" name="Picture 4" descr="A house with trees and a fence&#10;&#10;Description automatically generated">
            <a:extLst>
              <a:ext uri="{FF2B5EF4-FFF2-40B4-BE49-F238E27FC236}">
                <a16:creationId xmlns:a16="http://schemas.microsoft.com/office/drawing/2014/main" id="{372A1264-DFBA-5F56-1398-94A69C64F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038" y="3429000"/>
            <a:ext cx="3332962" cy="225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7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267CB-54E2-4C3C-BC4B-46C271CDD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6A79-3BA1-683B-821C-E8BDE14D8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Feature Scaling?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6A7D-C1BF-7AFC-A0E8-193BB2A32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PH" dirty="0"/>
              <a:t>Many machine learning algorithms attempt to find trends in the data by comparing features of data points. However, there is an issue when the </a:t>
            </a:r>
            <a:r>
              <a:rPr lang="en-PH" b="1" dirty="0">
                <a:solidFill>
                  <a:srgbClr val="FF0000"/>
                </a:solidFill>
              </a:rPr>
              <a:t>features are on drastically different scales</a:t>
            </a:r>
            <a:r>
              <a:rPr lang="en-PH" dirty="0"/>
              <a:t>.</a:t>
            </a:r>
            <a:endParaRPr lang="en-US" dirty="0"/>
          </a:p>
        </p:txBody>
      </p:sp>
      <p:pic>
        <p:nvPicPr>
          <p:cNvPr id="4" name="Picture 3" descr="A house with a white door&#10;&#10;Description automatically generated">
            <a:extLst>
              <a:ext uri="{FF2B5EF4-FFF2-40B4-BE49-F238E27FC236}">
                <a16:creationId xmlns:a16="http://schemas.microsoft.com/office/drawing/2014/main" id="{1673EF7E-AA4C-008D-09C0-636DFE568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767" y="3827683"/>
            <a:ext cx="2215160" cy="2414099"/>
          </a:xfrm>
          <a:prstGeom prst="rect">
            <a:avLst/>
          </a:prstGeom>
        </p:spPr>
      </p:pic>
      <p:pic>
        <p:nvPicPr>
          <p:cNvPr id="5" name="Picture 4" descr="A house with trees and a fence&#10;&#10;Description automatically generated">
            <a:extLst>
              <a:ext uri="{FF2B5EF4-FFF2-40B4-BE49-F238E27FC236}">
                <a16:creationId xmlns:a16="http://schemas.microsoft.com/office/drawing/2014/main" id="{69E9CEE3-2AC1-80D6-5776-956FAB312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038" y="3983182"/>
            <a:ext cx="3332962" cy="225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37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F669-04CB-1BD0-6DE4-8835D7A9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25AA83-E4CE-BF4D-0A4F-5538185D2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737747"/>
              </p:ext>
            </p:extLst>
          </p:nvPr>
        </p:nvGraphicFramePr>
        <p:xfrm>
          <a:off x="3216000" y="1207655"/>
          <a:ext cx="5760000" cy="3599999"/>
        </p:xfrm>
        <a:graphic>
          <a:graphicData uri="http://schemas.openxmlformats.org/drawingml/2006/table">
            <a:tbl>
              <a:tblPr/>
              <a:tblGrid>
                <a:gridCol w="19200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93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H990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A1D89FA-D63F-D610-C545-C1F9465BD243}"/>
              </a:ext>
            </a:extLst>
          </p:cNvPr>
          <p:cNvSpPr txBox="1"/>
          <p:nvPr/>
        </p:nvSpPr>
        <p:spPr>
          <a:xfrm>
            <a:off x="838200" y="5214694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 sz="2500" dirty="0"/>
              <a:t>For example, consider a dataset of houses. Two potential features might be the </a:t>
            </a:r>
            <a:r>
              <a:rPr lang="en-PH" sz="2500" b="1" dirty="0"/>
              <a:t>number of rooms </a:t>
            </a:r>
            <a:r>
              <a:rPr lang="en-PH" sz="2500" dirty="0"/>
              <a:t>in the house, and the total </a:t>
            </a:r>
            <a:r>
              <a:rPr lang="en-PH" sz="2500" b="1" dirty="0"/>
              <a:t>age of the house</a:t>
            </a:r>
            <a:r>
              <a:rPr lang="en-PH" sz="2500" dirty="0"/>
              <a:t> in years.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24356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B5D8-67B2-93D8-C2A3-7CA88AB9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74AC67-6081-17C8-99C6-E7F4C72B1297}"/>
              </a:ext>
            </a:extLst>
          </p:cNvPr>
          <p:cNvGraphicFramePr>
            <a:graphicFrameLocks noGrp="1"/>
          </p:cNvGraphicFramePr>
          <p:nvPr/>
        </p:nvGraphicFramePr>
        <p:xfrm>
          <a:off x="3216000" y="1207655"/>
          <a:ext cx="5760000" cy="3599999"/>
        </p:xfrm>
        <a:graphic>
          <a:graphicData uri="http://schemas.openxmlformats.org/drawingml/2006/table">
            <a:tbl>
              <a:tblPr/>
              <a:tblGrid>
                <a:gridCol w="19200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93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H990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520E2C-CDF7-9C13-3372-B040F6EE2F5F}"/>
              </a:ext>
            </a:extLst>
          </p:cNvPr>
          <p:cNvSpPr txBox="1"/>
          <p:nvPr/>
        </p:nvSpPr>
        <p:spPr>
          <a:xfrm>
            <a:off x="838200" y="5214694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 sz="2500" dirty="0"/>
              <a:t>A machine learning algorithm could try to predict which house would be best for you.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867264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CA50-BAF1-03E5-78D5-4E1CA9D3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D18F76-D43B-2FFC-E181-14DF5A30F830}"/>
              </a:ext>
            </a:extLst>
          </p:cNvPr>
          <p:cNvGraphicFramePr>
            <a:graphicFrameLocks noGrp="1"/>
          </p:cNvGraphicFramePr>
          <p:nvPr/>
        </p:nvGraphicFramePr>
        <p:xfrm>
          <a:off x="3216000" y="1207655"/>
          <a:ext cx="5760000" cy="3599999"/>
        </p:xfrm>
        <a:graphic>
          <a:graphicData uri="http://schemas.openxmlformats.org/drawingml/2006/table">
            <a:tbl>
              <a:tblPr/>
              <a:tblGrid>
                <a:gridCol w="1920000">
                  <a:extLst>
                    <a:ext uri="{9D8B030D-6E8A-4147-A177-3AD203B41FA5}">
                      <a16:colId xmlns:a16="http://schemas.microsoft.com/office/drawing/2014/main" val="3934022098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3694946543"/>
                    </a:ext>
                  </a:extLst>
                </a:gridCol>
                <a:gridCol w="1920000">
                  <a:extLst>
                    <a:ext uri="{9D8B030D-6E8A-4147-A177-3AD203B41FA5}">
                      <a16:colId xmlns:a16="http://schemas.microsoft.com/office/drawing/2014/main" val="562128270"/>
                    </a:ext>
                  </a:extLst>
                </a:gridCol>
              </a:tblGrid>
              <a:tr h="9333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House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Number of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Age of House (years)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9359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054618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31713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048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45196"/>
                  </a:ext>
                </a:extLst>
              </a:tr>
              <a:tr h="533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H990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PH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22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7335B3-E3FC-15D0-0571-69BA4F65E4A2}"/>
              </a:ext>
            </a:extLst>
          </p:cNvPr>
          <p:cNvSpPr txBox="1"/>
          <p:nvPr/>
        </p:nvSpPr>
        <p:spPr>
          <a:xfrm>
            <a:off x="838200" y="5214694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 sz="2500" dirty="0"/>
              <a:t>However, when the algorithm compares data points, </a:t>
            </a:r>
            <a:r>
              <a:rPr lang="en-PH" sz="2500" b="1" dirty="0"/>
              <a:t>the feature with the larger scale will completely dominate the other.</a:t>
            </a:r>
            <a:r>
              <a:rPr lang="en-PH" sz="2500" dirty="0"/>
              <a:t> 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03929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5713-6360-78DC-00A7-8E8ADC50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94E0DE-7DC1-70C0-FF2D-55E8B1AA4532}"/>
              </a:ext>
            </a:extLst>
          </p:cNvPr>
          <p:cNvSpPr txBox="1"/>
          <p:nvPr/>
        </p:nvSpPr>
        <p:spPr>
          <a:xfrm>
            <a:off x="838200" y="5214694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 sz="2500" dirty="0"/>
              <a:t>For example, if we use a scatter plot to visualize our data by the age of the house in years and number of rooms, notice that it has a certain pattern.</a:t>
            </a:r>
            <a:endParaRPr lang="en-US" sz="2500" dirty="0"/>
          </a:p>
        </p:txBody>
      </p:sp>
      <p:pic>
        <p:nvPicPr>
          <p:cNvPr id="5" name="Picture 4" descr="A graph of blue dots&#10;&#10;Description automatically generated">
            <a:extLst>
              <a:ext uri="{FF2B5EF4-FFF2-40B4-BE49-F238E27FC236}">
                <a16:creationId xmlns:a16="http://schemas.microsoft.com/office/drawing/2014/main" id="{5C7AE915-50F1-C724-9196-0E5320C20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6"/>
          <a:stretch>
            <a:fillRect/>
          </a:stretch>
        </p:blipFill>
        <p:spPr>
          <a:xfrm>
            <a:off x="2964000" y="858982"/>
            <a:ext cx="6264000" cy="43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0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B8D4-2668-FC02-C62D-DE859C7E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A7D56E-F7BB-9058-067B-63A4E3640055}"/>
              </a:ext>
            </a:extLst>
          </p:cNvPr>
          <p:cNvSpPr txBox="1"/>
          <p:nvPr/>
        </p:nvSpPr>
        <p:spPr>
          <a:xfrm>
            <a:off x="838200" y="5214694"/>
            <a:ext cx="10515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500" dirty="0"/>
              <a:t>When the data looks squished like that, </a:t>
            </a:r>
            <a:r>
              <a:rPr lang="en-PH" sz="2500" b="1" dirty="0">
                <a:solidFill>
                  <a:srgbClr val="FF0000"/>
                </a:solidFill>
              </a:rPr>
              <a:t>we know we have a problem</a:t>
            </a:r>
            <a:endParaRPr lang="en-US" sz="25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A graph of blue dots&#10;&#10;Description automatically generated">
            <a:extLst>
              <a:ext uri="{FF2B5EF4-FFF2-40B4-BE49-F238E27FC236}">
                <a16:creationId xmlns:a16="http://schemas.microsoft.com/office/drawing/2014/main" id="{E9803189-2B30-1A1E-15A6-98DF73667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6"/>
          <a:stretch>
            <a:fillRect/>
          </a:stretch>
        </p:blipFill>
        <p:spPr>
          <a:xfrm>
            <a:off x="2964000" y="858982"/>
            <a:ext cx="6264000" cy="43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60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69615-F006-0041-F6A5-FB963BAA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A75D7D-39CE-E4CB-2C17-CC1E681C053A}"/>
              </a:ext>
            </a:extLst>
          </p:cNvPr>
          <p:cNvSpPr txBox="1"/>
          <p:nvPr/>
        </p:nvSpPr>
        <p:spPr>
          <a:xfrm>
            <a:off x="838200" y="5214694"/>
            <a:ext cx="10515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dirty="0"/>
              <a:t>If we have a dataset like this, the machine learning algorithm should realize that there is a huge difference </a:t>
            </a:r>
            <a:r>
              <a:rPr lang="en-US" sz="2500" b="1" dirty="0"/>
              <a:t>between a house with 2 rooms and a house with 20 rooms</a:t>
            </a:r>
            <a:r>
              <a:rPr lang="en-US" sz="2500" dirty="0"/>
              <a:t>. </a:t>
            </a:r>
          </a:p>
        </p:txBody>
      </p:sp>
      <p:pic>
        <p:nvPicPr>
          <p:cNvPr id="5" name="Picture 4" descr="A graph of blue dots&#10;&#10;Description automatically generated">
            <a:extLst>
              <a:ext uri="{FF2B5EF4-FFF2-40B4-BE49-F238E27FC236}">
                <a16:creationId xmlns:a16="http://schemas.microsoft.com/office/drawing/2014/main" id="{4D186FAA-8222-E0DE-8589-678D29520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6"/>
          <a:stretch>
            <a:fillRect/>
          </a:stretch>
        </p:blipFill>
        <p:spPr>
          <a:xfrm>
            <a:off x="2964000" y="858982"/>
            <a:ext cx="6264000" cy="43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379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CC0D5-3A15-1F78-3B2C-2F3ED95C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38981-FD73-7A1A-F32E-7F04F9687130}"/>
              </a:ext>
            </a:extLst>
          </p:cNvPr>
          <p:cNvSpPr txBox="1"/>
          <p:nvPr/>
        </p:nvSpPr>
        <p:spPr>
          <a:xfrm>
            <a:off x="838200" y="5214694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500" dirty="0"/>
              <a:t>But right now, because two houses can be </a:t>
            </a:r>
            <a:r>
              <a:rPr lang="en-US" sz="2500" b="1" dirty="0"/>
              <a:t>100 years apart</a:t>
            </a:r>
            <a:r>
              <a:rPr lang="en-US" sz="2500" dirty="0"/>
              <a:t>, the difference in the number of rooms </a:t>
            </a:r>
            <a:r>
              <a:rPr lang="en-US" sz="2500" b="1" dirty="0"/>
              <a:t>contributes less to the overall difference.</a:t>
            </a:r>
          </a:p>
        </p:txBody>
      </p:sp>
      <p:pic>
        <p:nvPicPr>
          <p:cNvPr id="5" name="Picture 4" descr="A graph of blue dots&#10;&#10;Description automatically generated">
            <a:extLst>
              <a:ext uri="{FF2B5EF4-FFF2-40B4-BE49-F238E27FC236}">
                <a16:creationId xmlns:a16="http://schemas.microsoft.com/office/drawing/2014/main" id="{FDD2FD89-85E4-C038-9251-33970F0E6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6"/>
          <a:stretch>
            <a:fillRect/>
          </a:stretch>
        </p:blipFill>
        <p:spPr>
          <a:xfrm>
            <a:off x="2964000" y="858982"/>
            <a:ext cx="6264000" cy="435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52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85F1-1E85-D181-2B85-E059380F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7DDC3C-AE64-AF46-D4F7-7375C96534C2}"/>
              </a:ext>
            </a:extLst>
          </p:cNvPr>
          <p:cNvSpPr txBox="1"/>
          <p:nvPr/>
        </p:nvSpPr>
        <p:spPr>
          <a:xfrm>
            <a:off x="838200" y="5344003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The goal of normalization is to make every datapoint have the same scale so each </a:t>
            </a:r>
            <a:r>
              <a:rPr lang="en-US" sz="2800" b="1" dirty="0">
                <a:solidFill>
                  <a:srgbClr val="00B050"/>
                </a:solidFill>
              </a:rPr>
              <a:t>feature is equally important. </a:t>
            </a:r>
          </a:p>
        </p:txBody>
      </p:sp>
      <p:pic>
        <p:nvPicPr>
          <p:cNvPr id="4" name="Picture 3" descr="A graph of blue dots&#10;&#10;Description automatically generated">
            <a:extLst>
              <a:ext uri="{FF2B5EF4-FFF2-40B4-BE49-F238E27FC236}">
                <a16:creationId xmlns:a16="http://schemas.microsoft.com/office/drawing/2014/main" id="{335CE005-FF01-91EC-3688-EA35964B3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6"/>
          <a:stretch>
            <a:fillRect/>
          </a:stretch>
        </p:blipFill>
        <p:spPr>
          <a:xfrm>
            <a:off x="3012244" y="896940"/>
            <a:ext cx="6167511" cy="431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8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0AA54-7D80-57C7-792B-F8FE1BDBB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C422BA-7A18-5A45-9C53-3CBE7BDB2CBD}"/>
              </a:ext>
            </a:extLst>
          </p:cNvPr>
          <p:cNvSpPr txBox="1"/>
          <p:nvPr/>
        </p:nvSpPr>
        <p:spPr>
          <a:xfrm>
            <a:off x="838200" y="5344003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 sz="2500" dirty="0"/>
              <a:t>The image above shows the same house data normalized using min-max normalization.</a:t>
            </a:r>
            <a:endParaRPr lang="en-US" sz="2500" dirty="0"/>
          </a:p>
        </p:txBody>
      </p:sp>
      <p:pic>
        <p:nvPicPr>
          <p:cNvPr id="4" name="Picture 3" descr="A graph of blue dots&#10;&#10;Description automatically generated">
            <a:extLst>
              <a:ext uri="{FF2B5EF4-FFF2-40B4-BE49-F238E27FC236}">
                <a16:creationId xmlns:a16="http://schemas.microsoft.com/office/drawing/2014/main" id="{B3656375-D780-A79C-DA08-342677C51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6"/>
          <a:stretch>
            <a:fillRect/>
          </a:stretch>
        </p:blipFill>
        <p:spPr>
          <a:xfrm>
            <a:off x="3012244" y="896940"/>
            <a:ext cx="6167511" cy="431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46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2FE1-A496-D088-F5EC-1D46804B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Min-Max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3A19-BADA-214F-C0E5-F45FB3562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Min-max normalization is one of the most common ways to normalize data. 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For every feature, the minimum value of that feature gets transformed into a 0, the maximum value gets transformed into a 1, and every other value gets transformed into a decimal between 0 and 1.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794782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23F0-17DF-BBE6-4B12-AD6F730F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0DD2-FCAA-9FE9-A09B-DEAF5410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Min-Max Normalization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74E500-0A57-8FCA-D082-01FE2601F19D}"/>
                  </a:ext>
                </a:extLst>
              </p:cNvPr>
              <p:cNvSpPr txBox="1"/>
              <p:nvPr/>
            </p:nvSpPr>
            <p:spPr>
              <a:xfrm>
                <a:off x="2740170" y="2151932"/>
                <a:ext cx="6711659" cy="137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4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𝒏𝒐𝒓𝒎</m:t>
                          </m:r>
                        </m:sub>
                      </m:sSub>
                      <m:r>
                        <a:rPr lang="en-US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4000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4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4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4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40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− </m:t>
                          </m:r>
                          <m:r>
                            <m:rPr>
                              <m:nor/>
                            </m:rPr>
                            <a:rPr lang="en-US" sz="40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  <m:r>
                            <m:rPr>
                              <m:nor/>
                            </m:rPr>
                            <a:rPr lang="en-US" sz="40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40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4000" b="1" i="0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l-GR" sz="4000" b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PH" sz="4000" b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74E500-0A57-8FCA-D082-01FE2601F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170" y="2151932"/>
                <a:ext cx="6711659" cy="1374800"/>
              </a:xfrm>
              <a:prstGeom prst="rect">
                <a:avLst/>
              </a:prstGeom>
              <a:blipFill>
                <a:blip r:embed="rId2"/>
                <a:stretch>
                  <a:fillRect t="-1786" b="-1250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8363CC-5116-5C8A-8583-D1C121E31D29}"/>
                  </a:ext>
                </a:extLst>
              </p:cNvPr>
              <p:cNvSpPr txBox="1"/>
              <p:nvPr/>
            </p:nvSpPr>
            <p:spPr>
              <a:xfrm>
                <a:off x="1128386" y="3813764"/>
                <a:ext cx="10339192" cy="2400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000" dirty="0"/>
                  <a:t>Where:</a:t>
                </a:r>
              </a:p>
              <a:p>
                <a:pPr marL="457200" indent="-457200">
                  <a:buFont typeface="Wingdings" pitchFamily="2" charset="2"/>
                  <a:buChar char="§"/>
                </a:pPr>
                <a:r>
                  <a:rPr lang="en-US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3000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𝒏𝒐𝒓𝒎</m:t>
                        </m:r>
                      </m:sub>
                    </m:sSub>
                  </m:oMath>
                </a14:m>
                <a:r>
                  <a:rPr lang="en-US" sz="30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en-US" sz="3000" dirty="0"/>
                  <a:t>is the normalized form of  </a:t>
                </a:r>
                <a:r>
                  <a:rPr lang="en-US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3000" dirty="0"/>
                  <a:t>  </a:t>
                </a:r>
              </a:p>
              <a:p>
                <a:pPr marL="457200" indent="-457200">
                  <a:buFont typeface="Wingdings" pitchFamily="2" charset="2"/>
                  <a:buChar char="§"/>
                </a:pPr>
                <a:r>
                  <a:rPr lang="en-US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3000" dirty="0"/>
                  <a:t>  is a feature vector from the original data set</a:t>
                </a:r>
              </a:p>
              <a:p>
                <a:pPr marL="457200" indent="-457200">
                  <a:buFont typeface="Wingdings" pitchFamily="2" charset="2"/>
                  <a:buChar char="§"/>
                </a:pPr>
                <a:r>
                  <a:rPr lang="en-US" sz="3000" b="1" dirty="0">
                    <a:solidFill>
                      <a:srgbClr val="00B0F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min(x)  </a:t>
                </a:r>
                <a:r>
                  <a:rPr lang="en-US" sz="3000" dirty="0"/>
                  <a:t>and  </a:t>
                </a:r>
                <a:r>
                  <a:rPr lang="en-US" sz="30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max(x)</a:t>
                </a:r>
                <a:r>
                  <a:rPr lang="en-US" sz="30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sz="3000" dirty="0"/>
                  <a:t>is the minimum and maximum value of  </a:t>
                </a:r>
                <a:r>
                  <a:rPr lang="en-US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3000" dirty="0"/>
                  <a:t>  respectively.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8363CC-5116-5C8A-8583-D1C121E3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386" y="3813764"/>
                <a:ext cx="10339192" cy="2400657"/>
              </a:xfrm>
              <a:prstGeom prst="rect">
                <a:avLst/>
              </a:prstGeom>
              <a:blipFill>
                <a:blip r:embed="rId3"/>
                <a:stretch>
                  <a:fillRect l="-1350" t="-3158" b="-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945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13CA-F308-FCAD-C67C-67339B0A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ormalized house&#10;&#10;Description automatically generated">
            <a:extLst>
              <a:ext uri="{FF2B5EF4-FFF2-40B4-BE49-F238E27FC236}">
                <a16:creationId xmlns:a16="http://schemas.microsoft.com/office/drawing/2014/main" id="{1992FC3F-50B3-7DFD-469D-3AF7CF98B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892" y="823724"/>
            <a:ext cx="6030215" cy="45226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07168B-F4B1-C7BE-AC44-504B963BC034}"/>
              </a:ext>
            </a:extLst>
          </p:cNvPr>
          <p:cNvSpPr txBox="1"/>
          <p:nvPr/>
        </p:nvSpPr>
        <p:spPr>
          <a:xfrm>
            <a:off x="838200" y="5528059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Min-max normalization has one fairly significant downside. 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it does not handle outliers very well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5641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937D1-D809-BFBA-BCA5-17703A3C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ormalized house&#10;&#10;Description automatically generated">
            <a:extLst>
              <a:ext uri="{FF2B5EF4-FFF2-40B4-BE49-F238E27FC236}">
                <a16:creationId xmlns:a16="http://schemas.microsoft.com/office/drawing/2014/main" id="{0B0D67EC-CFE3-D4D6-22E6-685760901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594"/>
          <a:stretch>
            <a:fillRect/>
          </a:stretch>
        </p:blipFill>
        <p:spPr>
          <a:xfrm>
            <a:off x="1334665" y="1433325"/>
            <a:ext cx="9522670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D90167-4D7E-D7F4-6899-48AEEA264D3A}"/>
              </a:ext>
            </a:extLst>
          </p:cNvPr>
          <p:cNvSpPr txBox="1"/>
          <p:nvPr/>
        </p:nvSpPr>
        <p:spPr>
          <a:xfrm>
            <a:off x="838200" y="5344003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For example, if you have </a:t>
            </a:r>
            <a:r>
              <a:rPr lang="en-US" sz="2800" b="1" dirty="0"/>
              <a:t>99 values </a:t>
            </a:r>
            <a:r>
              <a:rPr lang="en-US" sz="2800" dirty="0"/>
              <a:t>between </a:t>
            </a:r>
            <a:r>
              <a:rPr lang="en-US" sz="2800" b="1" dirty="0"/>
              <a:t>0 and 40</a:t>
            </a:r>
            <a:r>
              <a:rPr lang="en-US" sz="2800" dirty="0"/>
              <a:t>, and one value is </a:t>
            </a:r>
            <a:r>
              <a:rPr lang="en-US" sz="2800" b="1" dirty="0"/>
              <a:t>100</a:t>
            </a:r>
            <a:r>
              <a:rPr 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664755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194B4-AE93-A94D-2A69-7024FA9BF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ormalized house&#10;&#10;Description automatically generated">
            <a:extLst>
              <a:ext uri="{FF2B5EF4-FFF2-40B4-BE49-F238E27FC236}">
                <a16:creationId xmlns:a16="http://schemas.microsoft.com/office/drawing/2014/main" id="{A1D7DBB5-5DBB-A819-5C84-4DC021828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36"/>
          <a:stretch>
            <a:fillRect/>
          </a:stretch>
        </p:blipFill>
        <p:spPr>
          <a:xfrm>
            <a:off x="1113065" y="1191491"/>
            <a:ext cx="9965870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F547EE-9DB5-9DE2-B7E4-57DCB5AA848D}"/>
              </a:ext>
            </a:extLst>
          </p:cNvPr>
          <p:cNvSpPr txBox="1"/>
          <p:nvPr/>
        </p:nvSpPr>
        <p:spPr>
          <a:xfrm>
            <a:off x="838200" y="5344003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Then the </a:t>
            </a:r>
            <a:r>
              <a:rPr lang="en-US" sz="2800" b="1" dirty="0"/>
              <a:t>99 values </a:t>
            </a:r>
            <a:r>
              <a:rPr lang="en-US" sz="2800" dirty="0"/>
              <a:t>will all be transformed to a value between </a:t>
            </a:r>
            <a:r>
              <a:rPr lang="en-US" sz="2800" b="1" dirty="0"/>
              <a:t>0 and 0.4. </a:t>
            </a:r>
          </a:p>
        </p:txBody>
      </p:sp>
    </p:spTree>
    <p:extLst>
      <p:ext uri="{BB962C8B-B14F-4D97-AF65-F5344CB8AC3E}">
        <p14:creationId xmlns:p14="http://schemas.microsoft.com/office/powerpoint/2010/main" val="2513753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1DD7-DE7C-8583-7C6B-52731DA4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C93D7-354D-3055-171C-51C2FDA59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0162F"/>
                </a:solidFill>
                <a:latin typeface="Apercu"/>
              </a:rPr>
              <a:t>Z-score normalization is a strategy of normalizing data that</a:t>
            </a:r>
            <a:r>
              <a:rPr lang="en-US" b="1" dirty="0">
                <a:solidFill>
                  <a:srgbClr val="10162F"/>
                </a:solidFill>
                <a:latin typeface="Apercu"/>
              </a:rPr>
              <a:t> avoids the outlier issue</a:t>
            </a:r>
            <a:r>
              <a:rPr lang="en-US" dirty="0">
                <a:solidFill>
                  <a:srgbClr val="10162F"/>
                </a:solidFill>
                <a:latin typeface="Apercu"/>
              </a:rPr>
              <a:t>. </a:t>
            </a:r>
          </a:p>
          <a:p>
            <a:endParaRPr lang="en-US" dirty="0">
              <a:solidFill>
                <a:srgbClr val="10162F"/>
              </a:solidFill>
              <a:latin typeface="Apercu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0162F"/>
                </a:solidFill>
                <a:latin typeface="Apercu"/>
              </a:rPr>
              <a:t>The formula for Z-score normalization is given by: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9DA83-9D97-3289-F928-026C1C393B7B}"/>
                  </a:ext>
                </a:extLst>
              </p:cNvPr>
              <p:cNvSpPr txBox="1"/>
              <p:nvPr/>
            </p:nvSpPr>
            <p:spPr>
              <a:xfrm>
                <a:off x="2963968" y="4876250"/>
                <a:ext cx="6264060" cy="11553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𝒁</m:t>
                      </m:r>
                      <m:r>
                        <a:rPr lang="en-US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4000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40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𝒎𝒆𝒂𝒏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sd</m:t>
                          </m:r>
                          <m:r>
                            <m:rPr>
                              <m:nor/>
                            </m:rPr>
                            <a:rPr lang="en-US" sz="4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PH" sz="4000" b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9DA83-9D97-3289-F928-026C1C393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68" y="4876250"/>
                <a:ext cx="6264060" cy="1155381"/>
              </a:xfrm>
              <a:prstGeom prst="rect">
                <a:avLst/>
              </a:prstGeom>
              <a:blipFill>
                <a:blip r:embed="rId2"/>
                <a:stretch>
                  <a:fillRect t="-10526" b="-24211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071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C74E1-A1EB-91DE-23C3-D4811B40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A2918-FE52-4939-81B3-03816382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Z-Score Normalization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2D6A23-952A-2CEF-9B54-A427A6CE290E}"/>
                  </a:ext>
                </a:extLst>
              </p:cNvPr>
              <p:cNvSpPr txBox="1"/>
              <p:nvPr/>
            </p:nvSpPr>
            <p:spPr>
              <a:xfrm>
                <a:off x="2963968" y="2512192"/>
                <a:ext cx="6264060" cy="115538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𝒁</m:t>
                      </m:r>
                      <m:r>
                        <a:rPr lang="en-US" sz="4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PH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4000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nor/>
                            </m:rPr>
                            <a:rPr lang="en-US" sz="4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4000" b="1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𝒎𝒆𝒂𝒏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4000" b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sd</m:t>
                          </m:r>
                          <m:r>
                            <m:rPr>
                              <m:nor/>
                            </m:rPr>
                            <a:rPr lang="en-US" sz="4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PH" sz="4000" b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2D6A23-952A-2CEF-9B54-A427A6CE2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68" y="2512192"/>
                <a:ext cx="6264060" cy="1155381"/>
              </a:xfrm>
              <a:prstGeom prst="rect">
                <a:avLst/>
              </a:prstGeom>
              <a:blipFill>
                <a:blip r:embed="rId2"/>
                <a:stretch>
                  <a:fillRect t="-11579" b="-2421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9EADE2F-B0D8-0017-519B-A6DF11EA0800}"/>
              </a:ext>
            </a:extLst>
          </p:cNvPr>
          <p:cNvSpPr txBox="1"/>
          <p:nvPr/>
        </p:nvSpPr>
        <p:spPr>
          <a:xfrm>
            <a:off x="984335" y="4015695"/>
            <a:ext cx="10223326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/>
              <a:t>Where: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500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sz="2500" dirty="0"/>
              <a:t>  is the normalized form of  </a:t>
            </a:r>
            <a:r>
              <a:rPr lang="en-US" sz="2500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sz="2500" dirty="0"/>
              <a:t>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500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sz="2500" dirty="0"/>
              <a:t>  is the feature vector from the original data set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500" dirty="0">
                <a:latin typeface="Cambria Math" panose="02040503050406030204" pitchFamily="18" charset="0"/>
                <a:ea typeface="Cambria Math" panose="02040503050406030204" pitchFamily="18" charset="0"/>
              </a:rPr>
              <a:t>mean</a:t>
            </a:r>
            <a:r>
              <a:rPr lang="en-US" sz="2500" dirty="0"/>
              <a:t>  is the mean of the feature vector </a:t>
            </a:r>
            <a:r>
              <a:rPr lang="en-US" sz="2500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sz="2500" dirty="0"/>
              <a:t>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sz="25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sd</a:t>
            </a:r>
            <a:r>
              <a:rPr lang="en-US" sz="2500" dirty="0"/>
              <a:t>  is the standard deviation of  </a:t>
            </a:r>
            <a:r>
              <a:rPr lang="en-US" sz="2500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sz="2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5617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7658-5A8B-7427-F5A1-C4F65665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7147A6-25DE-B3EB-E86C-2F654DA5561B}"/>
              </a:ext>
            </a:extLst>
          </p:cNvPr>
          <p:cNvSpPr txBox="1"/>
          <p:nvPr/>
        </p:nvSpPr>
        <p:spPr>
          <a:xfrm>
            <a:off x="232204" y="5624050"/>
            <a:ext cx="119597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While the data still looks squished, notice that the points are now on roughly the same scale for both features </a:t>
            </a:r>
          </a:p>
        </p:txBody>
      </p:sp>
      <p:pic>
        <p:nvPicPr>
          <p:cNvPr id="8" name="Picture 7" descr="A graph of numbers and a number of houses&#10;&#10;Description automatically generated with medium confidence">
            <a:extLst>
              <a:ext uri="{FF2B5EF4-FFF2-40B4-BE49-F238E27FC236}">
                <a16:creationId xmlns:a16="http://schemas.microsoft.com/office/drawing/2014/main" id="{854D71F4-0C0E-DFB0-D236-7E1DB94E6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6"/>
          <a:stretch>
            <a:fillRect/>
          </a:stretch>
        </p:blipFill>
        <p:spPr>
          <a:xfrm>
            <a:off x="2753882" y="818451"/>
            <a:ext cx="6684235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843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6250-8210-F806-A67E-4EE669330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AB89D2-2EDD-B0F4-E9CB-18E19991286B}"/>
              </a:ext>
            </a:extLst>
          </p:cNvPr>
          <p:cNvSpPr txBox="1"/>
          <p:nvPr/>
        </p:nvSpPr>
        <p:spPr>
          <a:xfrm>
            <a:off x="232204" y="5624050"/>
            <a:ext cx="119597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Almost all points are between </a:t>
            </a:r>
            <a:r>
              <a:rPr lang="en-US" sz="2500" b="1" dirty="0"/>
              <a:t>-2 and 2 </a:t>
            </a:r>
            <a:r>
              <a:rPr lang="en-US" sz="2500" dirty="0"/>
              <a:t>on both the x-axis and y-axis. </a:t>
            </a:r>
          </a:p>
        </p:txBody>
      </p:sp>
      <p:pic>
        <p:nvPicPr>
          <p:cNvPr id="8" name="Picture 7" descr="A graph of numbers and a number of houses&#10;&#10;Description automatically generated with medium confidence">
            <a:extLst>
              <a:ext uri="{FF2B5EF4-FFF2-40B4-BE49-F238E27FC236}">
                <a16:creationId xmlns:a16="http://schemas.microsoft.com/office/drawing/2014/main" id="{360E879E-F672-27B9-A3DB-DA5165683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93"/>
          <a:stretch>
            <a:fillRect/>
          </a:stretch>
        </p:blipFill>
        <p:spPr>
          <a:xfrm>
            <a:off x="1381508" y="1413162"/>
            <a:ext cx="942898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601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BCC8-51C4-9DF9-4CF8-F5A5B8F4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57BEC4-8BC1-CF88-18E3-CADB1B4AA57E}"/>
              </a:ext>
            </a:extLst>
          </p:cNvPr>
          <p:cNvSpPr txBox="1"/>
          <p:nvPr/>
        </p:nvSpPr>
        <p:spPr>
          <a:xfrm>
            <a:off x="232204" y="5891905"/>
            <a:ext cx="119597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The only potential downside is that the features aren’t on the exact same scale.</a:t>
            </a:r>
          </a:p>
        </p:txBody>
      </p:sp>
      <p:pic>
        <p:nvPicPr>
          <p:cNvPr id="2" name="Picture 1" descr="A graph of numbers and a number of houses&#10;&#10;Description automatically generated with medium confidence">
            <a:extLst>
              <a:ext uri="{FF2B5EF4-FFF2-40B4-BE49-F238E27FC236}">
                <a16:creationId xmlns:a16="http://schemas.microsoft.com/office/drawing/2014/main" id="{B27FB051-E952-3B3F-323B-9B1426F09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93"/>
          <a:stretch>
            <a:fillRect/>
          </a:stretch>
        </p:blipFill>
        <p:spPr>
          <a:xfrm>
            <a:off x="1381508" y="1413162"/>
            <a:ext cx="942898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90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F7E4-AE7F-2787-EED1-05BBC72E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ormalized house&#10;&#10;Description automatically generated">
            <a:extLst>
              <a:ext uri="{FF2B5EF4-FFF2-40B4-BE49-F238E27FC236}">
                <a16:creationId xmlns:a16="http://schemas.microsoft.com/office/drawing/2014/main" id="{47FF3E6C-4F3F-D417-F27D-316572125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36"/>
          <a:stretch>
            <a:fillRect/>
          </a:stretch>
        </p:blipFill>
        <p:spPr>
          <a:xfrm>
            <a:off x="1113065" y="1191491"/>
            <a:ext cx="9965870" cy="36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DF1A2F-6A1D-FD67-91DD-85B17553EDEB}"/>
              </a:ext>
            </a:extLst>
          </p:cNvPr>
          <p:cNvSpPr txBox="1"/>
          <p:nvPr/>
        </p:nvSpPr>
        <p:spPr>
          <a:xfrm>
            <a:off x="838200" y="5344003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With min-max normalization, we were guaranteed to reshape both of our features to be </a:t>
            </a:r>
            <a:r>
              <a:rPr lang="en-US" sz="2800" b="1" dirty="0"/>
              <a:t>between</a:t>
            </a:r>
            <a:r>
              <a:rPr lang="en-US" sz="2800" dirty="0"/>
              <a:t> </a:t>
            </a:r>
            <a:r>
              <a:rPr lang="en-US" sz="2800" b="1" dirty="0"/>
              <a:t>0 and 1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8532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C898-B33D-C16B-760A-E1B89C86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C9A0F9-7E52-A2F6-02D6-1F9316217063}"/>
              </a:ext>
            </a:extLst>
          </p:cNvPr>
          <p:cNvSpPr txBox="1"/>
          <p:nvPr/>
        </p:nvSpPr>
        <p:spPr>
          <a:xfrm>
            <a:off x="232204" y="5263348"/>
            <a:ext cx="119597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Using z-score normalization, the x-axis now has a range from about </a:t>
            </a:r>
            <a:r>
              <a:rPr lang="en-US" sz="2800" b="1" dirty="0"/>
              <a:t>-1.5 to 1.5 </a:t>
            </a:r>
            <a:r>
              <a:rPr lang="en-US" sz="2800" dirty="0"/>
              <a:t>while the y-axis has a range from about </a:t>
            </a:r>
            <a:r>
              <a:rPr lang="en-US" sz="2800" b="1" dirty="0"/>
              <a:t>-2 to 2</a:t>
            </a:r>
            <a:r>
              <a:rPr lang="en-US" sz="2800" dirty="0"/>
              <a:t>.</a:t>
            </a:r>
            <a:endParaRPr lang="en-US" sz="2500" dirty="0"/>
          </a:p>
        </p:txBody>
      </p:sp>
      <p:pic>
        <p:nvPicPr>
          <p:cNvPr id="8" name="Picture 7" descr="A graph of numbers and a number of houses&#10;&#10;Description automatically generated with medium confidence">
            <a:extLst>
              <a:ext uri="{FF2B5EF4-FFF2-40B4-BE49-F238E27FC236}">
                <a16:creationId xmlns:a16="http://schemas.microsoft.com/office/drawing/2014/main" id="{105032A1-929A-B543-3022-A27AEF168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09"/>
          <a:stretch>
            <a:fillRect/>
          </a:stretch>
        </p:blipFill>
        <p:spPr>
          <a:xfrm>
            <a:off x="1514611" y="1117598"/>
            <a:ext cx="9394982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69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45FC-79C7-934D-88F4-373C3AFAB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55AF10-FBDF-8CA6-3919-5FC30B8DB223}"/>
              </a:ext>
            </a:extLst>
          </p:cNvPr>
          <p:cNvSpPr txBox="1"/>
          <p:nvPr/>
        </p:nvSpPr>
        <p:spPr>
          <a:xfrm>
            <a:off x="232204" y="5485020"/>
            <a:ext cx="119597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This is certainly better than before. the </a:t>
            </a:r>
            <a:r>
              <a:rPr lang="en-US" sz="2800" b="1" dirty="0"/>
              <a:t>x-axis</a:t>
            </a:r>
            <a:r>
              <a:rPr lang="en-US" sz="2800" dirty="0"/>
              <a:t>, which previously had a range of </a:t>
            </a:r>
            <a:r>
              <a:rPr lang="en-US" sz="2800" b="1" dirty="0"/>
              <a:t>0 to 40</a:t>
            </a:r>
            <a:r>
              <a:rPr lang="en-US" sz="2800" dirty="0"/>
              <a:t>, is no longer dominating the y-axis.</a:t>
            </a:r>
            <a:endParaRPr lang="en-US" sz="2500" dirty="0"/>
          </a:p>
        </p:txBody>
      </p:sp>
      <p:pic>
        <p:nvPicPr>
          <p:cNvPr id="8" name="Picture 7" descr="A graph of numbers and a number of houses&#10;&#10;Description automatically generated with medium confidence">
            <a:extLst>
              <a:ext uri="{FF2B5EF4-FFF2-40B4-BE49-F238E27FC236}">
                <a16:creationId xmlns:a16="http://schemas.microsoft.com/office/drawing/2014/main" id="{3D35A4AF-74CF-FF88-97BB-7A59BAD07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2"/>
          <a:stretch>
            <a:fillRect/>
          </a:stretch>
        </p:blipFill>
        <p:spPr>
          <a:xfrm>
            <a:off x="3004825" y="817455"/>
            <a:ext cx="618234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60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FFC7-3EAA-0DFB-23A5-DF9734C5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Machine Learning Models that require Scaling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6D13DB-301F-5969-5AFE-AF09CFBA0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674743"/>
            <a:ext cx="10515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n-lt"/>
              </a:rPr>
              <a:t>Certain machine learning algorithms such as distance-based algorithms , curve-based algorithms or matrix factorization, decomposition or dimensionality reduction or gradient descent-based algorithms are </a:t>
            </a:r>
            <a:r>
              <a:rPr lang="en-US" altLang="en-US" b="1" dirty="0">
                <a:latin typeface="+mn-lt"/>
              </a:rPr>
              <a:t>sensitive towards feature scaling</a:t>
            </a:r>
            <a:r>
              <a:rPr lang="en-US" altLang="en-US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29555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DB190-643B-E220-3EA6-DA34DC31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1AED-4EE9-75BD-4BF3-4F96F09C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Machine Learning Models that require Scaling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3A9ABB6-AD89-B114-B322-7F0405C8B4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674743"/>
            <a:ext cx="10515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latin typeface="+mn-lt"/>
              </a:rPr>
              <a:t>And there are certain tree-based algorithms which are </a:t>
            </a:r>
            <a:r>
              <a:rPr lang="en-US" altLang="en-US" b="1" dirty="0">
                <a:latin typeface="+mn-lt"/>
              </a:rPr>
              <a:t>insensitive towards feature scaling</a:t>
            </a:r>
            <a:r>
              <a:rPr lang="en-US" altLang="en-US" dirty="0">
                <a:latin typeface="+mn-lt"/>
              </a:rPr>
              <a:t> as they are rule based algorithms such as Classification and Regression trees, Random Forests or Gradient Boosted decision Trees.</a:t>
            </a:r>
          </a:p>
        </p:txBody>
      </p:sp>
    </p:spTree>
    <p:extLst>
      <p:ext uri="{BB962C8B-B14F-4D97-AF65-F5344CB8AC3E}">
        <p14:creationId xmlns:p14="http://schemas.microsoft.com/office/powerpoint/2010/main" val="3201441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BB7B37-C653-9A38-BFFA-63A065EEE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429414"/>
              </p:ext>
            </p:extLst>
          </p:nvPr>
        </p:nvGraphicFramePr>
        <p:xfrm>
          <a:off x="2032000" y="1416618"/>
          <a:ext cx="8128000" cy="444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1540669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86148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Feature Scaling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80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21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334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69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69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622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Kmeans</a:t>
                      </a:r>
                      <a:r>
                        <a:rPr lang="en-US" dirty="0"/>
                        <a:t>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65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806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Boosted Decision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386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80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115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39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786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F834-71CE-6F95-297B-0D740CEE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Feature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60CDD-E79E-9A19-B9C8-A1EE2F235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H" dirty="0"/>
              <a:t>You will lose the original value will transforming to other values. So, there is loss of interpretation of the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87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F3DAC-0B92-6460-448D-6AE3FF0B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F6250-1F3A-A9B4-C964-82DA5EB0C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/>
              <a:t>Normalizing your data is an essential part of machine learning. 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You might have an amazing dataset with many great features, but if you forget to normalize, one of those features might completely dominate the others. </a:t>
            </a:r>
            <a:r>
              <a:rPr lang="en-PH" dirty="0"/>
              <a:t>It’s like you’re throwing away almost all of your information! </a:t>
            </a:r>
            <a:r>
              <a:rPr lang="en-US" b="1" dirty="0">
                <a:solidFill>
                  <a:srgbClr val="00B050"/>
                </a:solidFill>
              </a:rPr>
              <a:t>Normalizing solves this problem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607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ACB3-5D80-D789-2174-6EFDD1631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01C2-E31C-C12A-7E1F-2BC35934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17B9-4449-745E-A646-D2D7E062C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/>
              <a:t>Having features on same scale that can contribute equally to the result. It can enhance the performance of machine learning algorithms.  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If you don't scale features then large scale variables will dominate the small scale features.</a:t>
            </a:r>
          </a:p>
        </p:txBody>
      </p:sp>
    </p:spTree>
    <p:extLst>
      <p:ext uri="{BB962C8B-B14F-4D97-AF65-F5344CB8AC3E}">
        <p14:creationId xmlns:p14="http://schemas.microsoft.com/office/powerpoint/2010/main" val="2082768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14632-D088-F8D5-BC94-0D3773C8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3DC75-8679-4EF5-10C5-B40C9985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65DA-36E8-C502-13B8-BF0E43AA8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b="1" dirty="0">
                <a:solidFill>
                  <a:srgbClr val="0070C0"/>
                </a:solidFill>
              </a:rPr>
              <a:t>Min-max normalization</a:t>
            </a:r>
            <a:r>
              <a:rPr lang="en-US" dirty="0"/>
              <a:t>: Guarantees all features will have the exact same scale but does not handle outliers well.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b="1" dirty="0">
                <a:solidFill>
                  <a:srgbClr val="7030A0"/>
                </a:solidFill>
              </a:rPr>
              <a:t>Z-score normalization</a:t>
            </a:r>
            <a:r>
              <a:rPr lang="en-US" dirty="0"/>
              <a:t>: Handles outliers, but does not produce normalized data with the exact same scale.</a:t>
            </a:r>
          </a:p>
        </p:txBody>
      </p:sp>
    </p:spTree>
    <p:extLst>
      <p:ext uri="{BB962C8B-B14F-4D97-AF65-F5344CB8AC3E}">
        <p14:creationId xmlns:p14="http://schemas.microsoft.com/office/powerpoint/2010/main" val="2407343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D6D0-1415-577D-9BE8-AD4013C2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9A30-FA4A-A401-0622-901D5C83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>
                <a:hlinkClick r:id="rId2"/>
              </a:rPr>
              <a:t>https://jisooleeworks.github.io/blog-site/2022/09/09/feature-scaling-min-max-z-score.html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>
                <a:hlinkClick r:id="rId3"/>
              </a:rPr>
              <a:t>https://vinaypaspula.substack.com/p/min-max-normalization-and-z-score-normalization-550988c2a990?utm_campaign=post&amp;utm_medium=web</a:t>
            </a: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4856</TotalTime>
  <Words>1659</Words>
  <Application>Microsoft Macintosh PowerPoint</Application>
  <PresentationFormat>Widescreen</PresentationFormat>
  <Paragraphs>417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Apercu</vt:lpstr>
      <vt:lpstr>Aptos</vt:lpstr>
      <vt:lpstr>Aptos Display</vt:lpstr>
      <vt:lpstr>Arial</vt:lpstr>
      <vt:lpstr>Calibri (Body)</vt:lpstr>
      <vt:lpstr>Cambria Math</vt:lpstr>
      <vt:lpstr>Wingdings</vt:lpstr>
      <vt:lpstr>Office Theme</vt:lpstr>
      <vt:lpstr>Feature Scaling</vt:lpstr>
      <vt:lpstr>What is Feature Scaling?</vt:lpstr>
      <vt:lpstr>What is Feature Scaling?</vt:lpstr>
      <vt:lpstr>What is Feature Scaling?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Feature Scaling?</vt:lpstr>
      <vt:lpstr>Why Feature Scaling?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Min-Max Normalization</vt:lpstr>
      <vt:lpstr>Min-Max Normalization</vt:lpstr>
      <vt:lpstr>PowerPoint Presentation</vt:lpstr>
      <vt:lpstr>PowerPoint Presentation</vt:lpstr>
      <vt:lpstr>PowerPoint Presentation</vt:lpstr>
      <vt:lpstr>Z-Score Normalization</vt:lpstr>
      <vt:lpstr>Z-Score Normalization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Machine Learning Models that require Scaling</vt:lpstr>
      <vt:lpstr>Machine Learning Models that require Scaling</vt:lpstr>
      <vt:lpstr>PowerPoint Presentation</vt:lpstr>
      <vt:lpstr>Disadvantages of Feature Scaling</vt:lpstr>
      <vt:lpstr>Summary</vt:lpstr>
      <vt:lpstr>Summary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769</cp:revision>
  <dcterms:created xsi:type="dcterms:W3CDTF">2024-08-08T01:29:50Z</dcterms:created>
  <dcterms:modified xsi:type="dcterms:W3CDTF">2025-11-28T07:54:07Z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