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257" r:id="rId5"/>
    <p:sldId id="283" r:id="rId6"/>
    <p:sldId id="299" r:id="rId7"/>
    <p:sldId id="329" r:id="rId8"/>
    <p:sldId id="355" r:id="rId9"/>
    <p:sldId id="330" r:id="rId10"/>
    <p:sldId id="332" r:id="rId11"/>
    <p:sldId id="348" r:id="rId12"/>
    <p:sldId id="347" r:id="rId13"/>
    <p:sldId id="356" r:id="rId14"/>
    <p:sldId id="333" r:id="rId15"/>
    <p:sldId id="336" r:id="rId16"/>
    <p:sldId id="335" r:id="rId17"/>
    <p:sldId id="337" r:id="rId18"/>
    <p:sldId id="339" r:id="rId19"/>
    <p:sldId id="334" r:id="rId20"/>
    <p:sldId id="338" r:id="rId21"/>
    <p:sldId id="349" r:id="rId22"/>
    <p:sldId id="331" r:id="rId23"/>
    <p:sldId id="357" r:id="rId24"/>
    <p:sldId id="341" r:id="rId25"/>
    <p:sldId id="350" r:id="rId26"/>
    <p:sldId id="351" r:id="rId27"/>
    <p:sldId id="352" r:id="rId28"/>
    <p:sldId id="342" r:id="rId29"/>
    <p:sldId id="343" r:id="rId30"/>
    <p:sldId id="344" r:id="rId31"/>
    <p:sldId id="346" r:id="rId32"/>
    <p:sldId id="353" r:id="rId33"/>
    <p:sldId id="35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6" autoAdjust="0"/>
    <p:restoredTop sz="94104" autoAdjust="0"/>
  </p:normalViewPr>
  <p:slideViewPr>
    <p:cSldViewPr snapToGrid="0">
      <p:cViewPr varScale="1">
        <p:scale>
          <a:sx n="154" d="100"/>
          <a:sy n="154" d="100"/>
        </p:scale>
        <p:origin x="55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22805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225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7673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8726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9336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183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55880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3313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3395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6837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6353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781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354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9743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15291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1937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95644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1614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77976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36921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5433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65600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85833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0430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85443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93032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50792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53681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8235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15/01/2026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Test of Significance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PH" sz="2400" b="1" dirty="0"/>
              <a:t>Presented by:</a:t>
            </a:r>
          </a:p>
          <a:p>
            <a:pPr algn="l"/>
            <a:r>
              <a:rPr lang="en-PH" sz="2400" dirty="0"/>
              <a:t>Elizer Ponio Jr.</a:t>
            </a:r>
          </a:p>
          <a:p>
            <a:pPr algn="l"/>
            <a:r>
              <a:rPr lang="en-PH" sz="2400" dirty="0"/>
              <a:t>Department of Computer Science</a:t>
            </a:r>
          </a:p>
          <a:p>
            <a:pPr algn="l"/>
            <a:r>
              <a:rPr lang="en-PH" sz="2400" dirty="0"/>
              <a:t>College of Computing and Information Technologies</a:t>
            </a:r>
          </a:p>
          <a:p>
            <a:pPr algn="l"/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F1114-32BB-A28C-0B44-90073AA32F6C}"/>
              </a:ext>
            </a:extLst>
          </p:cNvPr>
          <p:cNvSpPr txBox="1">
            <a:spLocks/>
          </p:cNvSpPr>
          <p:nvPr/>
        </p:nvSpPr>
        <p:spPr>
          <a:xfrm>
            <a:off x="459205" y="1283707"/>
            <a:ext cx="1127358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900" b="1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latin typeface="Calibri Light (Headings)"/>
              </a:rPr>
              <a:t>Recap of Statistical Inference</a:t>
            </a:r>
          </a:p>
          <a:p>
            <a:pPr algn="l"/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 (Headings)"/>
              </a:rPr>
              <a:t>Test of Significance and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Null and Alternate Hypothesis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Steps of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F68FD0-4734-F88A-26AE-8BD1D795B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205" y="359228"/>
            <a:ext cx="9935227" cy="718459"/>
          </a:xfrm>
        </p:spPr>
        <p:txBody>
          <a:bodyPr>
            <a:noAutofit/>
          </a:bodyPr>
          <a:lstStyle/>
          <a:p>
            <a:pPr algn="l"/>
            <a:r>
              <a:rPr lang="en-US" sz="4500" b="1" dirty="0"/>
              <a:t>Outline</a:t>
            </a:r>
            <a:endParaRPr lang="en-PH" sz="4500" b="1" dirty="0"/>
          </a:p>
        </p:txBody>
      </p:sp>
    </p:spTree>
    <p:extLst>
      <p:ext uri="{BB962C8B-B14F-4D97-AF65-F5344CB8AC3E}">
        <p14:creationId xmlns:p14="http://schemas.microsoft.com/office/powerpoint/2010/main" val="118141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Recap: Statistical Inference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b="1" dirty="0">
                <a:solidFill>
                  <a:srgbClr val="00B0F0"/>
                </a:solidFill>
              </a:rPr>
              <a:t>Confidence intervals </a:t>
            </a:r>
            <a:r>
              <a:rPr lang="en-PH" sz="3000" dirty="0"/>
              <a:t>are one of the two most common types of statistical inference. </a:t>
            </a:r>
          </a:p>
          <a:p>
            <a:endParaRPr lang="en-PH" sz="3000" dirty="0"/>
          </a:p>
          <a:p>
            <a:r>
              <a:rPr lang="en-PH" sz="3000" dirty="0"/>
              <a:t>Researchers use a confidence interval when their goal is to </a:t>
            </a:r>
            <a:r>
              <a:rPr lang="en-PH" sz="3000" b="1" dirty="0">
                <a:solidFill>
                  <a:srgbClr val="00B0F0"/>
                </a:solidFill>
              </a:rPr>
              <a:t>estimate a population parameter</a:t>
            </a:r>
            <a:r>
              <a:rPr lang="en-PH" sz="3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0513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Recap: Statistical Inference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The second common type of inference, called a </a:t>
            </a:r>
            <a:r>
              <a:rPr lang="en-PH" sz="3000" b="1" dirty="0">
                <a:solidFill>
                  <a:srgbClr val="7030A0"/>
                </a:solidFill>
              </a:rPr>
              <a:t>test of significance</a:t>
            </a:r>
            <a:r>
              <a:rPr lang="en-PH" sz="3000" dirty="0"/>
              <a:t>, has a different goal: </a:t>
            </a:r>
          </a:p>
          <a:p>
            <a:endParaRPr lang="en-PH" sz="3000" dirty="0"/>
          </a:p>
          <a:p>
            <a:r>
              <a:rPr lang="en-PH" sz="4000" b="1" i="1" dirty="0">
                <a:solidFill>
                  <a:srgbClr val="00B0F0"/>
                </a:solidFill>
              </a:rPr>
              <a:t>To assess the evidence </a:t>
            </a:r>
            <a:r>
              <a:rPr lang="en-PH" sz="4000" i="1" dirty="0"/>
              <a:t>provided by data about some claim concerning a population. </a:t>
            </a:r>
          </a:p>
        </p:txBody>
      </p:sp>
    </p:spTree>
    <p:extLst>
      <p:ext uri="{BB962C8B-B14F-4D97-AF65-F5344CB8AC3E}">
        <p14:creationId xmlns:p14="http://schemas.microsoft.com/office/powerpoint/2010/main" val="425584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F1114-32BB-A28C-0B44-90073AA32F6C}"/>
              </a:ext>
            </a:extLst>
          </p:cNvPr>
          <p:cNvSpPr txBox="1">
            <a:spLocks/>
          </p:cNvSpPr>
          <p:nvPr/>
        </p:nvSpPr>
        <p:spPr>
          <a:xfrm>
            <a:off x="459205" y="1050967"/>
            <a:ext cx="11273589" cy="45233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900" b="1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latin typeface="Calibri Light (Headings)"/>
              </a:rPr>
              <a:t>Recap of Statistical Inference</a:t>
            </a:r>
          </a:p>
          <a:p>
            <a:pPr algn="l"/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 (Headings)"/>
              </a:rPr>
              <a:t>Test of Significance and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Null and Alternate Hypothesis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Steps of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F68FD0-4734-F88A-26AE-8BD1D795B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205" y="359228"/>
            <a:ext cx="9935227" cy="718459"/>
          </a:xfrm>
        </p:spPr>
        <p:txBody>
          <a:bodyPr>
            <a:noAutofit/>
          </a:bodyPr>
          <a:lstStyle/>
          <a:p>
            <a:pPr algn="l"/>
            <a:endParaRPr lang="en-PH" sz="4500" b="1" dirty="0"/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0FE95D5E-0829-27E7-2F47-74E6B1430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2664" y="1077687"/>
            <a:ext cx="673335" cy="67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Test of Significance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A test of significance is a formal procedure for comparing observed data with a claim (</a:t>
            </a:r>
            <a:r>
              <a:rPr lang="en-PH" sz="3000" b="1" dirty="0">
                <a:solidFill>
                  <a:srgbClr val="00B0F0"/>
                </a:solidFill>
              </a:rPr>
              <a:t>also called a hypothesis</a:t>
            </a:r>
            <a:r>
              <a:rPr lang="en-PH" sz="3000" dirty="0"/>
              <a:t>), the truth of which is being assessed. </a:t>
            </a:r>
          </a:p>
          <a:p>
            <a:endParaRPr lang="en-PH" sz="3000" dirty="0"/>
          </a:p>
          <a:p>
            <a:r>
              <a:rPr lang="en-US" sz="3000" dirty="0"/>
              <a:t>The first step in conducting a test of statistical significance is to </a:t>
            </a:r>
            <a:r>
              <a:rPr lang="en-US" sz="3000" b="1" dirty="0">
                <a:solidFill>
                  <a:srgbClr val="7030A0"/>
                </a:solidFill>
              </a:rPr>
              <a:t>state the hypothesis. </a:t>
            </a:r>
            <a:br>
              <a:rPr lang="en-US" sz="3000" dirty="0"/>
            </a:b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00691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Hypothesis Testing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11404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In today’s data-driven world, decisions are based on data all the time</a:t>
            </a:r>
          </a:p>
          <a:p>
            <a:endParaRPr lang="en-PH" sz="3000" dirty="0"/>
          </a:p>
          <a:p>
            <a:r>
              <a:rPr lang="en-PH" sz="3000" dirty="0"/>
              <a:t>Hypothesis plays a crucial role in that process, whether it may be making business decisions, in the health sector, academia, or in quality improvement. </a:t>
            </a:r>
          </a:p>
          <a:p>
            <a:endParaRPr lang="en-PH" sz="3000" dirty="0"/>
          </a:p>
          <a:p>
            <a:r>
              <a:rPr lang="en-PH" sz="3000" dirty="0"/>
              <a:t>Without hypothesis and hypothesis tests, you risk drawing the </a:t>
            </a:r>
            <a:r>
              <a:rPr lang="en-PH" sz="3000" b="1" dirty="0">
                <a:solidFill>
                  <a:srgbClr val="FF0000"/>
                </a:solidFill>
              </a:rPr>
              <a:t>wrong conclusions </a:t>
            </a:r>
            <a:r>
              <a:rPr lang="en-PH" sz="3000" dirty="0"/>
              <a:t>and </a:t>
            </a:r>
            <a:r>
              <a:rPr lang="en-PH" sz="3000" b="1" dirty="0">
                <a:solidFill>
                  <a:srgbClr val="FF0000"/>
                </a:solidFill>
              </a:rPr>
              <a:t>making bad decisions</a:t>
            </a:r>
            <a:r>
              <a:rPr lang="en-PH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887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Hypothesis Testing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114040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Hypothesis Testing </a:t>
            </a:r>
            <a:r>
              <a:rPr lang="en-PH" sz="3000" b="1" dirty="0"/>
              <a:t>puts our assumptions about a population parameter to the test</a:t>
            </a:r>
            <a:r>
              <a:rPr lang="en-PH" sz="3000" dirty="0"/>
              <a:t>. </a:t>
            </a:r>
          </a:p>
          <a:p>
            <a:endParaRPr lang="en-PH" sz="3000" dirty="0"/>
          </a:p>
          <a:p>
            <a:r>
              <a:rPr lang="en-PH" sz="3000" dirty="0"/>
              <a:t>It is used to estimate the relationship between two statistical variables. Real life examples include:</a:t>
            </a:r>
          </a:p>
          <a:p>
            <a:endParaRPr lang="en-PH" sz="30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PH" sz="3000" dirty="0"/>
              <a:t>A teacher assumes that 60% of his college's students come from lower-middle-class families.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PH" sz="3000" dirty="0"/>
              <a:t>A doctor believes that 3D (Diet, Dose, and Discipline) is 90% effective for diabetic patients.</a:t>
            </a:r>
          </a:p>
          <a:p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120370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How Hypothesis Testing Works?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11404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Measurements and analyses are conducted on a </a:t>
            </a:r>
            <a:r>
              <a:rPr lang="en-PH" sz="3000" b="1" dirty="0">
                <a:solidFill>
                  <a:srgbClr val="00B0F0"/>
                </a:solidFill>
              </a:rPr>
              <a:t>random sample </a:t>
            </a:r>
            <a:r>
              <a:rPr lang="en-PH" sz="3000" dirty="0"/>
              <a:t>of the population to test a theory.</a:t>
            </a:r>
          </a:p>
          <a:p>
            <a:endParaRPr lang="en-PH" sz="3000" dirty="0"/>
          </a:p>
          <a:p>
            <a:r>
              <a:rPr lang="en-US" sz="3000" dirty="0"/>
              <a:t>In hypothesis testing, a decision between two alternatives must be made. </a:t>
            </a:r>
          </a:p>
          <a:p>
            <a:endParaRPr lang="en-US" sz="3000" dirty="0"/>
          </a:p>
          <a:p>
            <a:r>
              <a:rPr lang="en-US" sz="3000" dirty="0"/>
              <a:t>One of which is called the </a:t>
            </a:r>
            <a:r>
              <a:rPr lang="en-US" sz="3000" b="1" dirty="0">
                <a:solidFill>
                  <a:srgbClr val="00B050"/>
                </a:solidFill>
              </a:rPr>
              <a:t>null hypothesis </a:t>
            </a:r>
            <a:r>
              <a:rPr lang="en-US" sz="3000" dirty="0"/>
              <a:t>and the other the </a:t>
            </a:r>
            <a:r>
              <a:rPr lang="en-US" sz="3000" b="1" dirty="0">
                <a:solidFill>
                  <a:srgbClr val="FF0000"/>
                </a:solidFill>
              </a:rPr>
              <a:t>alternative hypothesis</a:t>
            </a:r>
          </a:p>
        </p:txBody>
      </p:sp>
    </p:spTree>
    <p:extLst>
      <p:ext uri="{BB962C8B-B14F-4D97-AF65-F5344CB8AC3E}">
        <p14:creationId xmlns:p14="http://schemas.microsoft.com/office/powerpoint/2010/main" val="19391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F1114-32BB-A28C-0B44-90073AA32F6C}"/>
              </a:ext>
            </a:extLst>
          </p:cNvPr>
          <p:cNvSpPr txBox="1">
            <a:spLocks/>
          </p:cNvSpPr>
          <p:nvPr/>
        </p:nvSpPr>
        <p:spPr>
          <a:xfrm>
            <a:off x="459205" y="1283707"/>
            <a:ext cx="1127358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900" b="1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latin typeface="Calibri Light (Headings)"/>
              </a:rPr>
              <a:t>Recap of Statistical Inference</a:t>
            </a:r>
          </a:p>
          <a:p>
            <a:pPr algn="l"/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 (Headings)"/>
              </a:rPr>
              <a:t>Test of Significance and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Null and Alternate Hypothesis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Steps of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F68FD0-4734-F88A-26AE-8BD1D795B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205" y="359228"/>
            <a:ext cx="9935227" cy="718459"/>
          </a:xfrm>
        </p:spPr>
        <p:txBody>
          <a:bodyPr>
            <a:noAutofit/>
          </a:bodyPr>
          <a:lstStyle/>
          <a:p>
            <a:pPr algn="l"/>
            <a:endParaRPr lang="en-PH" sz="4500" b="1" dirty="0"/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0FE95D5E-0829-27E7-2F47-74E6B1430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2664" y="1077687"/>
            <a:ext cx="673335" cy="673335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17AA136F-88B5-E079-24E1-216818098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9216" y="1834087"/>
            <a:ext cx="673335" cy="67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4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Null Hypothesis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/>
              <p:nvPr/>
            </p:nvSpPr>
            <p:spPr>
              <a:xfrm>
                <a:off x="639918" y="1354768"/>
                <a:ext cx="1114040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The </a:t>
                </a:r>
                <a:r>
                  <a:rPr lang="en-US" sz="3000" b="1" dirty="0">
                    <a:solidFill>
                      <a:srgbClr val="00B050"/>
                    </a:solidFill>
                  </a:rPr>
                  <a:t>null hypothesis </a:t>
                </a:r>
                <a:r>
                  <a:rPr lang="en-US" sz="3000" dirty="0"/>
                  <a:t>is a form of hypothesis that is deemed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 “true” </a:t>
                </a:r>
                <a:r>
                  <a:rPr lang="en-US" sz="3000" dirty="0"/>
                  <a:t>until proven wrong based on experimental data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.</a:t>
                </a:r>
              </a:p>
              <a:p>
                <a:endParaRPr lang="en-US" sz="3000" b="1" dirty="0">
                  <a:solidFill>
                    <a:srgbClr val="7030A0"/>
                  </a:solidFill>
                </a:endParaRPr>
              </a:p>
              <a:p>
                <a:r>
                  <a:rPr lang="en-US" sz="3000" dirty="0"/>
                  <a:t>It is defined as the </a:t>
                </a:r>
                <a:r>
                  <a:rPr lang="en-US" sz="3000" b="1" dirty="0">
                    <a:solidFill>
                      <a:srgbClr val="7030A0"/>
                    </a:solidFill>
                  </a:rPr>
                  <a:t>commonly accepted fact </a:t>
                </a:r>
                <a:r>
                  <a:rPr lang="en-US" sz="3000" b="1" dirty="0"/>
                  <a:t>(such as the sky is blue) </a:t>
                </a:r>
                <a:r>
                  <a:rPr lang="en-US" sz="3000" dirty="0"/>
                  <a:t>and the </a:t>
                </a:r>
                <a:r>
                  <a:rPr lang="en-US" sz="3000" b="1" dirty="0">
                    <a:solidFill>
                      <a:srgbClr val="00B0F0"/>
                    </a:solidFill>
                  </a:rPr>
                  <a:t>researcher’s aim is to reject or nullify this fact</a:t>
                </a:r>
                <a:r>
                  <a:rPr lang="en-US" sz="3000" dirty="0"/>
                  <a:t>.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The notation that is typically used for the null hypothesis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00B050"/>
                    </a:solidFill>
                  </a:rPr>
                  <a:t> </a:t>
                </a:r>
                <a:br>
                  <a:rPr lang="en-US" sz="3000" dirty="0"/>
                </a:br>
                <a:endParaRPr lang="en-PH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354768"/>
                <a:ext cx="11140404" cy="3785652"/>
              </a:xfrm>
              <a:prstGeom prst="rect">
                <a:avLst/>
              </a:prstGeom>
              <a:blipFill>
                <a:blip r:embed="rId4"/>
                <a:stretch>
                  <a:fillRect l="-1253" t="-2007" r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428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pic>
        <p:nvPicPr>
          <p:cNvPr id="3" name="Picture 2" descr="A poster of a group of people playing music&#10;&#10;Description automatically generated with medium confidence">
            <a:extLst>
              <a:ext uri="{FF2B5EF4-FFF2-40B4-BE49-F238E27FC236}">
                <a16:creationId xmlns:a16="http://schemas.microsoft.com/office/drawing/2014/main" id="{A2DF7275-E609-E593-DCE6-883167122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80" y="321706"/>
            <a:ext cx="8566439" cy="57109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5896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Alternative Hypothesis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/>
              <p:nvPr/>
            </p:nvSpPr>
            <p:spPr>
              <a:xfrm>
                <a:off x="639918" y="1354768"/>
                <a:ext cx="1114040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The opposite of a null hypothesis is called the </a:t>
                </a:r>
                <a:r>
                  <a:rPr lang="en-US" sz="3000" b="1" dirty="0">
                    <a:solidFill>
                      <a:srgbClr val="FF0000"/>
                    </a:solidFill>
                  </a:rPr>
                  <a:t>alternative hypothesis</a:t>
                </a:r>
                <a:r>
                  <a:rPr lang="en-US" sz="3000" dirty="0"/>
                  <a:t>. 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The alternative hypothesis is the </a:t>
                </a:r>
                <a:r>
                  <a:rPr lang="en-US" sz="3000" b="1" dirty="0">
                    <a:solidFill>
                      <a:srgbClr val="00B0F0"/>
                    </a:solidFill>
                  </a:rPr>
                  <a:t>claim that researchers are actually trying to prove is true</a:t>
                </a:r>
                <a:r>
                  <a:rPr lang="en-US" sz="3000" dirty="0"/>
                  <a:t>. 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The notation that is typically used for the alternative hypothesis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endParaRPr lang="en-PH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354768"/>
                <a:ext cx="11140404" cy="2862322"/>
              </a:xfrm>
              <a:prstGeom prst="rect">
                <a:avLst/>
              </a:prstGeom>
              <a:blipFill>
                <a:blip r:embed="rId4"/>
                <a:stretch>
                  <a:fillRect l="-1253" t="-2643" b="-5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725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pic>
        <p:nvPicPr>
          <p:cNvPr id="7" name="Picture 6" descr="A poster with a plant growing out of the ground&#10;&#10;Description automatically generated">
            <a:extLst>
              <a:ext uri="{FF2B5EF4-FFF2-40B4-BE49-F238E27FC236}">
                <a16:creationId xmlns:a16="http://schemas.microsoft.com/office/drawing/2014/main" id="{BC2E7218-AC19-F130-0716-0305FA851E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488" y="291210"/>
            <a:ext cx="8199023" cy="546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71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Court Trial Example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1140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process of testing hypotheses can be compared to court trials.</a:t>
            </a:r>
          </a:p>
          <a:p>
            <a:r>
              <a:rPr lang="en-US" sz="3000" dirty="0"/>
              <a:t>A person comes into court charged with a crime. </a:t>
            </a:r>
          </a:p>
          <a:p>
            <a:endParaRPr lang="en-PH" sz="3000" dirty="0"/>
          </a:p>
        </p:txBody>
      </p:sp>
      <p:pic>
        <p:nvPicPr>
          <p:cNvPr id="3" name="Picture 2" descr="A person sitting at a desk&#10;&#10;Description automatically generated">
            <a:extLst>
              <a:ext uri="{FF2B5EF4-FFF2-40B4-BE49-F238E27FC236}">
                <a16:creationId xmlns:a16="http://schemas.microsoft.com/office/drawing/2014/main" id="{EA82693E-380E-7EA1-CB9D-141726E57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738" y="2672733"/>
            <a:ext cx="4108522" cy="30813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4419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28806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Court Trial Example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11404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A jury must decide whether the person is </a:t>
            </a:r>
            <a:r>
              <a:rPr lang="en-US" sz="3000" b="1" dirty="0">
                <a:solidFill>
                  <a:srgbClr val="00B050"/>
                </a:solidFill>
              </a:rPr>
              <a:t>not guilty (null hypothesis) </a:t>
            </a:r>
            <a:r>
              <a:rPr lang="en-US" sz="3000" dirty="0"/>
              <a:t>or </a:t>
            </a:r>
            <a:r>
              <a:rPr lang="en-US" sz="3000" b="1" dirty="0">
                <a:solidFill>
                  <a:srgbClr val="FF0000"/>
                </a:solidFill>
              </a:rPr>
              <a:t>guilty (alternative hypothesis). </a:t>
            </a:r>
            <a:endParaRPr lang="en-PH" sz="3000" b="1" dirty="0">
              <a:solidFill>
                <a:srgbClr val="FF0000"/>
              </a:solidFill>
            </a:endParaRPr>
          </a:p>
        </p:txBody>
      </p:sp>
      <p:pic>
        <p:nvPicPr>
          <p:cNvPr id="9" name="Picture 8" descr="A person in a suit speaking into a microphone&#10;&#10;Description automatically generated">
            <a:extLst>
              <a:ext uri="{FF2B5EF4-FFF2-40B4-BE49-F238E27FC236}">
                <a16:creationId xmlns:a16="http://schemas.microsoft.com/office/drawing/2014/main" id="{9F258C01-E13E-C655-B0D2-3A1DC30E3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166" y="2702938"/>
            <a:ext cx="5527665" cy="29711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0961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Court Trial Example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11404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Even though the person is charged with the crime, at the beginning of the trial (and until the jury declares otherwise) the accused is assumed to be </a:t>
            </a:r>
            <a:r>
              <a:rPr lang="en-US" sz="3000" b="1" dirty="0">
                <a:solidFill>
                  <a:srgbClr val="00B050"/>
                </a:solidFill>
              </a:rPr>
              <a:t>not guilty </a:t>
            </a:r>
            <a:r>
              <a:rPr lang="en-US" sz="3000" dirty="0"/>
              <a:t>of the crime. </a:t>
            </a:r>
          </a:p>
          <a:p>
            <a:endParaRPr lang="en-US" sz="3000" dirty="0"/>
          </a:p>
          <a:p>
            <a:r>
              <a:rPr lang="en-US" sz="3000" dirty="0"/>
              <a:t>Only if overwhelming evidence of the person's guilt can be shown is the jury expected to declare the person</a:t>
            </a:r>
            <a:r>
              <a:rPr lang="en-US" sz="3000" b="1" dirty="0">
                <a:solidFill>
                  <a:srgbClr val="FF0000"/>
                </a:solidFill>
              </a:rPr>
              <a:t> guilty</a:t>
            </a:r>
            <a:r>
              <a:rPr lang="en-US" sz="3000" dirty="0"/>
              <a:t>, otherwise the person is considered </a:t>
            </a:r>
            <a:r>
              <a:rPr lang="en-US" sz="3000" b="1" dirty="0">
                <a:solidFill>
                  <a:srgbClr val="00B050"/>
                </a:solidFill>
              </a:rPr>
              <a:t>not guilty.</a:t>
            </a:r>
            <a:endParaRPr lang="en-PH" sz="3000" b="1" dirty="0">
              <a:solidFill>
                <a:srgbClr val="00B050"/>
              </a:solidFill>
            </a:endParaRPr>
          </a:p>
          <a:p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658970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Hand Sanitizer Example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/>
              <p:nvPr/>
            </p:nvSpPr>
            <p:spPr>
              <a:xfrm>
                <a:off x="639918" y="1354768"/>
                <a:ext cx="1114040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PH" sz="3000" dirty="0"/>
                  <a:t>A sanitizer manufacturer claims that its product </a:t>
                </a:r>
                <a:r>
                  <a:rPr lang="en-PH" sz="3000" b="1" dirty="0">
                    <a:solidFill>
                      <a:srgbClr val="00B0F0"/>
                    </a:solidFill>
                  </a:rPr>
                  <a:t>kills 95 percent of germs on average</a:t>
                </a:r>
                <a:r>
                  <a:rPr lang="en-PH" sz="3000" dirty="0"/>
                  <a:t>. </a:t>
                </a:r>
              </a:p>
              <a:p>
                <a:pPr algn="l"/>
                <a:endParaRPr lang="en-PH" sz="3000" dirty="0"/>
              </a:p>
              <a:p>
                <a:pPr algn="l"/>
                <a:r>
                  <a:rPr lang="en-PH" sz="3000" dirty="0"/>
                  <a:t>To put this company's claim to the test, create a </a:t>
                </a:r>
                <a:r>
                  <a:rPr lang="en-PH" sz="3000" b="1" dirty="0">
                    <a:solidFill>
                      <a:srgbClr val="00B050"/>
                    </a:solidFill>
                  </a:rPr>
                  <a:t>null</a:t>
                </a:r>
                <a:r>
                  <a:rPr lang="en-PH" sz="3000" dirty="0"/>
                  <a:t> and </a:t>
                </a:r>
                <a:r>
                  <a:rPr lang="en-PH" sz="3000" b="1" dirty="0">
                    <a:solidFill>
                      <a:srgbClr val="FF0000"/>
                    </a:solidFill>
                  </a:rPr>
                  <a:t>alternate hypothesis</a:t>
                </a:r>
                <a:r>
                  <a:rPr lang="en-PH" sz="3000" dirty="0"/>
                  <a:t>.</a:t>
                </a:r>
              </a:p>
              <a:p>
                <a:pPr algn="l"/>
                <a:endParaRPr lang="en-PH" sz="3000" dirty="0"/>
              </a:p>
              <a:p>
                <a:pPr algn="l"/>
                <a:r>
                  <a:rPr lang="en-PH" sz="3000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00B050"/>
                    </a:solidFill>
                  </a:rPr>
                  <a:t> </a:t>
                </a:r>
                <a:r>
                  <a:rPr lang="en-PH" sz="3000" dirty="0"/>
                  <a:t>: Average is 95%.</a:t>
                </a:r>
              </a:p>
              <a:p>
                <a:pPr algn="l"/>
                <a:r>
                  <a:rPr lang="en-PH" sz="3000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: The average is less than 95%.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354768"/>
                <a:ext cx="11140404" cy="3785652"/>
              </a:xfrm>
              <a:prstGeom prst="rect">
                <a:avLst/>
              </a:prstGeom>
              <a:blipFill>
                <a:blip r:embed="rId4"/>
                <a:stretch>
                  <a:fillRect l="-1253" t="-2007" b="-4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636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Test of Significance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When conducting a significance test, the goal is to </a:t>
            </a:r>
            <a:r>
              <a:rPr lang="en-US" sz="3000" b="1" dirty="0">
                <a:solidFill>
                  <a:srgbClr val="00B0F0"/>
                </a:solidFill>
              </a:rPr>
              <a:t>provide evidence to reject the null hypothesis</a:t>
            </a:r>
            <a:r>
              <a:rPr lang="en-US" sz="3000" dirty="0"/>
              <a:t>. </a:t>
            </a:r>
          </a:p>
          <a:p>
            <a:endParaRPr lang="en-US" sz="3000" dirty="0"/>
          </a:p>
          <a:p>
            <a:r>
              <a:rPr lang="en-US" sz="3000" dirty="0"/>
              <a:t>If the evidence is strong enough to reject the </a:t>
            </a:r>
            <a:r>
              <a:rPr lang="en-US" sz="3000" b="1" dirty="0">
                <a:solidFill>
                  <a:srgbClr val="00B050"/>
                </a:solidFill>
              </a:rPr>
              <a:t>null hypothesis</a:t>
            </a:r>
            <a:r>
              <a:rPr lang="en-US" sz="3000" dirty="0"/>
              <a:t>, then the </a:t>
            </a:r>
            <a:r>
              <a:rPr lang="en-US" sz="3000" b="1" dirty="0">
                <a:solidFill>
                  <a:srgbClr val="FF0000"/>
                </a:solidFill>
              </a:rPr>
              <a:t>alternative hypothesis </a:t>
            </a:r>
            <a:r>
              <a:rPr lang="en-US" sz="3000" dirty="0"/>
              <a:t>can automatically be accepted.</a:t>
            </a:r>
          </a:p>
          <a:p>
            <a:br>
              <a:rPr lang="en-US" sz="3000" dirty="0"/>
            </a:br>
            <a:r>
              <a:rPr lang="en-US" sz="3000" dirty="0"/>
              <a:t>However, if the evidence is not strong enough, researchers fail to reject the </a:t>
            </a:r>
            <a:r>
              <a:rPr lang="en-US" sz="3000" b="1" dirty="0">
                <a:solidFill>
                  <a:srgbClr val="00B050"/>
                </a:solidFill>
              </a:rPr>
              <a:t>null hypothesis</a:t>
            </a:r>
            <a:r>
              <a:rPr lang="en-US" sz="3000" dirty="0"/>
              <a:t>. </a:t>
            </a:r>
            <a:br>
              <a:rPr lang="en-US" sz="3000" dirty="0"/>
            </a:b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982310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F1114-32BB-A28C-0B44-90073AA32F6C}"/>
              </a:ext>
            </a:extLst>
          </p:cNvPr>
          <p:cNvSpPr txBox="1">
            <a:spLocks/>
          </p:cNvSpPr>
          <p:nvPr/>
        </p:nvSpPr>
        <p:spPr>
          <a:xfrm>
            <a:off x="459205" y="1283707"/>
            <a:ext cx="11273589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900" b="1" i="0" dirty="0">
              <a:solidFill>
                <a:srgbClr val="252C33"/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latin typeface="Calibri Light (Headings)"/>
              </a:rPr>
              <a:t>Recap of Statistical Inference</a:t>
            </a:r>
          </a:p>
          <a:p>
            <a:pPr algn="l"/>
            <a:endParaRPr lang="en-US" sz="29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libri Light (Headings)"/>
              </a:rPr>
              <a:t>Test of Significance and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Null and Alternate Hypothesis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2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 (Headings)"/>
              </a:rPr>
              <a:t>Steps of Hypothesis Testing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sz="2900" b="1" dirty="0">
              <a:solidFill>
                <a:schemeClr val="tx1">
                  <a:lumMod val="50000"/>
                  <a:lumOff val="50000"/>
                </a:schemeClr>
              </a:solidFill>
              <a:latin typeface="Calibri Light (Headings)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F68FD0-4734-F88A-26AE-8BD1D795B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205" y="359228"/>
            <a:ext cx="9935227" cy="718459"/>
          </a:xfrm>
        </p:spPr>
        <p:txBody>
          <a:bodyPr>
            <a:noAutofit/>
          </a:bodyPr>
          <a:lstStyle/>
          <a:p>
            <a:pPr algn="l"/>
            <a:endParaRPr lang="en-PH" sz="4500" b="1" dirty="0"/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0FE95D5E-0829-27E7-2F47-74E6B1430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2664" y="1077687"/>
            <a:ext cx="673335" cy="673335"/>
          </a:xfrm>
          <a:prstGeom prst="rect">
            <a:avLst/>
          </a:prstGeom>
        </p:spPr>
      </p:pic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17AA136F-88B5-E079-24E1-216818098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9216" y="1834087"/>
            <a:ext cx="673335" cy="673335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26BCBDC8-05CD-A125-7210-06E7CF6A6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9331" y="2598612"/>
            <a:ext cx="673335" cy="67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25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Steps of Hypothesis Testing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In the Philippines, the average height of males is </a:t>
            </a:r>
            <a:r>
              <a:rPr lang="en-PH" sz="3000" b="1" dirty="0">
                <a:solidFill>
                  <a:srgbClr val="00B0F0"/>
                </a:solidFill>
              </a:rPr>
              <a:t>5’4’’ or 64.8 inches</a:t>
            </a:r>
            <a:r>
              <a:rPr lang="en-PH" sz="3000" dirty="0"/>
              <a:t> with a </a:t>
            </a:r>
            <a:r>
              <a:rPr lang="en-PH" sz="3000" b="1" dirty="0">
                <a:solidFill>
                  <a:srgbClr val="7030A0"/>
                </a:solidFill>
              </a:rPr>
              <a:t>standard deviation of 2</a:t>
            </a:r>
            <a:r>
              <a:rPr lang="en-PH" sz="3000" dirty="0"/>
              <a:t>. </a:t>
            </a:r>
          </a:p>
          <a:p>
            <a:endParaRPr lang="en-PH" sz="3000" dirty="0"/>
          </a:p>
          <a:p>
            <a:r>
              <a:rPr lang="en-PH" sz="3000" dirty="0"/>
              <a:t>We conducted a study to determine if this is true so we gather a sample of </a:t>
            </a:r>
            <a:r>
              <a:rPr lang="en-PH" sz="3000" b="1" dirty="0">
                <a:solidFill>
                  <a:srgbClr val="FFC000"/>
                </a:solidFill>
              </a:rPr>
              <a:t>100 males </a:t>
            </a:r>
            <a:r>
              <a:rPr lang="en-PH" sz="3000" dirty="0"/>
              <a:t>and determine that their average height is</a:t>
            </a:r>
            <a:r>
              <a:rPr lang="en-PH" sz="3000" b="1" dirty="0">
                <a:solidFill>
                  <a:srgbClr val="00B0F0"/>
                </a:solidFill>
              </a:rPr>
              <a:t> 5’5” or 66 inches.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768944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3500" b="1" dirty="0"/>
              <a:t>Step 1: Specify your Null and Alternate Hypothesis</a:t>
            </a:r>
            <a:endParaRPr lang="en-PH" sz="35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/>
              <p:nvPr/>
            </p:nvSpPr>
            <p:spPr>
              <a:xfrm>
                <a:off x="639918" y="1354768"/>
                <a:ext cx="109121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PH" sz="3000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00B050"/>
                    </a:solidFill>
                  </a:rPr>
                  <a:t> </a:t>
                </a:r>
                <a:r>
                  <a:rPr lang="en-PH" sz="3000" dirty="0"/>
                  <a:t>: The average is height of males is 5’4”</a:t>
                </a:r>
              </a:p>
              <a:p>
                <a:pPr algn="l"/>
                <a:endParaRPr lang="en-PH" sz="3000" dirty="0"/>
              </a:p>
              <a:p>
                <a:r>
                  <a:rPr lang="en-PH" sz="3000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3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: The average is height of males is greater than 5’4”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354768"/>
                <a:ext cx="10912162" cy="1938992"/>
              </a:xfrm>
              <a:prstGeom prst="rect">
                <a:avLst/>
              </a:prstGeom>
              <a:blipFill>
                <a:blip r:embed="rId4"/>
                <a:stretch>
                  <a:fillRect l="-1279" t="-3896" r="-34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020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3500" b="1" dirty="0"/>
              <a:t>Step 2: Gather your data</a:t>
            </a:r>
            <a:endParaRPr lang="en-PH" sz="35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After specifying our null and alternate hypothesis, we must gather data. </a:t>
            </a:r>
          </a:p>
          <a:p>
            <a:pPr algn="l"/>
            <a:endParaRPr lang="en-US" sz="3000" dirty="0"/>
          </a:p>
          <a:p>
            <a:pPr algn="l"/>
            <a:r>
              <a:rPr lang="en-US" sz="3000" dirty="0"/>
              <a:t>In a real world setting, sampling must be done </a:t>
            </a:r>
            <a:r>
              <a:rPr lang="en-US" sz="3000" b="1" dirty="0">
                <a:solidFill>
                  <a:srgbClr val="00B0F0"/>
                </a:solidFill>
              </a:rPr>
              <a:t>randomly</a:t>
            </a:r>
            <a:r>
              <a:rPr lang="en-US" sz="3000" dirty="0"/>
              <a:t>. </a:t>
            </a:r>
          </a:p>
          <a:p>
            <a:pPr algn="l"/>
            <a:endParaRPr lang="en-US" sz="3000" dirty="0"/>
          </a:p>
          <a:p>
            <a:pPr algn="l"/>
            <a:r>
              <a:rPr lang="en-US" sz="3000" dirty="0"/>
              <a:t>This refers to recording the height of 100 males from </a:t>
            </a:r>
            <a:r>
              <a:rPr lang="en-US" sz="3000" b="1" dirty="0">
                <a:solidFill>
                  <a:srgbClr val="00B0F0"/>
                </a:solidFill>
              </a:rPr>
              <a:t>different parts of the country.</a:t>
            </a:r>
            <a:endParaRPr lang="en-PH" sz="3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44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3500" b="1" dirty="0"/>
              <a:t>Step 3: Conduct a statistical test</a:t>
            </a:r>
            <a:endParaRPr lang="en-PH" sz="35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8" y="1354768"/>
            <a:ext cx="109121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/>
              <a:t>To determine whether a discovery or relationship is statistically significant, hypothesis testing uses a </a:t>
            </a:r>
            <a:r>
              <a:rPr lang="en-PH" sz="3000" b="1" dirty="0">
                <a:solidFill>
                  <a:srgbClr val="00B0F0"/>
                </a:solidFill>
              </a:rPr>
              <a:t>t-test</a:t>
            </a:r>
            <a:r>
              <a:rPr lang="en-PH" sz="3000" dirty="0"/>
              <a:t>. </a:t>
            </a:r>
          </a:p>
          <a:p>
            <a:endParaRPr lang="en-PH" sz="3000" dirty="0"/>
          </a:p>
          <a:p>
            <a:r>
              <a:rPr lang="en-PH" sz="3000" dirty="0"/>
              <a:t>It usually checks to see if the two means</a:t>
            </a:r>
            <a:r>
              <a:rPr lang="en-PH" sz="3000" b="1" dirty="0"/>
              <a:t>, </a:t>
            </a:r>
            <a:r>
              <a:rPr lang="en-PH" sz="3000" dirty="0"/>
              <a:t>the</a:t>
            </a:r>
            <a:r>
              <a:rPr lang="en-PH" sz="3000" b="1" dirty="0"/>
              <a:t> </a:t>
            </a:r>
            <a:r>
              <a:rPr lang="en-PH" sz="3000" b="1" dirty="0">
                <a:solidFill>
                  <a:srgbClr val="00B0F0"/>
                </a:solidFill>
              </a:rPr>
              <a:t>population mean </a:t>
            </a:r>
            <a:r>
              <a:rPr lang="en-PH" sz="3000" dirty="0"/>
              <a:t>and the </a:t>
            </a:r>
            <a:r>
              <a:rPr lang="en-PH" sz="3000" b="1" dirty="0">
                <a:solidFill>
                  <a:srgbClr val="00B0F0"/>
                </a:solidFill>
              </a:rPr>
              <a:t>sample mean</a:t>
            </a:r>
            <a:r>
              <a:rPr lang="en-PH" sz="3000" b="1" dirty="0"/>
              <a:t>, </a:t>
            </a:r>
            <a:r>
              <a:rPr lang="en-PH" sz="3000" dirty="0"/>
              <a:t>are the same.</a:t>
            </a:r>
          </a:p>
          <a:p>
            <a:endParaRPr lang="en-PH" sz="3000" dirty="0"/>
          </a:p>
          <a:p>
            <a:r>
              <a:rPr lang="en-PH" sz="3000" b="1" dirty="0"/>
              <a:t>Note: </a:t>
            </a:r>
            <a:r>
              <a:rPr lang="en-PH" sz="3000" dirty="0"/>
              <a:t>Only when the population </a:t>
            </a:r>
            <a:r>
              <a:rPr lang="en-PH" sz="3000" b="1" dirty="0">
                <a:solidFill>
                  <a:srgbClr val="7030A0"/>
                </a:solidFill>
              </a:rPr>
              <a:t>standard deviation is known </a:t>
            </a:r>
            <a:r>
              <a:rPr lang="en-PH" sz="3000" dirty="0"/>
              <a:t>and the </a:t>
            </a:r>
            <a:r>
              <a:rPr lang="en-PH" sz="3000" b="1" dirty="0">
                <a:solidFill>
                  <a:srgbClr val="7030A0"/>
                </a:solidFill>
              </a:rPr>
              <a:t>sample size is 30 data points or more</a:t>
            </a:r>
            <a:r>
              <a:rPr lang="en-PH" sz="3000" dirty="0"/>
              <a:t>, can </a:t>
            </a:r>
            <a:r>
              <a:rPr lang="en-PH" sz="3000"/>
              <a:t>a t-test </a:t>
            </a:r>
            <a:r>
              <a:rPr lang="en-PH" sz="3000" dirty="0"/>
              <a:t>be applied.</a:t>
            </a:r>
          </a:p>
        </p:txBody>
      </p:sp>
    </p:spTree>
    <p:extLst>
      <p:ext uri="{BB962C8B-B14F-4D97-AF65-F5344CB8AC3E}">
        <p14:creationId xmlns:p14="http://schemas.microsoft.com/office/powerpoint/2010/main" val="2785936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3500" b="1" dirty="0"/>
              <a:t>Step 3: Conduct a statistical test</a:t>
            </a:r>
            <a:endParaRPr lang="en-PH" sz="35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/>
              <p:nvPr/>
            </p:nvSpPr>
            <p:spPr>
              <a:xfrm>
                <a:off x="639918" y="1354768"/>
                <a:ext cx="10912162" cy="3959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PH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PH" sz="4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num>
                        <m:den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b="0" dirty="0"/>
              </a:p>
              <a:p>
                <a:endParaRPr lang="en-PH" sz="2000" dirty="0"/>
              </a:p>
              <a:p>
                <a:r>
                  <a:rPr lang="en-PH" sz="2000" b="1" dirty="0"/>
                  <a:t>Where: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2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PH" sz="2000" dirty="0"/>
                  <a:t>is the </a:t>
                </a:r>
                <a:r>
                  <a:rPr lang="en-PH" sz="2000" b="1" dirty="0"/>
                  <a:t>Population mean height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000" dirty="0"/>
                  <a:t>is the </a:t>
                </a:r>
                <a:r>
                  <a:rPr lang="en-PH" sz="2000" b="1" dirty="0"/>
                  <a:t>Population standard deviation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2000" dirty="0"/>
                  <a:t>is the </a:t>
                </a:r>
                <a:r>
                  <a:rPr lang="en-PH" sz="2000" b="1" dirty="0"/>
                  <a:t>sample mean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𝐬</m:t>
                    </m:r>
                  </m:oMath>
                </a14:m>
                <a:r>
                  <a:rPr lang="en-PH" sz="2000" b="1" dirty="0"/>
                  <a:t>ample size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354768"/>
                <a:ext cx="10912162" cy="3959417"/>
              </a:xfrm>
              <a:prstGeom prst="rect">
                <a:avLst/>
              </a:prstGeom>
              <a:blipFill>
                <a:blip r:embed="rId4"/>
                <a:stretch>
                  <a:fillRect l="-581" b="-1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875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3500" b="1" dirty="0"/>
              <a:t>Step 3: Conduct a statistical test</a:t>
            </a:r>
            <a:endParaRPr lang="en-PH" sz="35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/>
              <p:nvPr/>
            </p:nvSpPr>
            <p:spPr>
              <a:xfrm>
                <a:off x="639918" y="1354768"/>
                <a:ext cx="10912162" cy="4690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sz="30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66 inches</a:t>
                </a:r>
              </a:p>
              <a:p>
                <a14:m>
                  <m:oMath xmlns:m="http://schemas.openxmlformats.org/officeDocument/2006/math">
                    <m:r>
                      <a:rPr lang="en-US" sz="3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US" sz="3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2</a:t>
                </a:r>
              </a:p>
              <a:p>
                <a14:m>
                  <m:oMath xmlns:m="http://schemas.openxmlformats.org/officeDocument/2006/math">
                    <m:r>
                      <a:rPr lang="en-US" sz="30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sz="3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64.8 inches </a:t>
                </a:r>
              </a:p>
              <a:p>
                <a14:m>
                  <m:oMath xmlns:m="http://schemas.openxmlformats.org/officeDocument/2006/math"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100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𝟔𝟔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𝟔𝟒</m:t>
                          </m:r>
                          <m:r>
                            <a:rPr lang="en-US" sz="3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𝟏𝟎𝟎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30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000" b="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  <m:r>
                        <a:rPr lang="en-PH" sz="3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3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sz="30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PH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03C0C4-7C82-D208-A8B3-1AE6E909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8" y="1354768"/>
                <a:ext cx="10912162" cy="4690130"/>
              </a:xfrm>
              <a:prstGeom prst="rect">
                <a:avLst/>
              </a:prstGeom>
              <a:blipFill>
                <a:blip r:embed="rId4"/>
                <a:stretch>
                  <a:fillRect l="-349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206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pPr algn="l"/>
            <a:r>
              <a:rPr lang="en-US" sz="3500" b="1" dirty="0"/>
              <a:t>Step 4: </a:t>
            </a:r>
            <a:r>
              <a:rPr lang="en-PH" sz="3500" b="1" i="0" u="none" strike="noStrike" dirty="0">
                <a:solidFill>
                  <a:srgbClr val="272C37"/>
                </a:solidFill>
                <a:effectLst/>
              </a:rPr>
              <a:t>Determine Rejection Of Your Null Hypothesis</a:t>
            </a:r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8F53B-24F1-300B-1CC2-4CFB2B613806}"/>
              </a:ext>
            </a:extLst>
          </p:cNvPr>
          <p:cNvSpPr txBox="1"/>
          <p:nvPr/>
        </p:nvSpPr>
        <p:spPr>
          <a:xfrm>
            <a:off x="429109" y="1271623"/>
            <a:ext cx="1133377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A </a:t>
            </a:r>
            <a:r>
              <a:rPr lang="en-PH" sz="3000" b="1" dirty="0"/>
              <a:t>p-value </a:t>
            </a:r>
            <a:r>
              <a:rPr lang="en-PH" sz="3000" dirty="0"/>
              <a:t>is</a:t>
            </a:r>
            <a:r>
              <a:rPr lang="en-PH" sz="3000" b="1" dirty="0"/>
              <a:t> </a:t>
            </a:r>
            <a:r>
              <a:rPr lang="en-PH" sz="3000" dirty="0"/>
              <a:t>used in hypothesis testing to help you </a:t>
            </a:r>
            <a:r>
              <a:rPr lang="en-PH" sz="3000" b="1" dirty="0">
                <a:solidFill>
                  <a:srgbClr val="00B050"/>
                </a:solidFill>
              </a:rPr>
              <a:t>support</a:t>
            </a:r>
            <a:r>
              <a:rPr lang="en-PH" sz="3000" dirty="0"/>
              <a:t> or </a:t>
            </a:r>
            <a:r>
              <a:rPr lang="en-PH" sz="3000" b="1" dirty="0">
                <a:solidFill>
                  <a:srgbClr val="FF0000"/>
                </a:solidFill>
              </a:rPr>
              <a:t>reject</a:t>
            </a:r>
            <a:r>
              <a:rPr lang="en-PH" sz="3000" dirty="0"/>
              <a:t> the </a:t>
            </a:r>
            <a:r>
              <a:rPr lang="en-PH" sz="3000" b="1" dirty="0">
                <a:solidFill>
                  <a:srgbClr val="00B0F0"/>
                </a:solidFill>
              </a:rPr>
              <a:t>null hypothesis</a:t>
            </a:r>
            <a:r>
              <a:rPr lang="en-PH" sz="3000" dirty="0"/>
              <a:t>. </a:t>
            </a:r>
          </a:p>
          <a:p>
            <a:pPr algn="l"/>
            <a:endParaRPr lang="en-PH" sz="3000" dirty="0"/>
          </a:p>
          <a:p>
            <a:pPr algn="l"/>
            <a:r>
              <a:rPr lang="en-PH" sz="3000" dirty="0"/>
              <a:t>The </a:t>
            </a:r>
            <a:r>
              <a:rPr lang="en-PH" sz="3000" b="1" dirty="0"/>
              <a:t>p-value</a:t>
            </a:r>
            <a:r>
              <a:rPr lang="en-PH" sz="3000" dirty="0"/>
              <a:t> is the evidence against a null hypothesis. </a:t>
            </a:r>
            <a:r>
              <a:rPr lang="en-PH" sz="3000" b="1" dirty="0">
                <a:solidFill>
                  <a:srgbClr val="00B0F0"/>
                </a:solidFill>
              </a:rPr>
              <a:t>The smaller the p-value</a:t>
            </a:r>
            <a:r>
              <a:rPr lang="en-PH" sz="3000" dirty="0"/>
              <a:t>, the stronger the evidence that you should </a:t>
            </a:r>
            <a:r>
              <a:rPr lang="en-PH" sz="3000" b="1" dirty="0">
                <a:solidFill>
                  <a:srgbClr val="FF0000"/>
                </a:solidFill>
              </a:rPr>
              <a:t>reject the null hypothesis</a:t>
            </a:r>
            <a:r>
              <a:rPr lang="en-PH" sz="3000" dirty="0"/>
              <a:t>.</a:t>
            </a:r>
          </a:p>
          <a:p>
            <a:pPr algn="l"/>
            <a:endParaRPr lang="en-PH" sz="3000" dirty="0"/>
          </a:p>
          <a:p>
            <a:pPr algn="l"/>
            <a:r>
              <a:rPr lang="en-PH" sz="3000" dirty="0"/>
              <a:t>p-values are expressed as decimals although it may be easier to understand what they are if you convert them to a percentage. For example, a p value of </a:t>
            </a:r>
            <a:r>
              <a:rPr lang="en-PH" sz="3000" b="1" dirty="0"/>
              <a:t>0.0254</a:t>
            </a:r>
            <a:r>
              <a:rPr lang="en-PH" sz="3000" dirty="0"/>
              <a:t> is </a:t>
            </a:r>
            <a:r>
              <a:rPr lang="en-PH" sz="3000" b="1" dirty="0"/>
              <a:t>2.54%</a:t>
            </a:r>
            <a:r>
              <a:rPr lang="en-PH" sz="3000" dirty="0"/>
              <a:t>.</a:t>
            </a:r>
          </a:p>
          <a:p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3172986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3500" b="1" dirty="0"/>
              <a:t>Step 4: </a:t>
            </a:r>
            <a:r>
              <a:rPr lang="en-PH" sz="3500" b="1" i="0" u="none" strike="noStrike" dirty="0">
                <a:solidFill>
                  <a:srgbClr val="272C37"/>
                </a:solidFill>
                <a:effectLst/>
              </a:rPr>
              <a:t>Determine Rejection Of Your Null Hypothesis</a:t>
            </a:r>
            <a:endParaRPr lang="en-PH" sz="35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7" y="1354768"/>
            <a:ext cx="1133377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A </a:t>
            </a:r>
            <a:r>
              <a:rPr lang="en-PH" sz="3000" b="1" dirty="0"/>
              <a:t>small p (≤ 0.05), </a:t>
            </a:r>
            <a:r>
              <a:rPr lang="en-PH" sz="3000" dirty="0"/>
              <a:t>reject the </a:t>
            </a:r>
            <a:r>
              <a:rPr lang="en-PH" sz="3000" b="1" dirty="0">
                <a:solidFill>
                  <a:srgbClr val="FF0000"/>
                </a:solidFill>
              </a:rPr>
              <a:t>null hypothesis</a:t>
            </a:r>
            <a:r>
              <a:rPr lang="en-PH" sz="3000" dirty="0"/>
              <a:t>. This is strong evidence that the null hypothesis is invalid.</a:t>
            </a:r>
          </a:p>
          <a:p>
            <a:pPr algn="l"/>
            <a:endParaRPr lang="en-PH" sz="3000" dirty="0"/>
          </a:p>
          <a:p>
            <a:pPr algn="l"/>
            <a:r>
              <a:rPr lang="en-PH" sz="3000" dirty="0"/>
              <a:t>A </a:t>
            </a:r>
            <a:r>
              <a:rPr lang="en-PH" sz="3000" b="1" dirty="0"/>
              <a:t>large p (&gt; 0.05) </a:t>
            </a:r>
            <a:r>
              <a:rPr lang="en-PH" sz="3000" dirty="0"/>
              <a:t>means the </a:t>
            </a:r>
            <a:r>
              <a:rPr lang="en-PH" sz="3000" b="1" dirty="0">
                <a:solidFill>
                  <a:srgbClr val="00B050"/>
                </a:solidFill>
              </a:rPr>
              <a:t>alternate hypothesis </a:t>
            </a:r>
            <a:r>
              <a:rPr lang="en-PH" sz="3000" dirty="0"/>
              <a:t>is weak, so you do not reject the null hypothesis.</a:t>
            </a:r>
          </a:p>
        </p:txBody>
      </p:sp>
    </p:spTree>
    <p:extLst>
      <p:ext uri="{BB962C8B-B14F-4D97-AF65-F5344CB8AC3E}">
        <p14:creationId xmlns:p14="http://schemas.microsoft.com/office/powerpoint/2010/main" val="1642260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3500" b="1" dirty="0"/>
              <a:t>Step 4: </a:t>
            </a:r>
            <a:r>
              <a:rPr lang="en-PH" sz="3500" b="1" i="0" u="none" strike="noStrike" dirty="0">
                <a:solidFill>
                  <a:srgbClr val="272C37"/>
                </a:solidFill>
                <a:effectLst/>
              </a:rPr>
              <a:t>Present your Results</a:t>
            </a:r>
            <a:endParaRPr lang="en-PH" sz="35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7" y="1354768"/>
            <a:ext cx="113337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We will reject the </a:t>
            </a:r>
            <a:r>
              <a:rPr lang="en-PH" sz="3000" b="1" dirty="0">
                <a:solidFill>
                  <a:srgbClr val="00B050"/>
                </a:solidFill>
              </a:rPr>
              <a:t>null hypothesis </a:t>
            </a:r>
            <a:r>
              <a:rPr lang="en-PH" sz="3000" dirty="0"/>
              <a:t>as the </a:t>
            </a:r>
            <a:r>
              <a:rPr lang="en-PH" sz="3000" b="1" dirty="0">
                <a:solidFill>
                  <a:srgbClr val="7030A0"/>
                </a:solidFill>
              </a:rPr>
              <a:t>p-value</a:t>
            </a:r>
            <a:r>
              <a:rPr lang="en-PH" sz="3000" dirty="0"/>
              <a:t> of is </a:t>
            </a:r>
            <a:r>
              <a:rPr lang="en-PH" sz="3000" b="1" dirty="0">
                <a:solidFill>
                  <a:srgbClr val="00B0F0"/>
                </a:solidFill>
              </a:rPr>
              <a:t>less than 0.0001 </a:t>
            </a:r>
          </a:p>
          <a:p>
            <a:pPr algn="l"/>
            <a:r>
              <a:rPr lang="en-PH" sz="3000" dirty="0"/>
              <a:t>and conclude that there is evidence to suggest that the average height of men in the Philippines is greater than </a:t>
            </a:r>
            <a:r>
              <a:rPr lang="en-PH" sz="3000" b="1" dirty="0"/>
              <a:t>5'4".</a:t>
            </a:r>
          </a:p>
        </p:txBody>
      </p:sp>
    </p:spTree>
    <p:extLst>
      <p:ext uri="{BB962C8B-B14F-4D97-AF65-F5344CB8AC3E}">
        <p14:creationId xmlns:p14="http://schemas.microsoft.com/office/powerpoint/2010/main" val="543884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5194D96-4E26-6A5A-5AB5-02AFD53E7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386" y="415731"/>
            <a:ext cx="9935227" cy="718459"/>
          </a:xfrm>
        </p:spPr>
        <p:txBody>
          <a:bodyPr>
            <a:noAutofit/>
          </a:bodyPr>
          <a:lstStyle/>
          <a:p>
            <a:r>
              <a:rPr lang="en-US" sz="5000" b="1" dirty="0"/>
              <a:t>Other Examples</a:t>
            </a:r>
            <a:endParaRPr lang="en-PH" sz="5000" b="1" dirty="0"/>
          </a:p>
        </p:txBody>
      </p:sp>
      <p:sp>
        <p:nvSpPr>
          <p:cNvPr id="39" name="Footer Placeholder 3">
            <a:extLst>
              <a:ext uri="{FF2B5EF4-FFF2-40B4-BE49-F238E27FC236}">
                <a16:creationId xmlns:a16="http://schemas.microsoft.com/office/drawing/2014/main" id="{77EF4DA7-E5CF-896F-45E0-B1D58FD5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lvl="1" algn="r"/>
            <a:r>
              <a:rPr lang="en-US" sz="1200" b="1" dirty="0"/>
              <a:t>CCDATS1L</a:t>
            </a:r>
            <a:endParaRPr lang="en-PH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3C0C4-7C82-D208-A8B3-1AE6E9099A3C}"/>
              </a:ext>
            </a:extLst>
          </p:cNvPr>
          <p:cNvSpPr txBox="1"/>
          <p:nvPr/>
        </p:nvSpPr>
        <p:spPr>
          <a:xfrm>
            <a:off x="639917" y="1354768"/>
            <a:ext cx="113337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PH" sz="3000" dirty="0"/>
              <a:t>https://</a:t>
            </a:r>
            <a:r>
              <a:rPr lang="en-PH" sz="3000" dirty="0" err="1"/>
              <a:t>online.stat.psu.edu</a:t>
            </a:r>
            <a:r>
              <a:rPr lang="en-PH" sz="3000" dirty="0"/>
              <a:t>/stat200/lesson/9/9.2/9.2.2/9.2.2.1/9.2.2.1.3</a:t>
            </a:r>
            <a:endParaRPr lang="en-PH" sz="3000" b="1" dirty="0"/>
          </a:p>
        </p:txBody>
      </p:sp>
    </p:spTree>
    <p:extLst>
      <p:ext uri="{BB962C8B-B14F-4D97-AF65-F5344CB8AC3E}">
        <p14:creationId xmlns:p14="http://schemas.microsoft.com/office/powerpoint/2010/main" val="399370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1370AF-26B9-4AFA-BA9D-5D4A7E1A67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3362E2-FA54-4262-AE94-2FA98FF8142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D61E20B-708A-4719-8C02-DA91A478A7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2605</TotalTime>
  <Words>1266</Words>
  <Application>Microsoft Office PowerPoint</Application>
  <PresentationFormat>Widescreen</PresentationFormat>
  <Paragraphs>338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Calibri Light (Headings)</vt:lpstr>
      <vt:lpstr>Cambria Math</vt:lpstr>
      <vt:lpstr>Wingdings</vt:lpstr>
      <vt:lpstr>Office Theme</vt:lpstr>
      <vt:lpstr>Test of Significance</vt:lpstr>
      <vt:lpstr>Outline</vt:lpstr>
      <vt:lpstr>Recap: Statistical Inference</vt:lpstr>
      <vt:lpstr>Recap: Statistical Inference</vt:lpstr>
      <vt:lpstr>PowerPoint Presentation</vt:lpstr>
      <vt:lpstr>Test of Significance</vt:lpstr>
      <vt:lpstr>Hypothesis Testing</vt:lpstr>
      <vt:lpstr>Hypothesis Testing</vt:lpstr>
      <vt:lpstr>How Hypothesis Testing Works?</vt:lpstr>
      <vt:lpstr>PowerPoint Presentation</vt:lpstr>
      <vt:lpstr>Null Hypothesis</vt:lpstr>
      <vt:lpstr>PowerPoint Presentation</vt:lpstr>
      <vt:lpstr>Alternative Hypothesis</vt:lpstr>
      <vt:lpstr>PowerPoint Presentation</vt:lpstr>
      <vt:lpstr>Court Trial Example</vt:lpstr>
      <vt:lpstr>Court Trial Example</vt:lpstr>
      <vt:lpstr>Court Trial Example</vt:lpstr>
      <vt:lpstr>Hand Sanitizer Example</vt:lpstr>
      <vt:lpstr>Test of Significance</vt:lpstr>
      <vt:lpstr>PowerPoint Presentation</vt:lpstr>
      <vt:lpstr>Steps of Hypothesis Testing</vt:lpstr>
      <vt:lpstr>Step 1: Specify your Null and Alternate Hypothesis</vt:lpstr>
      <vt:lpstr>Step 2: Gather your data</vt:lpstr>
      <vt:lpstr>Step 3: Conduct a statistical test</vt:lpstr>
      <vt:lpstr>Step 3: Conduct a statistical test</vt:lpstr>
      <vt:lpstr>Step 3: Conduct a statistical test</vt:lpstr>
      <vt:lpstr>Step 4: Determine Rejection Of Your Null Hypothesis</vt:lpstr>
      <vt:lpstr>Step 4: Determine Rejection Of Your Null Hypothesis</vt:lpstr>
      <vt:lpstr>Step 4: Present your Results</vt:lpstr>
      <vt:lpstr>Other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648</cp:revision>
  <dcterms:created xsi:type="dcterms:W3CDTF">2022-05-11T03:47:05Z</dcterms:created>
  <dcterms:modified xsi:type="dcterms:W3CDTF">2026-01-15T11:06:08Z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</Properties>
</file>