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441" r:id="rId3"/>
    <p:sldId id="443" r:id="rId4"/>
    <p:sldId id="444" r:id="rId5"/>
    <p:sldId id="445" r:id="rId6"/>
    <p:sldId id="458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4" r:id="rId15"/>
    <p:sldId id="453" r:id="rId16"/>
    <p:sldId id="455" r:id="rId17"/>
    <p:sldId id="456" r:id="rId18"/>
    <p:sldId id="4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1"/>
            <p14:sldId id="443"/>
            <p14:sldId id="444"/>
            <p14:sldId id="445"/>
            <p14:sldId id="458"/>
            <p14:sldId id="446"/>
            <p14:sldId id="447"/>
            <p14:sldId id="448"/>
            <p14:sldId id="449"/>
            <p14:sldId id="450"/>
            <p14:sldId id="451"/>
            <p14:sldId id="452"/>
            <p14:sldId id="454"/>
            <p14:sldId id="453"/>
            <p14:sldId id="455"/>
            <p14:sldId id="456"/>
            <p14:sldId id="4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18C"/>
    <a:srgbClr val="FF40FF"/>
    <a:srgbClr val="CBD9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9" autoAdjust="0"/>
    <p:restoredTop sz="91932"/>
  </p:normalViewPr>
  <p:slideViewPr>
    <p:cSldViewPr snapToGrid="0">
      <p:cViewPr>
        <p:scale>
          <a:sx n="136" d="100"/>
          <a:sy n="136" d="100"/>
        </p:scale>
        <p:origin x="72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Chi-squared Test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E8B32D-D13C-D701-5CF1-796DC9E3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ED421C-D127-257D-0162-034D034A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4510686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What is a Chi-squared test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Chi-squared test example</a:t>
            </a:r>
          </a:p>
          <a:p>
            <a:pPr marL="0" indent="0">
              <a:buNone/>
            </a:pPr>
            <a:endParaRPr lang="en-US" sz="3100" b="1" dirty="0"/>
          </a:p>
          <a:p>
            <a:pPr marL="457200" lvl="1" indent="0">
              <a:buNone/>
            </a:pPr>
            <a:endParaRPr lang="en-US" sz="3100" b="1" dirty="0"/>
          </a:p>
          <a:p>
            <a:pPr marL="457200" lvl="1" indent="0">
              <a:buNone/>
            </a:pPr>
            <a:endParaRPr lang="en-US" sz="3100" b="1" dirty="0"/>
          </a:p>
          <a:p>
            <a:pPr lvl="1">
              <a:buFont typeface="Wingdings" pitchFamily="2" charset="2"/>
              <a:buChar char="Ø"/>
            </a:pPr>
            <a:endParaRPr lang="en-US" sz="31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 algn="l">
              <a:buNone/>
            </a:pPr>
            <a:endParaRPr lang="en-US" sz="35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2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6095-9B73-B088-D534-B8F9D89A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94E3-C729-80C4-96B2-146E06F8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Chi-squared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4548-2140-98AF-CB67-E944AA605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63608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The chi-squared</a:t>
            </a:r>
            <a:r>
              <a:rPr lang="en-PH" b="1" dirty="0"/>
              <a:t> </a:t>
            </a:r>
            <a:r>
              <a:rPr lang="en-PH" dirty="0"/>
              <a:t>is a statistical test that is used to determine </a:t>
            </a:r>
            <a:r>
              <a:rPr lang="en-PH" b="1" dirty="0">
                <a:solidFill>
                  <a:srgbClr val="002060"/>
                </a:solidFill>
              </a:rPr>
              <a:t>whether there is a relationship between two categorical variables.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It is applied to sets of categorical data to evaluate </a:t>
            </a:r>
            <a:r>
              <a:rPr lang="en-PH" b="1" dirty="0">
                <a:solidFill>
                  <a:srgbClr val="002060"/>
                </a:solidFill>
              </a:rPr>
              <a:t>how likely it is that any observed difference between the sets arose by chance.</a:t>
            </a:r>
          </a:p>
          <a:p>
            <a:endParaRPr lang="en-PH" dirty="0"/>
          </a:p>
          <a:p>
            <a:endParaRPr lang="en-PH" dirty="0"/>
          </a:p>
          <a:p>
            <a:endParaRPr lang="en-PH" dirty="0"/>
          </a:p>
        </p:txBody>
      </p:sp>
      <p:pic>
        <p:nvPicPr>
          <p:cNvPr id="6" name="Picture 5" descr="A person sitting at a desk&#10;&#10;AI-generated content may be incorrect.">
            <a:extLst>
              <a:ext uri="{FF2B5EF4-FFF2-40B4-BE49-F238E27FC236}">
                <a16:creationId xmlns:a16="http://schemas.microsoft.com/office/drawing/2014/main" id="{D4ED5432-3AF3-A496-16A9-88745F87B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143" y="2286869"/>
            <a:ext cx="378317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6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8C72-3271-3A06-08A6-EA73A893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93D6-4BB8-1B6F-5038-52BB6954B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Presume you observed 100 people to see who deposits garbage in the can and who litters. You want to see if there is a difference based on gender.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person can fall in one of for categories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627838-44B6-689E-9893-4BE287F17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40079"/>
              </p:ext>
            </p:extLst>
          </p:nvPr>
        </p:nvGraphicFramePr>
        <p:xfrm>
          <a:off x="838200" y="4919111"/>
          <a:ext cx="10515600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727463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96124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53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D9E0-38E3-7203-9072-B9E6FC08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1668-2826-4DBE-DAF2-4C7FF9AB4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this data, is there a significant difference in littering behavior between men and women?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527505-2D7C-BDB1-5585-A80DCA1BE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321514"/>
              </p:ext>
            </p:extLst>
          </p:nvPr>
        </p:nvGraphicFramePr>
        <p:xfrm>
          <a:off x="2941320" y="2687320"/>
          <a:ext cx="630936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04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8FF4-7E77-1BE4-944A-AD1F63FF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7521-F1D5-9933-77C3-B49A7794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30A5C-D31C-B021-6C6B-B6D750C145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Null Hypothesis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Males and females litter at the same rate.</a:t>
                </a:r>
              </a:p>
              <a:p>
                <a:pPr marL="0" indent="0">
                  <a:buNone/>
                </a:pPr>
                <a:r>
                  <a:rPr lang="en-US" b="1" dirty="0"/>
                  <a:t>Alternative Hypothesis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Males and females litter at different rates.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30A5C-D31C-B021-6C6B-B6D750C14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264ADC-EA5A-3EC6-9C4A-D93556973C7D}"/>
              </a:ext>
            </a:extLst>
          </p:cNvPr>
          <p:cNvGraphicFramePr>
            <a:graphicFrameLocks noGrp="1"/>
          </p:cNvGraphicFramePr>
          <p:nvPr/>
        </p:nvGraphicFramePr>
        <p:xfrm>
          <a:off x="2941320" y="2687320"/>
          <a:ext cx="630936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04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9E90-5BE6-F658-D784-72DDEB53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723-7A72-53A9-3900-CA837EBD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B75FF-1E3A-2B54-84A4-A29111CBA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answer this question, you have to figure out what numbers you might expect if everything were left to chance.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were true, that there is no difference based on gender.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B75FF-1E3A-2B54-84A4-A29111CBA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96F8CE-EDFD-AE30-E7E2-72924E862021}"/>
              </a:ext>
            </a:extLst>
          </p:cNvPr>
          <p:cNvGraphicFramePr>
            <a:graphicFrameLocks noGrp="1"/>
          </p:cNvGraphicFramePr>
          <p:nvPr/>
        </p:nvGraphicFramePr>
        <p:xfrm>
          <a:off x="2941320" y="2687320"/>
          <a:ext cx="630936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09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5195-0712-89BF-D530-8DBBC7B3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6A7A-E29A-A8B4-8B8A-28B099A2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77A5-5D22-F688-FAAA-282A05342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Since 60 people deposited their garbage and 25% of them were female, you would expect 15 (25% of 60) females to be the value in the upper left cell, if there’s an equal distribution – no effect on gender.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CFE730-6280-BEAC-37DB-CC1DD19BA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044484"/>
              </p:ext>
            </p:extLst>
          </p:nvPr>
        </p:nvGraphicFramePr>
        <p:xfrm>
          <a:off x="2941320" y="2687320"/>
          <a:ext cx="6309360" cy="1752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134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26C4-27FB-C70E-B074-8F984DD5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3604C-2F6B-5E02-4FA7-DB90795C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7D81-FB36-346F-0418-92A30E87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Since 40 people littered and 75% of them were male, you would expect 30 (25% of 60) males to be the value in the lower right cell, if there is no gender effect.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7AE7C5-8404-2D01-B012-E10387203C3F}"/>
              </a:ext>
            </a:extLst>
          </p:cNvPr>
          <p:cNvGraphicFramePr>
            <a:graphicFrameLocks noGrp="1"/>
          </p:cNvGraphicFramePr>
          <p:nvPr/>
        </p:nvGraphicFramePr>
        <p:xfrm>
          <a:off x="2941320" y="2687320"/>
          <a:ext cx="6309360" cy="1752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91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752C-F967-C71E-9A36-AF65E834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5161-F9D1-D22B-298E-5EAEA5B8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6873-2A76-1486-F4DE-03C570736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Since 40 people littered and 75% of them were male, you would expect </a:t>
            </a:r>
            <a:r>
              <a:rPr lang="en-GB" b="1" dirty="0">
                <a:solidFill>
                  <a:srgbClr val="FF0000"/>
                </a:solidFill>
              </a:rPr>
              <a:t>30</a:t>
            </a:r>
            <a:r>
              <a:rPr lang="en-GB" dirty="0"/>
              <a:t> (25% of 60) males to be the value in the lower right cell, if there is no gender effect.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8A40F2-8F78-2263-5209-FD5151D15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2648"/>
              </p:ext>
            </p:extLst>
          </p:nvPr>
        </p:nvGraphicFramePr>
        <p:xfrm>
          <a:off x="2941320" y="2687320"/>
          <a:ext cx="6309360" cy="202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65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4306B-4122-FB56-3225-AA9E6C9F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C002-9300-F1F9-BC78-A9BB5BC3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Littering Behavior Between Genders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EA1F-640E-1749-4AE8-C47300003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Working in a similar method, you can fill in all the expected values.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further the observed values are from the expected values, the more likely that there really is a significant difference.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F86F32-5A87-34B2-4F6D-505F2E6E8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181209"/>
              </p:ext>
            </p:extLst>
          </p:nvPr>
        </p:nvGraphicFramePr>
        <p:xfrm>
          <a:off x="2941320" y="2687320"/>
          <a:ext cx="6309360" cy="202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64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D677-8E5E-2DB8-E412-C9B99E24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8611-EB8E-EDE8-A085-C9ED4756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Chi-squared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D7ECE2-1C04-DC9B-28EA-8FF4D6580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45006" y="2025205"/>
                <a:ext cx="4501988" cy="2261755"/>
              </a:xfrm>
              <a:ln w="38100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sz="4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4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sz="4000" dirty="0"/>
              </a:p>
              <a:p>
                <a:pPr marL="0" indent="0">
                  <a:buNone/>
                </a:pPr>
                <a:endParaRPr lang="en-GB" sz="4000" dirty="0"/>
              </a:p>
              <a:p>
                <a:pPr marL="0" indent="0">
                  <a:buNone/>
                </a:pPr>
                <a:endParaRPr lang="en-US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D7ECE2-1C04-DC9B-28EA-8FF4D6580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5006" y="2025205"/>
                <a:ext cx="4501988" cy="2261755"/>
              </a:xfrm>
              <a:blipFill>
                <a:blip r:embed="rId2"/>
                <a:stretch>
                  <a:fillRect l="-9497" t="-72527" b="-12087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6DADD-8438-964A-762A-7840DF34C43F}"/>
                  </a:ext>
                </a:extLst>
              </p:cNvPr>
              <p:cNvSpPr txBox="1"/>
              <p:nvPr/>
            </p:nvSpPr>
            <p:spPr>
              <a:xfrm>
                <a:off x="838200" y="4554303"/>
                <a:ext cx="656549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3000" b="1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30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3000" dirty="0"/>
                  <a:t> is the observed values of each cell</a:t>
                </a:r>
              </a:p>
              <a:p>
                <a14:m>
                  <m:oMath xmlns:m="http://schemas.openxmlformats.org/officeDocument/2006/math">
                    <m:r>
                      <a:rPr lang="en-GB" sz="3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sz="3000" dirty="0"/>
                  <a:t> is the expected values of each cell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6DADD-8438-964A-762A-7840DF34C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54303"/>
                <a:ext cx="6565490" cy="1477328"/>
              </a:xfrm>
              <a:prstGeom prst="rect">
                <a:avLst/>
              </a:prstGeom>
              <a:blipFill>
                <a:blip r:embed="rId3"/>
                <a:stretch>
                  <a:fillRect l="-2124" t="-5128" b="-1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13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21C2-ABC7-08BD-A170-24B6B317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70C7-A0F7-8752-A14A-5FF18E3A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Chi-squared Test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D22D97-AB24-BF0F-A160-C6C546F71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568625"/>
              </p:ext>
            </p:extLst>
          </p:nvPr>
        </p:nvGraphicFramePr>
        <p:xfrm>
          <a:off x="2941320" y="2151932"/>
          <a:ext cx="6309360" cy="202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3193109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8892873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034669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9104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6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8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4709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5616108-1E17-4F5A-93CE-EE2C35CF66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492" y="4297730"/>
                <a:ext cx="6733172" cy="816677"/>
              </a:xfrm>
              <a:ln w="38100">
                <a:noFill/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GB" sz="2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sz="2100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5616108-1E17-4F5A-93CE-EE2C35CF66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492" y="4297730"/>
                <a:ext cx="6733172" cy="816677"/>
              </a:xfr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FABA11D-79DC-E43C-7CE3-436C882376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0492" y="5090996"/>
                <a:ext cx="3103493" cy="816677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GB" sz="2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sz="2100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FABA11D-79DC-E43C-7CE3-436C88237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92" y="5090996"/>
                <a:ext cx="3103493" cy="8166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90A3077-3DA7-2041-CE8D-D1D4649C40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0492" y="5884263"/>
                <a:ext cx="3173294" cy="355994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.6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GB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.2</m:t>
                      </m:r>
                      <m:r>
                        <a:rPr lang="en-GB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.3</m:t>
                      </m:r>
                    </m:oMath>
                  </m:oMathPara>
                </a14:m>
                <a:endParaRPr lang="en-GB" sz="21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90A3077-3DA7-2041-CE8D-D1D4649C4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92" y="5884263"/>
                <a:ext cx="3173294" cy="355994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BA3EB5E-E99F-75A5-3503-1C4C9937ED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0492" y="6344945"/>
                <a:ext cx="1183951" cy="355994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sz="210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BA3EB5E-E99F-75A5-3503-1C4C9937E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92" y="6344945"/>
                <a:ext cx="1183951" cy="3559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540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0042D-3BC3-D403-DBBC-A8B0862D6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F004-257E-CFD7-6801-A34E8E90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Chi-squared Test: Degree of Freedom and Significance Level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1189895-A742-AB52-0AF5-8F7CAC3A15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1234" y="2419716"/>
                <a:ext cx="1689531" cy="355994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sz="2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1189895-A742-AB52-0AF5-8F7CAC3A1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234" y="2419716"/>
                <a:ext cx="1689531" cy="355994"/>
              </a:xfrm>
              <a:prstGeom prst="rect">
                <a:avLst/>
              </a:prstGeom>
              <a:blipFill>
                <a:blip r:embed="rId2"/>
                <a:stretch>
                  <a:fillRect b="-967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94F3614-0B93-89DA-8F1F-BB0C534A0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99192" y="3265614"/>
                <a:ext cx="7993614" cy="355995"/>
              </a:xfrm>
              <a:ln w="38100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𝑟𝑜𝑤𝑠</m:t>
                          </m:r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𝑐𝑜𝑙𝑢𝑚𝑛𝑠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GB" sz="2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94F3614-0B93-89DA-8F1F-BB0C534A0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9192" y="3265614"/>
                <a:ext cx="7993614" cy="355995"/>
              </a:xfrm>
              <a:blipFill>
                <a:blip r:embed="rId3"/>
                <a:stretch>
                  <a:fillRect t="-3125" b="-4062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11832F2-BBEB-2F53-275C-C38C9A7944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47360" y="3889392"/>
                <a:ext cx="3697277" cy="355995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2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11832F2-BBEB-2F53-275C-C38C9A79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60" y="3889392"/>
                <a:ext cx="3697277" cy="355995"/>
              </a:xfrm>
              <a:prstGeom prst="rect">
                <a:avLst/>
              </a:prstGeom>
              <a:blipFill>
                <a:blip r:embed="rId4"/>
                <a:stretch>
                  <a:fillRect t="-10345" b="-4482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3EC970DB-F2BE-23CC-129D-565A72D0D2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880" y="4513170"/>
                <a:ext cx="1510236" cy="355995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3EC970DB-F2BE-23CC-129D-565A72D0D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880" y="4513170"/>
                <a:ext cx="1510236" cy="355995"/>
              </a:xfrm>
              <a:prstGeom prst="rect">
                <a:avLst/>
              </a:prstGeom>
              <a:blipFill>
                <a:blip r:embed="rId5"/>
                <a:stretch>
                  <a:fillRect b="-3437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E076B9E-05BA-3087-5BB7-01E24BEDCB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2192" y="5181071"/>
                <a:ext cx="4907611" cy="355995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𝑠𝑖𝑔𝑛𝑖𝑓𝑖𝑐𝑎𝑛𝑐𝑒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𝑙𝑒𝑣𝑒𝑙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GB" sz="25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GB" sz="2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E076B9E-05BA-3087-5BB7-01E24BEDC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192" y="5181071"/>
                <a:ext cx="4907611" cy="355995"/>
              </a:xfrm>
              <a:prstGeom prst="rect">
                <a:avLst/>
              </a:prstGeom>
              <a:blipFill>
                <a:blip r:embed="rId6"/>
                <a:stretch>
                  <a:fillRect t="-3125" b="-3750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719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ADC18-B82E-A99D-A904-11A163B7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7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EF4BCB-EE39-694D-BAB1-4F69B93D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BF85C-6D5D-8426-D405-4E6BB168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63" y="0"/>
            <a:ext cx="11127273" cy="1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40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A507CE-E33C-51CA-6809-5DFF53FB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F0421-A9ED-3061-7521-736E79C40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63" y="0"/>
            <a:ext cx="11127273" cy="1440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EA9CB4-045F-8043-C301-FE334CC0875C}"/>
              </a:ext>
            </a:extLst>
          </p:cNvPr>
          <p:cNvSpPr/>
          <p:nvPr/>
        </p:nvSpPr>
        <p:spPr>
          <a:xfrm>
            <a:off x="1639228" y="4962293"/>
            <a:ext cx="6475041" cy="25225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70A5C9-6D25-9BBD-C206-31C65AD98522}"/>
              </a:ext>
            </a:extLst>
          </p:cNvPr>
          <p:cNvSpPr/>
          <p:nvPr/>
        </p:nvSpPr>
        <p:spPr>
          <a:xfrm>
            <a:off x="7249297" y="4530811"/>
            <a:ext cx="864972" cy="6837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04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F4DB-483B-18E0-8037-DBEAFD44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Chi-squared test: Decision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6A2984C-BDDF-AC92-B192-054DEDA845E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996976" y="2413337"/>
                <a:ext cx="10198048" cy="101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US" altLang="en-US" sz="3000" dirty="0"/>
                  <a:t>if </a:t>
                </a:r>
                <a14:m>
                  <m:oMath xmlns:m="http://schemas.openxmlformats.org/officeDocument/2006/math">
                    <m:r>
                      <a:rPr lang="en-US" altLang="en-US" sz="300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altLang="en-US" sz="30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US" altLang="en-US" sz="3000" dirty="0"/>
                  <a:t> is greater than </a:t>
                </a:r>
                <a14:m>
                  <m:oMath xmlns:m="http://schemas.openxmlformats.org/officeDocument/2006/math">
                    <m:r>
                      <a:rPr lang="en-US" altLang="en-US" sz="3000" i="1" dirty="0" smtClean="0">
                        <a:latin typeface="Cambria Math" panose="02040503050406030204" pitchFamily="18" charset="0"/>
                      </a:rPr>
                      <m:t>3.841</m:t>
                    </m:r>
                  </m:oMath>
                </a14:m>
                <a:r>
                  <a:rPr lang="en-US" altLang="en-US" sz="3000" dirty="0"/>
                  <a:t> we reject the null hypothesis H₀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3000" dirty="0"/>
                  <a:t>If </a:t>
                </a:r>
                <a14:m>
                  <m:oMath xmlns:m="http://schemas.openxmlformats.org/officeDocument/2006/math">
                    <m:r>
                      <a:rPr lang="en-US" altLang="en-US" sz="300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altLang="en-US" sz="30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US" altLang="en-US" sz="3000" dirty="0"/>
                  <a:t> is less than </a:t>
                </a:r>
                <a14:m>
                  <m:oMath xmlns:m="http://schemas.openxmlformats.org/officeDocument/2006/math">
                    <m:r>
                      <a:rPr lang="en-US" altLang="en-US" sz="3000" i="1" dirty="0" smtClean="0">
                        <a:latin typeface="Cambria Math" panose="02040503050406030204" pitchFamily="18" charset="0"/>
                      </a:rPr>
                      <m:t>3.841</m:t>
                    </m:r>
                  </m:oMath>
                </a14:m>
                <a:r>
                  <a:rPr lang="en-US" altLang="en-US" sz="3000" dirty="0"/>
                  <a:t>, we fail to reject the null hypothesis H₀</a:t>
                </a: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6A2984C-BDDF-AC92-B192-054DEDA84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96976" y="2413337"/>
                <a:ext cx="10198048" cy="1015663"/>
              </a:xfrm>
              <a:prstGeom prst="rect">
                <a:avLst/>
              </a:prstGeom>
              <a:blipFill>
                <a:blip r:embed="rId2"/>
                <a:stretch>
                  <a:fillRect l="-1368" t="-7407" r="-373" b="-172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56C720D4-AF36-72BA-8ED6-DAD27D0B6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148925"/>
                <a:ext cx="10620775" cy="20159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500" dirty="0"/>
                  <a:t>Since the computed </a:t>
                </a:r>
                <a:r>
                  <a:rPr lang="en-US" altLang="en-US" sz="2500" b="1" dirty="0"/>
                  <a:t>chi-square value </a:t>
                </a:r>
                <a14:m>
                  <m:oMath xmlns:m="http://schemas.openxmlformats.org/officeDocument/2006/math"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500" b="1" dirty="0"/>
                  <a:t> is less than the critical value </a:t>
                </a:r>
                <a14:m>
                  <m:oMath xmlns:m="http://schemas.openxmlformats.org/officeDocument/2006/math"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𝟖𝟒𝟏</m:t>
                    </m:r>
                    <m:r>
                      <a:rPr lang="en-US" altLang="en-US" sz="25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500" b="1" dirty="0"/>
                  <a:t>, </a:t>
                </a:r>
                <a:r>
                  <a:rPr lang="en-US" altLang="en-US" sz="2500" dirty="0"/>
                  <a:t>then we reject the null hypothesis.  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5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500" dirty="0"/>
                  <a:t>There is no statistically significant difference between gender and whether they litter (at </a:t>
                </a:r>
                <a14:m>
                  <m:oMath xmlns:m="http://schemas.openxmlformats.org/officeDocument/2006/math">
                    <m:r>
                      <a:rPr lang="el-GR" altLang="en-US" sz="25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en-US" sz="2500" i="1" dirty="0" smtClean="0">
                        <a:latin typeface="Cambria Math" panose="02040503050406030204" pitchFamily="18" charset="0"/>
                      </a:rPr>
                      <m:t>= 0.05</m:t>
                    </m:r>
                  </m:oMath>
                </a14:m>
                <a:r>
                  <a:rPr lang="el-GR" altLang="en-US" sz="2500" dirty="0"/>
                  <a:t>).</a:t>
                </a:r>
                <a:endParaRPr lang="en-US" altLang="en-US" sz="2500" dirty="0"/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56C720D4-AF36-72BA-8ED6-DAD27D0B6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148925"/>
                <a:ext cx="10620775" cy="2015936"/>
              </a:xfrm>
              <a:prstGeom prst="rect">
                <a:avLst/>
              </a:prstGeom>
              <a:blipFill>
                <a:blip r:embed="rId3"/>
                <a:stretch>
                  <a:fillRect l="-956" t="-1875" b="-68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00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8891</TotalTime>
  <Words>688</Words>
  <Application>Microsoft Macintosh PowerPoint</Application>
  <PresentationFormat>Widescreen</PresentationFormat>
  <Paragraphs>226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 Theme</vt:lpstr>
      <vt:lpstr>Chi-squared Test</vt:lpstr>
      <vt:lpstr>Outline</vt:lpstr>
      <vt:lpstr>What is a Chi-squared test</vt:lpstr>
      <vt:lpstr>Example: Littering Behavior Between Genders</vt:lpstr>
      <vt:lpstr>Example: Littering Behavior Between Genders</vt:lpstr>
      <vt:lpstr>Example: Littering Behavior Between Genders</vt:lpstr>
      <vt:lpstr>Example: Littering Behavior Between Genders</vt:lpstr>
      <vt:lpstr>Example: Littering Behavior Between Genders</vt:lpstr>
      <vt:lpstr>Example: Littering Behavior Between Genders</vt:lpstr>
      <vt:lpstr>Example: Littering Behavior Between Genders</vt:lpstr>
      <vt:lpstr>Example: Littering Behavior Between Genders</vt:lpstr>
      <vt:lpstr>Chi-squared equation</vt:lpstr>
      <vt:lpstr>Chi-squared Test</vt:lpstr>
      <vt:lpstr>Chi-squared Test: Degree of Freedom and Significance Level</vt:lpstr>
      <vt:lpstr>PowerPoint Presentation</vt:lpstr>
      <vt:lpstr>PowerPoint Presentation</vt:lpstr>
      <vt:lpstr>PowerPoint Presentation</vt:lpstr>
      <vt:lpstr>Chi-squared test: Decision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966</cp:revision>
  <dcterms:created xsi:type="dcterms:W3CDTF">2024-08-08T01:29:50Z</dcterms:created>
  <dcterms:modified xsi:type="dcterms:W3CDTF">2026-01-20T08:53:29Z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