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7" r:id="rId2"/>
    <p:sldId id="441" r:id="rId3"/>
    <p:sldId id="442" r:id="rId4"/>
    <p:sldId id="444" r:id="rId5"/>
    <p:sldId id="465" r:id="rId6"/>
    <p:sldId id="453" r:id="rId7"/>
    <p:sldId id="445" r:id="rId8"/>
    <p:sldId id="452" r:id="rId9"/>
    <p:sldId id="446" r:id="rId10"/>
    <p:sldId id="451" r:id="rId11"/>
    <p:sldId id="447" r:id="rId12"/>
    <p:sldId id="450" r:id="rId13"/>
    <p:sldId id="449" r:id="rId14"/>
    <p:sldId id="466" r:id="rId15"/>
    <p:sldId id="467" r:id="rId16"/>
    <p:sldId id="455" r:id="rId17"/>
    <p:sldId id="454" r:id="rId18"/>
    <p:sldId id="463" r:id="rId19"/>
    <p:sldId id="464" r:id="rId20"/>
    <p:sldId id="456" r:id="rId21"/>
    <p:sldId id="461" r:id="rId22"/>
    <p:sldId id="462" r:id="rId23"/>
    <p:sldId id="457" r:id="rId24"/>
    <p:sldId id="459" r:id="rId25"/>
    <p:sldId id="458" r:id="rId26"/>
    <p:sldId id="460" r:id="rId27"/>
    <p:sldId id="468" r:id="rId28"/>
    <p:sldId id="469" r:id="rId29"/>
    <p:sldId id="470" r:id="rId30"/>
    <p:sldId id="472" r:id="rId31"/>
    <p:sldId id="471" r:id="rId32"/>
    <p:sldId id="473" r:id="rId33"/>
    <p:sldId id="44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E72DE6-BB83-154E-81E2-BC0DD659BA3C}">
          <p14:sldIdLst>
            <p14:sldId id="257"/>
            <p14:sldId id="441"/>
            <p14:sldId id="442"/>
            <p14:sldId id="444"/>
            <p14:sldId id="465"/>
            <p14:sldId id="453"/>
            <p14:sldId id="445"/>
            <p14:sldId id="452"/>
            <p14:sldId id="446"/>
            <p14:sldId id="451"/>
            <p14:sldId id="447"/>
            <p14:sldId id="450"/>
            <p14:sldId id="449"/>
            <p14:sldId id="466"/>
            <p14:sldId id="467"/>
            <p14:sldId id="455"/>
            <p14:sldId id="454"/>
            <p14:sldId id="463"/>
            <p14:sldId id="464"/>
            <p14:sldId id="456"/>
            <p14:sldId id="461"/>
            <p14:sldId id="462"/>
            <p14:sldId id="457"/>
            <p14:sldId id="459"/>
            <p14:sldId id="458"/>
            <p14:sldId id="460"/>
            <p14:sldId id="468"/>
            <p14:sldId id="469"/>
            <p14:sldId id="470"/>
            <p14:sldId id="472"/>
            <p14:sldId id="471"/>
            <p14:sldId id="473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19"/>
    <p:restoredTop sz="94635"/>
  </p:normalViewPr>
  <p:slideViewPr>
    <p:cSldViewPr snapToGrid="0">
      <p:cViewPr varScale="1">
        <p:scale>
          <a:sx n="106" d="100"/>
          <a:sy n="106" d="100"/>
        </p:scale>
        <p:origin x="18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2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A214D-05EB-9528-6D27-58E2CB42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56187-B67D-017C-AB27-05D2D797D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411BF-4392-A8DD-2C99-0E90198B7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ECC6A-D919-79EC-6EFD-DF7D9C17D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31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A7C8-99F1-AEAE-0564-82CF9464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8374A-DB16-DBFF-ACDB-05651320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44398-9E51-2B03-3F60-B36AEA01C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CD4A-8D8D-08B9-EEF2-2C7DFD09A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3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Pandas Filter, Sort, Group and Aggregate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4E8B32D-D13C-D701-5CF1-796DC9E3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ED421C-D127-257D-0162-034D034A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Filter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Sort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Group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Aggregate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Method Chaining</a:t>
            </a:r>
            <a:endParaRPr lang="en-US" sz="31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72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4330-7AF7-30BA-7E9C-6960FFD1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F2B25-5073-BFB6-7E8D-21474E2D4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3000" dirty="0"/>
              <a:t>This is the most fundamental way to filter based on column values. </a:t>
            </a:r>
          </a:p>
          <a:p>
            <a:pPr marL="0" indent="0">
              <a:buNone/>
            </a:pPr>
            <a:endParaRPr lang="en-PH" sz="3000" dirty="0"/>
          </a:p>
          <a:p>
            <a:pPr marL="0" indent="0">
              <a:buNone/>
            </a:pPr>
            <a:r>
              <a:rPr lang="en-PH" sz="3000" dirty="0"/>
              <a:t>You create a </a:t>
            </a:r>
            <a:r>
              <a:rPr lang="en-PH" sz="3000" dirty="0" err="1"/>
              <a:t>boolean</a:t>
            </a:r>
            <a:r>
              <a:rPr lang="en-PH" sz="3000" dirty="0"/>
              <a:t> Series (True/False) by applying a condition to a column, then use this Series to select rows where the condition is True.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0335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C33466-A1A4-9236-F6AE-BB95CE32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523B-F935-4EA4-0F3C-198278C0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Indexing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59CA6-0CD4-AA80-3530-3693CF397946}"/>
              </a:ext>
            </a:extLst>
          </p:cNvPr>
          <p:cNvSpPr txBox="1"/>
          <p:nvPr/>
        </p:nvSpPr>
        <p:spPr>
          <a:xfrm>
            <a:off x="850231" y="2157500"/>
            <a:ext cx="10491537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pandas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b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({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'Name'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'Alice'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'Bob'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'Charlie'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'David'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buNone/>
            </a:pP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'Age'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buNone/>
            </a:pP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'City'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'New York'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'London'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'Paris'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'New York'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]})</a:t>
            </a:r>
          </a:p>
          <a:p>
            <a:pPr>
              <a:buNone/>
            </a:pPr>
            <a:b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Filter rows where 'Age' is greater than 30</a:t>
            </a:r>
          </a:p>
          <a:p>
            <a:pPr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'Age'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31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BD07-4F19-A12D-BAE9-3A8D1CA6D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18EB-C85E-9A1D-DEBD-EAA88FD5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Indexing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61AAB-6001-D3A9-FFA9-7C05EF1535CB}"/>
              </a:ext>
            </a:extLst>
          </p:cNvPr>
          <p:cNvSpPr txBox="1"/>
          <p:nvPr/>
        </p:nvSpPr>
        <p:spPr>
          <a:xfrm>
            <a:off x="850231" y="2157500"/>
            <a:ext cx="10491537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dirty="0">
                <a:solidFill>
                  <a:srgbClr val="6A9955"/>
                </a:solidFill>
                <a:latin typeface="Menlo" panose="020B0609030804020204" pitchFamily="49" charset="0"/>
              </a:rPr>
              <a:t># Filter rows where 'Age' is greater than 30</a:t>
            </a:r>
          </a:p>
          <a:p>
            <a:pPr>
              <a:buNone/>
            </a:pPr>
            <a:endParaRPr lang="en-PH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filtered_df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df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[</a:t>
            </a: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df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[</a:t>
            </a:r>
            <a:r>
              <a:rPr lang="en-PH" dirty="0">
                <a:solidFill>
                  <a:srgbClr val="CE9178"/>
                </a:solidFill>
                <a:latin typeface="Menlo" panose="020B0609030804020204" pitchFamily="49" charset="0"/>
              </a:rPr>
              <a:t>'Age'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] </a:t>
            </a:r>
            <a:r>
              <a:rPr lang="en-PH" dirty="0">
                <a:solidFill>
                  <a:srgbClr val="DCDCAA"/>
                </a:solidFill>
                <a:latin typeface="Menlo" panose="020B0609030804020204" pitchFamily="49" charset="0"/>
              </a:rPr>
              <a:t>&gt;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>
                <a:solidFill>
                  <a:srgbClr val="B5CEA8"/>
                </a:solidFill>
                <a:latin typeface="Menlo" panose="020B0609030804020204" pitchFamily="49" charset="0"/>
              </a:rPr>
              <a:t>30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02664-5B2A-E36C-26A9-FBD1E0CCD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45025"/>
              </p:ext>
            </p:extLst>
          </p:nvPr>
        </p:nvGraphicFramePr>
        <p:xfrm>
          <a:off x="826168" y="3485520"/>
          <a:ext cx="4936957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632C58-D659-AA6B-076F-83AA9F069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203713"/>
              </p:ext>
            </p:extLst>
          </p:nvPr>
        </p:nvGraphicFramePr>
        <p:xfrm>
          <a:off x="6095999" y="3485520"/>
          <a:ext cx="4936957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431185-DC42-AE3F-D4EC-62CA2C6A2DAF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3E5B5-A081-E6F8-67A5-4AEA3B0BF508}"/>
              </a:ext>
            </a:extLst>
          </p:cNvPr>
          <p:cNvSpPr txBox="1"/>
          <p:nvPr/>
        </p:nvSpPr>
        <p:spPr>
          <a:xfrm>
            <a:off x="8271531" y="5642811"/>
            <a:ext cx="13063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Filtered</a:t>
            </a:r>
          </a:p>
        </p:txBody>
      </p:sp>
    </p:spTree>
    <p:extLst>
      <p:ext uri="{BB962C8B-B14F-4D97-AF65-F5344CB8AC3E}">
        <p14:creationId xmlns:p14="http://schemas.microsoft.com/office/powerpoint/2010/main" val="39430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A51F4-04AC-507D-784D-9D21AF2A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based filtering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.loc[]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F152B-448F-E224-2D8D-A73B12664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.loc[]</a:t>
            </a:r>
            <a:r>
              <a:rPr lang="en-PH" sz="3000" dirty="0"/>
              <a:t> is used for selecting rows and columns by their labels (names). You can combine multiple conditions using 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&amp; (AND) </a:t>
            </a:r>
            <a:r>
              <a:rPr lang="en-PH" sz="3000" dirty="0"/>
              <a:t>or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 | (OR)</a:t>
            </a:r>
            <a:r>
              <a:rPr lang="en-PH" sz="3000" dirty="0"/>
              <a:t> operators.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2158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D72A-4A61-D6CF-C7F0-2EFCD0CB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5217-79D8-F24E-D21F-514213AA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based filtering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.loc[]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938EE-775E-3B1A-46C2-39E8D1B3667E}"/>
              </a:ext>
            </a:extLst>
          </p:cNvPr>
          <p:cNvSpPr txBox="1"/>
          <p:nvPr/>
        </p:nvSpPr>
        <p:spPr>
          <a:xfrm>
            <a:off x="838200" y="1992115"/>
            <a:ext cx="10515600" cy="8755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Filter rows where 'City' is 'New York' AND 'Age' is less than 30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filtered_df_loc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loc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'City'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'New York'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'Age'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FD0FCE-66D6-88EF-1E42-05B6A80B6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443309"/>
              </p:ext>
            </p:extLst>
          </p:nvPr>
        </p:nvGraphicFramePr>
        <p:xfrm>
          <a:off x="826168" y="3485520"/>
          <a:ext cx="4936957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A639A6-5B98-EC6F-154C-8C36AE1BE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445804"/>
              </p:ext>
            </p:extLst>
          </p:nvPr>
        </p:nvGraphicFramePr>
        <p:xfrm>
          <a:off x="7279685" y="3485520"/>
          <a:ext cx="4074115" cy="701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0675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6AE69-9A5E-CFA1-0787-92296726E059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1D9BC-E62C-4CF1-E4AA-D32410806FD5}"/>
              </a:ext>
            </a:extLst>
          </p:cNvPr>
          <p:cNvSpPr txBox="1"/>
          <p:nvPr/>
        </p:nvSpPr>
        <p:spPr>
          <a:xfrm>
            <a:off x="8271531" y="5642811"/>
            <a:ext cx="13063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Filtered</a:t>
            </a:r>
          </a:p>
        </p:txBody>
      </p:sp>
    </p:spTree>
    <p:extLst>
      <p:ext uri="{BB962C8B-B14F-4D97-AF65-F5344CB8AC3E}">
        <p14:creationId xmlns:p14="http://schemas.microsoft.com/office/powerpoint/2010/main" val="2191230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CFF5-875E-D722-EE8C-0A749319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a list of values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F1F6F-2CB6-6481-72C1-9AE9BD1E9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3500" dirty="0"/>
              <a:t>Use </a:t>
            </a:r>
            <a:r>
              <a:rPr lang="en-PH" sz="3500" dirty="0" err="1">
                <a:latin typeface="Consolas" panose="020B0609020204030204" pitchFamily="49" charset="0"/>
                <a:cs typeface="Consolas" panose="020B0609020204030204" pitchFamily="49" charset="0"/>
              </a:rPr>
              <a:t>isin</a:t>
            </a:r>
            <a:r>
              <a:rPr lang="en-PH" sz="35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3500" dirty="0"/>
              <a:t> to filter rows where a column's value is present in a given list.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47797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5454-5EBE-2CC6-D7E7-CD0DE050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32A5-A98F-A5A6-3F80-11AE0CE8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a list of values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AB9FD-E8D1-5D25-C72B-B4AD0141AC76}"/>
              </a:ext>
            </a:extLst>
          </p:cNvPr>
          <p:cNvSpPr txBox="1"/>
          <p:nvPr/>
        </p:nvSpPr>
        <p:spPr>
          <a:xfrm>
            <a:off x="838200" y="2019801"/>
            <a:ext cx="10515600" cy="12910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dirty="0">
                <a:solidFill>
                  <a:srgbClr val="6A9955"/>
                </a:solidFill>
                <a:latin typeface="Menlo" panose="020B0609030804020204" pitchFamily="49" charset="0"/>
              </a:rPr>
              <a:t># </a:t>
            </a: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Filter rows where 'City' is either 'New York' or 'London'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filtered_df_isin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'City'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isin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'New York'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'London'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])]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filtered_df_isin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23482A-3E9D-1EFB-289D-AEA307D36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830004"/>
              </p:ext>
            </p:extLst>
          </p:nvPr>
        </p:nvGraphicFramePr>
        <p:xfrm>
          <a:off x="826168" y="3485520"/>
          <a:ext cx="4936957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3B0139-69F5-235F-9D06-8FF6BDE9B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720635"/>
              </p:ext>
            </p:extLst>
          </p:nvPr>
        </p:nvGraphicFramePr>
        <p:xfrm>
          <a:off x="6095999" y="3485520"/>
          <a:ext cx="4936957" cy="1402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4B25AB6-D0FE-AE26-6E4C-7F3DE4432808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9DD3B-E357-87F5-B088-5F212D127877}"/>
              </a:ext>
            </a:extLst>
          </p:cNvPr>
          <p:cNvSpPr txBox="1"/>
          <p:nvPr/>
        </p:nvSpPr>
        <p:spPr>
          <a:xfrm>
            <a:off x="8271531" y="5642811"/>
            <a:ext cx="13063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Filtered</a:t>
            </a:r>
          </a:p>
        </p:txBody>
      </p:sp>
    </p:spTree>
    <p:extLst>
      <p:ext uri="{BB962C8B-B14F-4D97-AF65-F5344CB8AC3E}">
        <p14:creationId xmlns:p14="http://schemas.microsoft.com/office/powerpoint/2010/main" val="358261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185D-BC92-08D1-8E9F-2D8F12E7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.query()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B3C4C-053D-3EA6-A945-ACFA23BA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.query()</a:t>
            </a:r>
            <a:r>
              <a:rPr lang="en-PH" dirty="0"/>
              <a:t> allows you to express filtering conditions using a string-based syntax, similar to SQL WHERE clauses.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68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E344-B87B-CC39-48DB-A3A896CC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44D42-E023-459B-1467-7F4CECE69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.query()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9B0BF-FC9F-2019-8928-C0326F1A9345}"/>
              </a:ext>
            </a:extLst>
          </p:cNvPr>
          <p:cNvSpPr txBox="1"/>
          <p:nvPr/>
        </p:nvSpPr>
        <p:spPr>
          <a:xfrm>
            <a:off x="838200" y="2081421"/>
            <a:ext cx="10515600" cy="12910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Filter rows where 'Age' is between 30 and 40 (inclusive)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filtered_df_query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query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'30 &lt;= Age &lt;= 40'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filtered_df_query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CCCD8A-7B47-6E15-27C8-7CE190D44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4887"/>
              </p:ext>
            </p:extLst>
          </p:nvPr>
        </p:nvGraphicFramePr>
        <p:xfrm>
          <a:off x="826168" y="3485520"/>
          <a:ext cx="4936957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9086BA6-4E19-DF35-00D0-7C02F1D48CF2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12DB06-5D06-177D-C6B4-6552A4006E99}"/>
              </a:ext>
            </a:extLst>
          </p:cNvPr>
          <p:cNvSpPr txBox="1"/>
          <p:nvPr/>
        </p:nvSpPr>
        <p:spPr>
          <a:xfrm>
            <a:off x="8271531" y="5642811"/>
            <a:ext cx="13063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Filtered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411BA01-AA4D-ADC8-5BA3-19BDBF1C3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64303"/>
              </p:ext>
            </p:extLst>
          </p:nvPr>
        </p:nvGraphicFramePr>
        <p:xfrm>
          <a:off x="6095999" y="3485520"/>
          <a:ext cx="4936957" cy="1402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10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E696-84F1-B3B9-03F8-BF1BAB8C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dirty="0"/>
              <a:t>Filtering columns by label using </a:t>
            </a:r>
            <a:r>
              <a:rPr lang="en-US" sz="4300" dirty="0">
                <a:latin typeface="Consolas" panose="020B0609020204030204" pitchFamily="49" charset="0"/>
                <a:cs typeface="Consolas" panose="020B0609020204030204" pitchFamily="49" charset="0"/>
              </a:rPr>
              <a:t>.filter()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88A71-DB42-90C9-60A1-27E85B15E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The 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filter() </a:t>
            </a:r>
            <a:r>
              <a:rPr lang="en-PH" dirty="0"/>
              <a:t>method is specifically designed for selecting columns based on their labels, using exact matches (items), partial string matches (like), or regular expressions (regex).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1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4A3625-42BE-63D8-90B7-50EE42084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84A5-8B44-C53C-5B86-815388705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columns by label </a:t>
            </a:r>
            <a:r>
              <a:rPr lang="en-US" dirty="0" err="1"/>
              <a:t>using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.filter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3E3C1-B4FA-F03E-BFF9-FF5A423F6582}"/>
              </a:ext>
            </a:extLst>
          </p:cNvPr>
          <p:cNvSpPr txBox="1"/>
          <p:nvPr/>
        </p:nvSpPr>
        <p:spPr>
          <a:xfrm>
            <a:off x="838200" y="2149141"/>
            <a:ext cx="10515600" cy="419954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6A995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Select columns 'Name' and 'City'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filtered_columns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items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'Name'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'City'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filtered_columns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b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Select columns containing 'a' in their name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filtered_like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axis=1 specifies columns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filtered_like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451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8733-6ECA-9935-9FDB-56FE852F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DFF1-044C-BFDD-3981-A42AEFC4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columns by label </a:t>
            </a:r>
            <a:r>
              <a:rPr lang="en-US" dirty="0" err="1"/>
              <a:t>using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.filter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C3646-896F-1AA0-1027-9041DF0A5C31}"/>
              </a:ext>
            </a:extLst>
          </p:cNvPr>
          <p:cNvSpPr txBox="1"/>
          <p:nvPr/>
        </p:nvSpPr>
        <p:spPr>
          <a:xfrm>
            <a:off x="838200" y="1992115"/>
            <a:ext cx="10515600" cy="12910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Select columns 'Name' and 'City'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filtered_columns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items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'Name'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'City'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filtered_columns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888335-F584-F7C6-C895-0FF21030A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391555"/>
              </p:ext>
            </p:extLst>
          </p:nvPr>
        </p:nvGraphicFramePr>
        <p:xfrm>
          <a:off x="826168" y="3485520"/>
          <a:ext cx="4936957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CD1283-4FC3-EFDF-3697-1964A331D7E0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7404D-0535-9A38-799B-4A0DB97CA878}"/>
              </a:ext>
            </a:extLst>
          </p:cNvPr>
          <p:cNvSpPr txBox="1"/>
          <p:nvPr/>
        </p:nvSpPr>
        <p:spPr>
          <a:xfrm>
            <a:off x="8271531" y="5642811"/>
            <a:ext cx="13063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Filtered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802EA6-DD1B-5ADE-2735-35E4C6846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988189"/>
              </p:ext>
            </p:extLst>
          </p:nvPr>
        </p:nvGraphicFramePr>
        <p:xfrm>
          <a:off x="7047971" y="3485520"/>
          <a:ext cx="3753440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478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1330-B2EF-0BAB-F153-0E0CC654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7F7C-7F82-BD88-FF65-65FB86C6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columns by label </a:t>
            </a:r>
            <a:r>
              <a:rPr lang="en-US" dirty="0" err="1"/>
              <a:t>using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.filter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06654-0AE2-81A3-A882-36067ABF6F47}"/>
              </a:ext>
            </a:extLst>
          </p:cNvPr>
          <p:cNvSpPr txBox="1"/>
          <p:nvPr/>
        </p:nvSpPr>
        <p:spPr>
          <a:xfrm>
            <a:off x="838200" y="1992115"/>
            <a:ext cx="10515600" cy="12910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dirty="0">
                <a:solidFill>
                  <a:srgbClr val="6A9955"/>
                </a:solidFill>
                <a:latin typeface="Menlo" panose="020B0609030804020204" pitchFamily="49" charset="0"/>
              </a:rPr>
              <a:t># Select columns containing 'a' in their name</a:t>
            </a:r>
            <a:endParaRPr lang="en-PH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filtered_like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df</a:t>
            </a:r>
            <a:r>
              <a:rPr lang="en-PH" dirty="0" err="1">
                <a:solidFill>
                  <a:srgbClr val="CCCCCC"/>
                </a:solidFill>
                <a:latin typeface="Menlo" panose="020B0609030804020204" pitchFamily="49" charset="0"/>
              </a:rPr>
              <a:t>.</a:t>
            </a:r>
            <a:r>
              <a:rPr lang="en-PH" dirty="0" err="1">
                <a:solidFill>
                  <a:srgbClr val="DCDCAA"/>
                </a:solidFill>
                <a:latin typeface="Menlo" panose="020B0609030804020204" pitchFamily="49" charset="0"/>
              </a:rPr>
              <a:t>filter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(</a:t>
            </a:r>
            <a:r>
              <a:rPr lang="en-PH" dirty="0">
                <a:solidFill>
                  <a:srgbClr val="9CDCFE"/>
                </a:solidFill>
                <a:latin typeface="Menlo" panose="020B0609030804020204" pitchFamily="49" charset="0"/>
              </a:rPr>
              <a:t>like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CE9178"/>
                </a:solidFill>
                <a:latin typeface="Menlo" panose="020B0609030804020204" pitchFamily="49" charset="0"/>
              </a:rPr>
              <a:t>'a'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, </a:t>
            </a:r>
            <a:r>
              <a:rPr lang="en-PH" dirty="0">
                <a:solidFill>
                  <a:srgbClr val="9CDCFE"/>
                </a:solidFill>
                <a:latin typeface="Menlo" panose="020B0609030804020204" pitchFamily="49" charset="0"/>
              </a:rPr>
              <a:t>axis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) </a:t>
            </a:r>
            <a:r>
              <a:rPr lang="en-PH" dirty="0">
                <a:solidFill>
                  <a:srgbClr val="6A9955"/>
                </a:solidFill>
                <a:latin typeface="Menlo" panose="020B0609030804020204" pitchFamily="49" charset="0"/>
              </a:rPr>
              <a:t># axis=1 specifies columns</a:t>
            </a:r>
            <a:endParaRPr lang="en-PH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dirty="0">
                <a:solidFill>
                  <a:srgbClr val="DCDCAA"/>
                </a:solidFill>
                <a:latin typeface="Menlo" panose="020B0609030804020204" pitchFamily="49" charset="0"/>
              </a:rPr>
              <a:t>print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(</a:t>
            </a: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filtered_like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04081E-6621-BE87-FCB4-8257102490FF}"/>
              </a:ext>
            </a:extLst>
          </p:cNvPr>
          <p:cNvGraphicFramePr>
            <a:graphicFrameLocks noGrp="1"/>
          </p:cNvGraphicFramePr>
          <p:nvPr/>
        </p:nvGraphicFramePr>
        <p:xfrm>
          <a:off x="826168" y="3485520"/>
          <a:ext cx="4936957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3797177173"/>
                    </a:ext>
                  </a:extLst>
                </a:gridCol>
                <a:gridCol w="1386406">
                  <a:extLst>
                    <a:ext uri="{9D8B030D-6E8A-4147-A177-3AD203B41FA5}">
                      <a16:colId xmlns:a16="http://schemas.microsoft.com/office/drawing/2014/main" val="90594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City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London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Paris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New York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344117-68D5-E346-FF55-CDAFF2863E51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D4036-F880-423D-5888-FDFB48832137}"/>
              </a:ext>
            </a:extLst>
          </p:cNvPr>
          <p:cNvSpPr txBox="1"/>
          <p:nvPr/>
        </p:nvSpPr>
        <p:spPr>
          <a:xfrm>
            <a:off x="8271531" y="5642811"/>
            <a:ext cx="13063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Filtered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A38038-8195-3D64-28EB-AFEC693B1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76361"/>
              </p:ext>
            </p:extLst>
          </p:nvPr>
        </p:nvGraphicFramePr>
        <p:xfrm>
          <a:off x="7741174" y="3485520"/>
          <a:ext cx="2367034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3517">
                  <a:extLst>
                    <a:ext uri="{9D8B030D-6E8A-4147-A177-3AD203B41FA5}">
                      <a16:colId xmlns:a16="http://schemas.microsoft.com/office/drawing/2014/main" val="3874216673"/>
                    </a:ext>
                  </a:extLst>
                </a:gridCol>
                <a:gridCol w="1183517">
                  <a:extLst>
                    <a:ext uri="{9D8B030D-6E8A-4147-A177-3AD203B41FA5}">
                      <a16:colId xmlns:a16="http://schemas.microsoft.com/office/drawing/2014/main" val="2125863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>
                          <a:effectLst/>
                        </a:rPr>
                        <a:t>Name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19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Alice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27994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Bob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2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Charlie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2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David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1488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73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89D0-C4AF-05C9-F114-D3A7580D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A7E201C-B9FC-322A-F81F-5D3292547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2EA44C-20F5-BF44-C208-A205FAE8B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Filter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Sort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Group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Aggregate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Method Chaining</a:t>
            </a:r>
            <a:endParaRPr lang="en-US" sz="31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725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1EC86-C848-380D-C86B-F1FF1DA9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sort_values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9FC15-B041-C9F5-E2E7-630661AA8BB5}"/>
              </a:ext>
            </a:extLst>
          </p:cNvPr>
          <p:cNvSpPr txBox="1"/>
          <p:nvPr/>
        </p:nvSpPr>
        <p:spPr>
          <a:xfrm>
            <a:off x="838200" y="2002028"/>
            <a:ext cx="10515600" cy="419954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pandas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'B'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Sort by 'col1' in ascending order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sorted_df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sort_values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'col1’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Sort by 'col2' in descending order, modifying in place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sort_values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ascending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inplace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242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06AC-942B-5822-C11A-717E5A64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1915-216A-2EB8-1A6D-39C236C3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sort_values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686E4-BED9-4C62-3A2C-8CC26690106C}"/>
              </a:ext>
            </a:extLst>
          </p:cNvPr>
          <p:cNvSpPr txBox="1"/>
          <p:nvPr/>
        </p:nvSpPr>
        <p:spPr>
          <a:xfrm>
            <a:off x="838200" y="2151932"/>
            <a:ext cx="10515600" cy="8755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dirty="0">
                <a:solidFill>
                  <a:srgbClr val="6A9955"/>
                </a:solidFill>
                <a:latin typeface="Menlo" panose="020B0609030804020204" pitchFamily="49" charset="0"/>
              </a:rPr>
              <a:t># Sort by 'col1' in ascending order</a:t>
            </a:r>
            <a:endParaRPr lang="en-PH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sorted_df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df</a:t>
            </a:r>
            <a:r>
              <a:rPr lang="en-PH" dirty="0" err="1">
                <a:solidFill>
                  <a:srgbClr val="CCCCCC"/>
                </a:solidFill>
                <a:latin typeface="Menlo" panose="020B0609030804020204" pitchFamily="49" charset="0"/>
              </a:rPr>
              <a:t>.</a:t>
            </a:r>
            <a:r>
              <a:rPr lang="en-PH" dirty="0" err="1">
                <a:solidFill>
                  <a:srgbClr val="DCDCAA"/>
                </a:solidFill>
                <a:latin typeface="Menlo" panose="020B0609030804020204" pitchFamily="49" charset="0"/>
              </a:rPr>
              <a:t>sort_values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(</a:t>
            </a:r>
            <a:r>
              <a:rPr lang="en-PH" dirty="0">
                <a:solidFill>
                  <a:srgbClr val="9CDCFE"/>
                </a:solidFill>
                <a:latin typeface="Menlo" panose="020B0609030804020204" pitchFamily="49" charset="0"/>
              </a:rPr>
              <a:t>by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CE9178"/>
                </a:solidFill>
                <a:latin typeface="Menlo" panose="020B0609030804020204" pitchFamily="49" charset="0"/>
              </a:rPr>
              <a:t>'col1’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AD4C14-180D-9FA2-2700-0C211B94D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72063"/>
              </p:ext>
            </p:extLst>
          </p:nvPr>
        </p:nvGraphicFramePr>
        <p:xfrm>
          <a:off x="6196263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B587B1-837E-0A40-95D2-E2B05BAE5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60363"/>
              </p:ext>
            </p:extLst>
          </p:nvPr>
        </p:nvGraphicFramePr>
        <p:xfrm>
          <a:off x="838200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0B0BC2D-6FCA-FC4A-8BE6-A4849A8A7229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C118F-CA65-E750-7204-77608A16E860}"/>
              </a:ext>
            </a:extLst>
          </p:cNvPr>
          <p:cNvSpPr txBox="1"/>
          <p:nvPr/>
        </p:nvSpPr>
        <p:spPr>
          <a:xfrm>
            <a:off x="8271531" y="5642811"/>
            <a:ext cx="11577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Sorted</a:t>
            </a:r>
          </a:p>
        </p:txBody>
      </p:sp>
    </p:spTree>
    <p:extLst>
      <p:ext uri="{BB962C8B-B14F-4D97-AF65-F5344CB8AC3E}">
        <p14:creationId xmlns:p14="http://schemas.microsoft.com/office/powerpoint/2010/main" val="4093003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1827-9CE1-ECB9-37B8-33F9FCE9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7267-A6CF-DA68-0A95-B247B39B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sort_values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2FCC2-A707-3AAD-F5AA-5755DB0D778B}"/>
              </a:ext>
            </a:extLst>
          </p:cNvPr>
          <p:cNvSpPr txBox="1"/>
          <p:nvPr/>
        </p:nvSpPr>
        <p:spPr>
          <a:xfrm>
            <a:off x="838200" y="2151932"/>
            <a:ext cx="10515600" cy="8755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dirty="0">
                <a:solidFill>
                  <a:srgbClr val="6A9955"/>
                </a:solidFill>
                <a:latin typeface="Menlo" panose="020B0609030804020204" pitchFamily="49" charset="0"/>
              </a:rPr>
              <a:t># Sort by 'col2' in descending order, modifying in place</a:t>
            </a:r>
            <a:endParaRPr lang="en-PH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df</a:t>
            </a:r>
            <a:r>
              <a:rPr lang="en-PH" dirty="0" err="1">
                <a:solidFill>
                  <a:srgbClr val="CCCCCC"/>
                </a:solidFill>
                <a:latin typeface="Menlo" panose="020B0609030804020204" pitchFamily="49" charset="0"/>
              </a:rPr>
              <a:t>.</a:t>
            </a:r>
            <a:r>
              <a:rPr lang="en-PH" dirty="0" err="1">
                <a:solidFill>
                  <a:srgbClr val="DCDCAA"/>
                </a:solidFill>
                <a:latin typeface="Menlo" panose="020B0609030804020204" pitchFamily="49" charset="0"/>
              </a:rPr>
              <a:t>sort_values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(</a:t>
            </a:r>
            <a:r>
              <a:rPr lang="en-PH" dirty="0">
                <a:solidFill>
                  <a:srgbClr val="9CDCFE"/>
                </a:solidFill>
                <a:latin typeface="Menlo" panose="020B0609030804020204" pitchFamily="49" charset="0"/>
              </a:rPr>
              <a:t>by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CE9178"/>
                </a:solidFill>
                <a:latin typeface="Menlo" panose="020B0609030804020204" pitchFamily="49" charset="0"/>
              </a:rPr>
              <a:t>'col2'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, </a:t>
            </a:r>
            <a:r>
              <a:rPr lang="en-PH" dirty="0">
                <a:solidFill>
                  <a:srgbClr val="9CDCFE"/>
                </a:solidFill>
                <a:latin typeface="Menlo" panose="020B0609030804020204" pitchFamily="49" charset="0"/>
              </a:rPr>
              <a:t>ascending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569CD6"/>
                </a:solidFill>
                <a:latin typeface="Menlo" panose="020B0609030804020204" pitchFamily="49" charset="0"/>
              </a:rPr>
              <a:t>False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, </a:t>
            </a: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inplace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569CD6"/>
                </a:solidFill>
                <a:latin typeface="Menlo" panose="020B0609030804020204" pitchFamily="49" charset="0"/>
              </a:rPr>
              <a:t>True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36CCCC-E15C-3DE2-46D5-99C7434D2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01301"/>
              </p:ext>
            </p:extLst>
          </p:nvPr>
        </p:nvGraphicFramePr>
        <p:xfrm>
          <a:off x="6196263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453BCD-07E7-F4AD-632D-7927E5E713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02D1FD-9BBF-19DA-FCE3-04998999EAD5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B9F507-40F3-8973-8D09-4D4D34B34866}"/>
              </a:ext>
            </a:extLst>
          </p:cNvPr>
          <p:cNvSpPr txBox="1"/>
          <p:nvPr/>
        </p:nvSpPr>
        <p:spPr>
          <a:xfrm>
            <a:off x="8271531" y="5642811"/>
            <a:ext cx="11577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Sorted</a:t>
            </a:r>
          </a:p>
        </p:txBody>
      </p:sp>
    </p:spTree>
    <p:extLst>
      <p:ext uri="{BB962C8B-B14F-4D97-AF65-F5344CB8AC3E}">
        <p14:creationId xmlns:p14="http://schemas.microsoft.com/office/powerpoint/2010/main" val="2043726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78F0-9225-FF9C-1316-6A9492C2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A0E7-2642-F21C-95B1-A801F2A2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sort_index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C43A2-0771-E291-382C-889F5131CABB}"/>
              </a:ext>
            </a:extLst>
          </p:cNvPr>
          <p:cNvSpPr txBox="1"/>
          <p:nvPr/>
        </p:nvSpPr>
        <p:spPr>
          <a:xfrm>
            <a:off x="838200" y="2151932"/>
            <a:ext cx="10515600" cy="419954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pandas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'B'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PH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idx_C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PH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idx_A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PH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idx_B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Sort by row index in ascending order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sorted_df_index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sort_index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Sort by column index in descending order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sorted_df_columns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sort_index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ascending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0501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9B1A0-A6EF-EC13-C5AE-DC473993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D531-843E-3888-2AD1-ACE0B4BA3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sort_index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21E4B-3683-B2E4-9EBC-504927F20142}"/>
              </a:ext>
            </a:extLst>
          </p:cNvPr>
          <p:cNvSpPr txBox="1"/>
          <p:nvPr/>
        </p:nvSpPr>
        <p:spPr>
          <a:xfrm>
            <a:off x="838200" y="2151932"/>
            <a:ext cx="10515600" cy="8755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Sort by row index in ascending order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sorted_df_index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sort_index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99D8D2-2797-35D5-0EDA-7B4FB589D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78802"/>
              </p:ext>
            </p:extLst>
          </p:nvPr>
        </p:nvGraphicFramePr>
        <p:xfrm>
          <a:off x="6196263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idx_A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idx_B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idx_C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1D105A-1952-3A7D-FBA5-207B35433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259975"/>
              </p:ext>
            </p:extLst>
          </p:nvPr>
        </p:nvGraphicFramePr>
        <p:xfrm>
          <a:off x="838200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 err="1">
                          <a:effectLst/>
                        </a:rPr>
                        <a:t>idx_C</a:t>
                      </a:r>
                      <a:endParaRPr lang="en-PH" sz="1800" b="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 err="1">
                          <a:effectLst/>
                        </a:rPr>
                        <a:t>idx_A</a:t>
                      </a:r>
                      <a:endParaRPr lang="en-PH" sz="1800" b="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 err="1">
                          <a:effectLst/>
                        </a:rPr>
                        <a:t>idx_B</a:t>
                      </a:r>
                      <a:endParaRPr lang="en-PH" sz="1800" b="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0A1866-CAE3-F568-67A4-1B3E41800B4E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F2425-EC2C-B305-B9FB-93C6510D3592}"/>
              </a:ext>
            </a:extLst>
          </p:cNvPr>
          <p:cNvSpPr txBox="1"/>
          <p:nvPr/>
        </p:nvSpPr>
        <p:spPr>
          <a:xfrm>
            <a:off x="8271531" y="5642811"/>
            <a:ext cx="11577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Sorted</a:t>
            </a:r>
          </a:p>
        </p:txBody>
      </p:sp>
    </p:spTree>
    <p:extLst>
      <p:ext uri="{BB962C8B-B14F-4D97-AF65-F5344CB8AC3E}">
        <p14:creationId xmlns:p14="http://schemas.microsoft.com/office/powerpoint/2010/main" val="893347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F4BA-8DB0-32D2-C826-F3890965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4340-785D-C05E-C2FB-CB3233F2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sort_index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C7ECC-F301-7DA1-232B-485A8DEB011E}"/>
              </a:ext>
            </a:extLst>
          </p:cNvPr>
          <p:cNvSpPr txBox="1"/>
          <p:nvPr/>
        </p:nvSpPr>
        <p:spPr>
          <a:xfrm>
            <a:off x="838200" y="2151932"/>
            <a:ext cx="10515600" cy="8755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dirty="0">
                <a:solidFill>
                  <a:srgbClr val="6A9955"/>
                </a:solidFill>
                <a:latin typeface="Menlo" panose="020B0609030804020204" pitchFamily="49" charset="0"/>
              </a:rPr>
              <a:t># Sort by column index in descending order</a:t>
            </a:r>
            <a:endParaRPr lang="en-PH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sorted_df_columns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PH" dirty="0" err="1">
                <a:solidFill>
                  <a:srgbClr val="9CDCFE"/>
                </a:solidFill>
                <a:latin typeface="Menlo" panose="020B0609030804020204" pitchFamily="49" charset="0"/>
              </a:rPr>
              <a:t>df</a:t>
            </a:r>
            <a:r>
              <a:rPr lang="en-PH" dirty="0" err="1">
                <a:solidFill>
                  <a:srgbClr val="CCCCCC"/>
                </a:solidFill>
                <a:latin typeface="Menlo" panose="020B0609030804020204" pitchFamily="49" charset="0"/>
              </a:rPr>
              <a:t>.</a:t>
            </a:r>
            <a:r>
              <a:rPr lang="en-PH" dirty="0" err="1">
                <a:solidFill>
                  <a:srgbClr val="DCDCAA"/>
                </a:solidFill>
                <a:latin typeface="Menlo" panose="020B0609030804020204" pitchFamily="49" charset="0"/>
              </a:rPr>
              <a:t>sort_index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(</a:t>
            </a:r>
            <a:r>
              <a:rPr lang="en-PH" dirty="0">
                <a:solidFill>
                  <a:srgbClr val="9CDCFE"/>
                </a:solidFill>
                <a:latin typeface="Menlo" panose="020B0609030804020204" pitchFamily="49" charset="0"/>
              </a:rPr>
              <a:t>axis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, </a:t>
            </a:r>
            <a:r>
              <a:rPr lang="en-PH" dirty="0">
                <a:solidFill>
                  <a:srgbClr val="9CDCFE"/>
                </a:solidFill>
                <a:latin typeface="Menlo" panose="020B0609030804020204" pitchFamily="49" charset="0"/>
              </a:rPr>
              <a:t>ascending</a:t>
            </a:r>
            <a:r>
              <a:rPr lang="en-PH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PH" dirty="0">
                <a:solidFill>
                  <a:srgbClr val="569CD6"/>
                </a:solidFill>
                <a:latin typeface="Menlo" panose="020B0609030804020204" pitchFamily="49" charset="0"/>
              </a:rPr>
              <a:t>False</a:t>
            </a:r>
            <a:r>
              <a:rPr lang="en-PH" dirty="0">
                <a:solidFill>
                  <a:srgbClr val="CCCCCC"/>
                </a:solidFill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28339D-9E63-972A-3934-7937004E7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360692"/>
              </p:ext>
            </p:extLst>
          </p:nvPr>
        </p:nvGraphicFramePr>
        <p:xfrm>
          <a:off x="6196263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idx_A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idx_B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idx_C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CED1A2-1C43-D677-9284-803909E8D13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58118"/>
          <a:ext cx="5157536" cy="1417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6250">
                  <a:extLst>
                    <a:ext uri="{9D8B030D-6E8A-4147-A177-3AD203B41FA5}">
                      <a16:colId xmlns:a16="http://schemas.microsoft.com/office/drawing/2014/main" val="2965485135"/>
                    </a:ext>
                  </a:extLst>
                </a:gridCol>
                <a:gridCol w="1626250">
                  <a:extLst>
                    <a:ext uri="{9D8B030D-6E8A-4147-A177-3AD203B41FA5}">
                      <a16:colId xmlns:a16="http://schemas.microsoft.com/office/drawing/2014/main" val="2623672028"/>
                    </a:ext>
                  </a:extLst>
                </a:gridCol>
                <a:gridCol w="1905036">
                  <a:extLst>
                    <a:ext uri="{9D8B030D-6E8A-4147-A177-3AD203B41FA5}">
                      <a16:colId xmlns:a16="http://schemas.microsoft.com/office/drawing/2014/main" val="33430753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>
                          <a:effectLst/>
                        </a:rPr>
                        <a:t>col2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7885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 err="1">
                          <a:effectLst/>
                        </a:rPr>
                        <a:t>idx_C</a:t>
                      </a:r>
                      <a:endParaRPr lang="en-PH" sz="1800" b="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2245946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 err="1">
                          <a:effectLst/>
                        </a:rPr>
                        <a:t>idx_A</a:t>
                      </a:r>
                      <a:endParaRPr lang="en-PH" sz="1800" b="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436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 dirty="0" err="1">
                          <a:effectLst/>
                        </a:rPr>
                        <a:t>idx_B</a:t>
                      </a:r>
                      <a:endParaRPr lang="en-PH" sz="1800" b="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948111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2FC5E5-68AC-4472-152A-BB3D6A0BD813}"/>
              </a:ext>
            </a:extLst>
          </p:cNvPr>
          <p:cNvSpPr txBox="1"/>
          <p:nvPr/>
        </p:nvSpPr>
        <p:spPr>
          <a:xfrm>
            <a:off x="2913464" y="56428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4077B-B531-DC3A-41DD-B7044EC02973}"/>
              </a:ext>
            </a:extLst>
          </p:cNvPr>
          <p:cNvSpPr txBox="1"/>
          <p:nvPr/>
        </p:nvSpPr>
        <p:spPr>
          <a:xfrm>
            <a:off x="8271531" y="5642811"/>
            <a:ext cx="11577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Sorted</a:t>
            </a:r>
          </a:p>
        </p:txBody>
      </p:sp>
    </p:spTree>
    <p:extLst>
      <p:ext uri="{BB962C8B-B14F-4D97-AF65-F5344CB8AC3E}">
        <p14:creationId xmlns:p14="http://schemas.microsoft.com/office/powerpoint/2010/main" val="3296813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D7DE-E177-E822-6371-6525BDDD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87A5EEC-DDF9-1BA3-6CDD-AE8684397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25F5B71-664E-9703-01E7-E21E869B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Filter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Sort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500" b="1" dirty="0"/>
              <a:t>Group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Aggregate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Method Chaining</a:t>
            </a:r>
            <a:endParaRPr lang="en-US" sz="31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544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B1AC-A413-40B3-5815-2D9997D48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Pandas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.groupby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B981E2-7429-AA82-39BB-7FC88AC5CC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522936"/>
            <a:ext cx="10515600" cy="3879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1893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000" b="1" dirty="0"/>
              <a:t>Splitting</a:t>
            </a:r>
            <a:r>
              <a:rPr lang="en-US" altLang="en-US" sz="3000" dirty="0"/>
              <a:t>: Dividing the data into groups based on one or more criteria (e.g., values in a specific column or set of columns).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3000" dirty="0"/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000" b="1" dirty="0"/>
              <a:t>Applying</a:t>
            </a:r>
            <a:r>
              <a:rPr lang="en-US" altLang="en-US" sz="3000" dirty="0"/>
              <a:t>: Performing a function (like aggregation,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000" dirty="0"/>
              <a:t> transformation, or filtration) independently on each group.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3000" dirty="0"/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000" b="1" dirty="0"/>
              <a:t>Combining</a:t>
            </a:r>
            <a:r>
              <a:rPr lang="en-US" altLang="en-US" sz="3000" dirty="0"/>
              <a:t>: Merging the results from each group into a new data structure.</a:t>
            </a:r>
          </a:p>
        </p:txBody>
      </p:sp>
    </p:spTree>
    <p:extLst>
      <p:ext uri="{BB962C8B-B14F-4D97-AF65-F5344CB8AC3E}">
        <p14:creationId xmlns:p14="http://schemas.microsoft.com/office/powerpoint/2010/main" val="2646309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D665-7C80-A739-68C3-4243ACF0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Pandas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.groupby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991A2-C741-A339-D2B1-6A4DD66D0C2E}"/>
              </a:ext>
            </a:extLst>
          </p:cNvPr>
          <p:cNvSpPr txBox="1"/>
          <p:nvPr/>
        </p:nvSpPr>
        <p:spPr>
          <a:xfrm>
            <a:off x="838200" y="2418446"/>
            <a:ext cx="10515600" cy="3368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pandas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'Category'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'Electronics'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'Furniture'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'Electronics'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'Furniture'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'Furniture'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]}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6320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3B08-BE9C-6B0E-7822-9B198D9B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0090-E806-A869-13B6-9B7BF22F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Pandas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.groupby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0138A-BBAB-549A-B5FA-43E4CE15A772}"/>
              </a:ext>
            </a:extLst>
          </p:cNvPr>
          <p:cNvSpPr txBox="1"/>
          <p:nvPr/>
        </p:nvSpPr>
        <p:spPr>
          <a:xfrm>
            <a:off x="838200" y="2687750"/>
            <a:ext cx="10515600" cy="12910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Group by 'Category' and calculate the mean of 'Value'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grouped_mean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groupby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'Category'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].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mean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grouped_mean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E106E-458B-EACD-FF60-BE5BB671B5CF}"/>
              </a:ext>
            </a:extLst>
          </p:cNvPr>
          <p:cNvSpPr txBox="1"/>
          <p:nvPr/>
        </p:nvSpPr>
        <p:spPr>
          <a:xfrm>
            <a:off x="838200" y="4514627"/>
            <a:ext cx="6118058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PH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Category </a:t>
            </a:r>
          </a:p>
          <a:p>
            <a:r>
              <a:rPr lang="en-PH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Electronics 12.5</a:t>
            </a:r>
          </a:p>
          <a:p>
            <a:r>
              <a:rPr lang="en-PH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Furniture 19.0 </a:t>
            </a:r>
          </a:p>
          <a:p>
            <a:r>
              <a:rPr lang="en-PH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Name: Value, </a:t>
            </a:r>
            <a:r>
              <a:rPr lang="en-PH" b="0" i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PH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float64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3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2E1A-8867-7BEA-2398-4BB66AB5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130B61C-9F70-BFA0-4BA1-73F9F8691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D71CE9-B253-59AD-CEA1-9301856CF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Filter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Sort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500" b="1" dirty="0"/>
              <a:t>Group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Aggregate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Method Chaining</a:t>
            </a:r>
            <a:endParaRPr lang="en-US" sz="31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077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D8C8-3F1A-85B1-AE2C-CD512C33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E6414-33DF-5BD7-0895-9048C32783DF}"/>
              </a:ext>
            </a:extLst>
          </p:cNvPr>
          <p:cNvSpPr txBox="1"/>
          <p:nvPr/>
        </p:nvSpPr>
        <p:spPr>
          <a:xfrm>
            <a:off x="218574" y="1827456"/>
            <a:ext cx="11754852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pandas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'Category'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'Electronics'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'Furniture'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'Electronics'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'Furniture'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]}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Group by 'Category' and apply different aggregations to 'Value1' and 'Value2'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multi_agg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groupby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'Category'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agg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lvl="8">
              <a:lnSpc>
                <a:spcPct val="150000"/>
              </a:lnSpc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Total_Value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'sum'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pPr lvl="8">
              <a:lnSpc>
                <a:spcPct val="150000"/>
              </a:lnSpc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Average_Value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'mean'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8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2929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32F3-B6AC-9547-98BB-D9F28796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7390-B9E1-91D9-72BD-C0DE1F14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A6C15-D4B3-44D2-CD15-40280A5ED8C5}"/>
              </a:ext>
            </a:extLst>
          </p:cNvPr>
          <p:cNvSpPr txBox="1"/>
          <p:nvPr/>
        </p:nvSpPr>
        <p:spPr>
          <a:xfrm>
            <a:off x="218574" y="1827456"/>
            <a:ext cx="11754852" cy="21220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Group by 'Category' and apply different aggregations to 'Value1' and 'Value2'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multi_agg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groupby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'Category'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agg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lvl="8">
              <a:lnSpc>
                <a:spcPct val="150000"/>
              </a:lnSpc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Total_Value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'sum'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pPr lvl="8">
              <a:lnSpc>
                <a:spcPct val="150000"/>
              </a:lnSpc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Average_Value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'Value2'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'mean'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8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DF4D4D-1945-FB5E-D5EF-5E5C0E379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68080"/>
              </p:ext>
            </p:extLst>
          </p:nvPr>
        </p:nvGraphicFramePr>
        <p:xfrm>
          <a:off x="7255042" y="4355231"/>
          <a:ext cx="4098756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2400">
                  <a:extLst>
                    <a:ext uri="{9D8B030D-6E8A-4147-A177-3AD203B41FA5}">
                      <a16:colId xmlns:a16="http://schemas.microsoft.com/office/drawing/2014/main" val="2043457219"/>
                    </a:ext>
                  </a:extLst>
                </a:gridCol>
                <a:gridCol w="1292400">
                  <a:extLst>
                    <a:ext uri="{9D8B030D-6E8A-4147-A177-3AD203B41FA5}">
                      <a16:colId xmlns:a16="http://schemas.microsoft.com/office/drawing/2014/main" val="353507755"/>
                    </a:ext>
                  </a:extLst>
                </a:gridCol>
                <a:gridCol w="1513956">
                  <a:extLst>
                    <a:ext uri="{9D8B030D-6E8A-4147-A177-3AD203B41FA5}">
                      <a16:colId xmlns:a16="http://schemas.microsoft.com/office/drawing/2014/main" val="2889989275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PH" sz="1800" dirty="0">
                          <a:effectLst/>
                        </a:rPr>
                      </a:b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 err="1">
                          <a:effectLst/>
                        </a:rPr>
                        <a:t>Total_Value</a:t>
                      </a: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Average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2278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>
                          <a:effectLst/>
                        </a:rPr>
                        <a:t>Category</a:t>
                      </a:r>
                    </a:p>
                  </a:txBody>
                  <a:tcPr marL="76200" marR="76200" marT="38100" marB="3810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312984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Electronics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2.0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5849275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Furniture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3.0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0195021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C76953-9375-45F3-AABA-5DD87FCE8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628538"/>
              </p:ext>
            </p:extLst>
          </p:nvPr>
        </p:nvGraphicFramePr>
        <p:xfrm>
          <a:off x="838200" y="4187591"/>
          <a:ext cx="6079958" cy="2026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7524">
                  <a:extLst>
                    <a:ext uri="{9D8B030D-6E8A-4147-A177-3AD203B41FA5}">
                      <a16:colId xmlns:a16="http://schemas.microsoft.com/office/drawing/2014/main" val="3272796183"/>
                    </a:ext>
                  </a:extLst>
                </a:gridCol>
                <a:gridCol w="1457524">
                  <a:extLst>
                    <a:ext uri="{9D8B030D-6E8A-4147-A177-3AD203B41FA5}">
                      <a16:colId xmlns:a16="http://schemas.microsoft.com/office/drawing/2014/main" val="3848845108"/>
                    </a:ext>
                  </a:extLst>
                </a:gridCol>
                <a:gridCol w="1457524">
                  <a:extLst>
                    <a:ext uri="{9D8B030D-6E8A-4147-A177-3AD203B41FA5}">
                      <a16:colId xmlns:a16="http://schemas.microsoft.com/office/drawing/2014/main" val="877316076"/>
                    </a:ext>
                  </a:extLst>
                </a:gridCol>
                <a:gridCol w="1707386">
                  <a:extLst>
                    <a:ext uri="{9D8B030D-6E8A-4147-A177-3AD203B41FA5}">
                      <a16:colId xmlns:a16="http://schemas.microsoft.com/office/drawing/2014/main" val="793543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PH" dirty="0">
                          <a:effectLst/>
                        </a:rPr>
                      </a:br>
                      <a:endParaRPr lang="en-PH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Category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dirty="0">
                          <a:effectLst/>
                        </a:rPr>
                        <a:t>Value1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67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Electronics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0522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Furniture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3917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Electronics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53577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b="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Furniture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effectLst/>
                        </a:rPr>
                        <a:t>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effectLst/>
                        </a:rPr>
                        <a:t>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02425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29859F-4290-CF17-1CEF-D742505A5A34}"/>
              </a:ext>
            </a:extLst>
          </p:cNvPr>
          <p:cNvSpPr txBox="1"/>
          <p:nvPr/>
        </p:nvSpPr>
        <p:spPr>
          <a:xfrm>
            <a:off x="2913464" y="6214511"/>
            <a:ext cx="13981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Original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4F2FE-E4BE-5016-4969-DE93A199B58B}"/>
              </a:ext>
            </a:extLst>
          </p:cNvPr>
          <p:cNvSpPr txBox="1"/>
          <p:nvPr/>
        </p:nvSpPr>
        <p:spPr>
          <a:xfrm>
            <a:off x="8271531" y="6214511"/>
            <a:ext cx="18203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Aggregated</a:t>
            </a:r>
          </a:p>
        </p:txBody>
      </p:sp>
    </p:spTree>
    <p:extLst>
      <p:ext uri="{BB962C8B-B14F-4D97-AF65-F5344CB8AC3E}">
        <p14:creationId xmlns:p14="http://schemas.microsoft.com/office/powerpoint/2010/main" val="597533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3463-12CC-83F9-132A-BC6649682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145036-C55E-30EE-9373-220E2FAC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FC91B9-BB98-7FCD-D4EB-AF60C294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Filter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Sort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500" b="1" dirty="0"/>
              <a:t>Group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500" b="1" dirty="0"/>
              <a:t>Aggregate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Method Chaining</a:t>
            </a:r>
            <a:endParaRPr lang="en-US" sz="3100" b="1" dirty="0"/>
          </a:p>
        </p:txBody>
      </p:sp>
    </p:spTree>
    <p:extLst>
      <p:ext uri="{BB962C8B-B14F-4D97-AF65-F5344CB8AC3E}">
        <p14:creationId xmlns:p14="http://schemas.microsoft.com/office/powerpoint/2010/main" val="3990088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7A49-4ED8-DAD5-9A19-5B150BAD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Chaining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7ABA5-A1F8-2463-B5A0-031A5CF5A805}"/>
              </a:ext>
            </a:extLst>
          </p:cNvPr>
          <p:cNvSpPr txBox="1"/>
          <p:nvPr/>
        </p:nvSpPr>
        <p:spPr>
          <a:xfrm>
            <a:off x="838200" y="1989058"/>
            <a:ext cx="10515600" cy="4615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pandas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create a sample </a:t>
            </a:r>
            <a:r>
              <a:rPr lang="en-PH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dataframe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PH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({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'column3'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'B'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'B'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]})</a:t>
            </a:r>
          </a:p>
          <a:p>
            <a:pPr>
              <a:lnSpc>
                <a:spcPct val="1500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chain methods to filter, sort, group, and aggregate the data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result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6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sort_values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6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groupby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'column3'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6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10793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9602-CFE0-47EC-F2F9-1D0BF03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B5D6-CE35-B04C-A039-703CD578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Chaining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DF457-B633-460E-3321-9BCD373B34A5}"/>
              </a:ext>
            </a:extLst>
          </p:cNvPr>
          <p:cNvSpPr txBox="1"/>
          <p:nvPr/>
        </p:nvSpPr>
        <p:spPr>
          <a:xfrm>
            <a:off x="838200" y="1989058"/>
            <a:ext cx="10515600" cy="21220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chain methods to filter, sort, group, and aggregate the data</a:t>
            </a:r>
            <a:endParaRPr lang="en-PH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result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'column1'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6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sort_values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'column2'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6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groupby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PH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'column3'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6">
              <a:lnSpc>
                <a:spcPct val="150000"/>
              </a:lnSpc>
            </a:pP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PH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PH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0E10D8-C4F6-216C-A6E9-4D8984ED9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830715"/>
              </p:ext>
            </p:extLst>
          </p:nvPr>
        </p:nvGraphicFramePr>
        <p:xfrm>
          <a:off x="838200" y="4435603"/>
          <a:ext cx="105156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15730">
                  <a:extLst>
                    <a:ext uri="{9D8B030D-6E8A-4147-A177-3AD203B41FA5}">
                      <a16:colId xmlns:a16="http://schemas.microsoft.com/office/drawing/2014/main" val="1037979786"/>
                    </a:ext>
                  </a:extLst>
                </a:gridCol>
                <a:gridCol w="3315730">
                  <a:extLst>
                    <a:ext uri="{9D8B030D-6E8A-4147-A177-3AD203B41FA5}">
                      <a16:colId xmlns:a16="http://schemas.microsoft.com/office/drawing/2014/main" val="1722108056"/>
                    </a:ext>
                  </a:extLst>
                </a:gridCol>
                <a:gridCol w="3884141">
                  <a:extLst>
                    <a:ext uri="{9D8B030D-6E8A-4147-A177-3AD203B41FA5}">
                      <a16:colId xmlns:a16="http://schemas.microsoft.com/office/drawing/2014/main" val="3176937525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PH" sz="1800" dirty="0">
                          <a:effectLst/>
                        </a:rPr>
                      </a:br>
                      <a:endParaRPr lang="en-PH" sz="18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dirty="0">
                          <a:effectLst/>
                        </a:rPr>
                        <a:t>column1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800" dirty="0">
                          <a:effectLst/>
                        </a:rPr>
                        <a:t>column2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59261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>
                          <a:effectLst/>
                        </a:rPr>
                        <a:t>column3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H" sz="18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548587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9427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800" b="0">
                          <a:effectLst/>
                        </a:rPr>
                        <a:t>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>
                          <a:effectLst/>
                        </a:rPr>
                        <a:t>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800" dirty="0">
                          <a:effectLst/>
                        </a:rPr>
                        <a:t>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1647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557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D6D0-1415-577D-9BE8-AD4013C2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9A30-FA4A-A401-0622-901D5C83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8181</TotalTime>
  <Words>1770</Words>
  <Application>Microsoft Macintosh PowerPoint</Application>
  <PresentationFormat>Widescreen</PresentationFormat>
  <Paragraphs>524</Paragraphs>
  <Slides>33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Consolas</vt:lpstr>
      <vt:lpstr>Menlo</vt:lpstr>
      <vt:lpstr>Wingdings</vt:lpstr>
      <vt:lpstr>Office Theme</vt:lpstr>
      <vt:lpstr>Pandas Filter, Sort, Group and Aggregate</vt:lpstr>
      <vt:lpstr>Outline</vt:lpstr>
      <vt:lpstr>Boolean Indexing</vt:lpstr>
      <vt:lpstr>Boolean Indexing</vt:lpstr>
      <vt:lpstr>Boolean Indexing</vt:lpstr>
      <vt:lpstr>Label based filtering using .loc[]</vt:lpstr>
      <vt:lpstr>Label based filtering using .loc[]</vt:lpstr>
      <vt:lpstr>Filtering a list of values using isin() </vt:lpstr>
      <vt:lpstr>Filtering a list of values using isin() </vt:lpstr>
      <vt:lpstr>Filtering using .query()</vt:lpstr>
      <vt:lpstr>Filtering using .query()</vt:lpstr>
      <vt:lpstr>Filtering columns by label using .filter()</vt:lpstr>
      <vt:lpstr>Filtering columns by label using.filter()</vt:lpstr>
      <vt:lpstr>Filtering columns by label using.filter()</vt:lpstr>
      <vt:lpstr>Filtering columns by label using.filter()</vt:lpstr>
      <vt:lpstr>Outline</vt:lpstr>
      <vt:lpstr>sort_values</vt:lpstr>
      <vt:lpstr>sort_values</vt:lpstr>
      <vt:lpstr>sort_values</vt:lpstr>
      <vt:lpstr>sort_index</vt:lpstr>
      <vt:lpstr>sort_index</vt:lpstr>
      <vt:lpstr>sort_index</vt:lpstr>
      <vt:lpstr>Outline</vt:lpstr>
      <vt:lpstr>Pandas.groupby()</vt:lpstr>
      <vt:lpstr>Pandas.groupby()</vt:lpstr>
      <vt:lpstr>Pandas.groupby()</vt:lpstr>
      <vt:lpstr>Outline</vt:lpstr>
      <vt:lpstr>Aggregate</vt:lpstr>
      <vt:lpstr>Aggregate</vt:lpstr>
      <vt:lpstr>Outline</vt:lpstr>
      <vt:lpstr>Method Chaining</vt:lpstr>
      <vt:lpstr>Method Chaining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940</cp:revision>
  <dcterms:created xsi:type="dcterms:W3CDTF">2024-08-08T01:29:50Z</dcterms:created>
  <dcterms:modified xsi:type="dcterms:W3CDTF">2025-12-09T09:08:15Z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