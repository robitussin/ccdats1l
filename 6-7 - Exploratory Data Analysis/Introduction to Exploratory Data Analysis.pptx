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7" r:id="rId2"/>
    <p:sldId id="441" r:id="rId3"/>
    <p:sldId id="443" r:id="rId4"/>
    <p:sldId id="444" r:id="rId5"/>
    <p:sldId id="445" r:id="rId6"/>
    <p:sldId id="456" r:id="rId7"/>
    <p:sldId id="446" r:id="rId8"/>
    <p:sldId id="447" r:id="rId9"/>
    <p:sldId id="448" r:id="rId10"/>
    <p:sldId id="449" r:id="rId11"/>
    <p:sldId id="477" r:id="rId12"/>
    <p:sldId id="457" r:id="rId13"/>
    <p:sldId id="459" r:id="rId14"/>
    <p:sldId id="450" r:id="rId15"/>
    <p:sldId id="458" r:id="rId16"/>
    <p:sldId id="461" r:id="rId17"/>
    <p:sldId id="451" r:id="rId18"/>
    <p:sldId id="478" r:id="rId19"/>
    <p:sldId id="480" r:id="rId20"/>
    <p:sldId id="479" r:id="rId21"/>
    <p:sldId id="462" r:id="rId22"/>
    <p:sldId id="463" r:id="rId23"/>
    <p:sldId id="464" r:id="rId24"/>
    <p:sldId id="465" r:id="rId25"/>
    <p:sldId id="469" r:id="rId26"/>
    <p:sldId id="466" r:id="rId27"/>
    <p:sldId id="467" r:id="rId28"/>
    <p:sldId id="468" r:id="rId29"/>
    <p:sldId id="470" r:id="rId30"/>
    <p:sldId id="471" r:id="rId31"/>
    <p:sldId id="472" r:id="rId32"/>
    <p:sldId id="473" r:id="rId33"/>
    <p:sldId id="474" r:id="rId34"/>
    <p:sldId id="475" r:id="rId35"/>
    <p:sldId id="476" r:id="rId36"/>
    <p:sldId id="491" r:id="rId37"/>
    <p:sldId id="486" r:id="rId38"/>
    <p:sldId id="492" r:id="rId39"/>
    <p:sldId id="487" r:id="rId40"/>
    <p:sldId id="500" r:id="rId41"/>
    <p:sldId id="488" r:id="rId42"/>
    <p:sldId id="490" r:id="rId43"/>
    <p:sldId id="483" r:id="rId44"/>
    <p:sldId id="453" r:id="rId45"/>
    <p:sldId id="484" r:id="rId46"/>
    <p:sldId id="482" r:id="rId47"/>
    <p:sldId id="493" r:id="rId48"/>
    <p:sldId id="494" r:id="rId49"/>
    <p:sldId id="495" r:id="rId50"/>
    <p:sldId id="496" r:id="rId51"/>
    <p:sldId id="497" r:id="rId52"/>
    <p:sldId id="498" r:id="rId53"/>
    <p:sldId id="499" r:id="rId54"/>
    <p:sldId id="501" r:id="rId55"/>
    <p:sldId id="455" r:id="rId56"/>
    <p:sldId id="44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1"/>
            <p14:sldId id="443"/>
            <p14:sldId id="444"/>
            <p14:sldId id="445"/>
            <p14:sldId id="456"/>
            <p14:sldId id="446"/>
            <p14:sldId id="447"/>
            <p14:sldId id="448"/>
            <p14:sldId id="449"/>
            <p14:sldId id="477"/>
            <p14:sldId id="457"/>
            <p14:sldId id="459"/>
            <p14:sldId id="450"/>
            <p14:sldId id="458"/>
            <p14:sldId id="461"/>
            <p14:sldId id="451"/>
            <p14:sldId id="478"/>
            <p14:sldId id="480"/>
            <p14:sldId id="479"/>
            <p14:sldId id="462"/>
            <p14:sldId id="463"/>
            <p14:sldId id="464"/>
            <p14:sldId id="465"/>
            <p14:sldId id="469"/>
            <p14:sldId id="466"/>
            <p14:sldId id="467"/>
            <p14:sldId id="468"/>
            <p14:sldId id="470"/>
            <p14:sldId id="471"/>
            <p14:sldId id="472"/>
            <p14:sldId id="473"/>
            <p14:sldId id="474"/>
            <p14:sldId id="475"/>
            <p14:sldId id="476"/>
            <p14:sldId id="491"/>
            <p14:sldId id="486"/>
            <p14:sldId id="492"/>
            <p14:sldId id="487"/>
            <p14:sldId id="500"/>
            <p14:sldId id="488"/>
            <p14:sldId id="490"/>
            <p14:sldId id="483"/>
            <p14:sldId id="453"/>
            <p14:sldId id="484"/>
            <p14:sldId id="482"/>
            <p14:sldId id="493"/>
            <p14:sldId id="494"/>
            <p14:sldId id="495"/>
            <p14:sldId id="496"/>
            <p14:sldId id="497"/>
            <p14:sldId id="498"/>
            <p14:sldId id="499"/>
            <p14:sldId id="501"/>
            <p14:sldId id="455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25"/>
    <p:restoredTop sz="94621"/>
  </p:normalViewPr>
  <p:slideViewPr>
    <p:cSldViewPr snapToGrid="0">
      <p:cViewPr varScale="1">
        <p:scale>
          <a:sx n="142" d="100"/>
          <a:sy n="142" d="100"/>
        </p:scale>
        <p:origin x="15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9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Introduction to Exploratory Data Analysis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E8B32D-D13C-D701-5CF1-796DC9E3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ED421C-D127-257D-0162-034D034A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Introduction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What is EDA?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</a:t>
            </a: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Descriptive Statistics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>
                <a:solidFill>
                  <a:schemeClr val="bg2">
                    <a:lumMod val="90000"/>
                  </a:schemeClr>
                </a:solidFill>
              </a:rPr>
              <a:t> Central Tendency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>
                <a:solidFill>
                  <a:schemeClr val="bg2">
                    <a:lumMod val="90000"/>
                  </a:schemeClr>
                </a:solidFill>
              </a:rPr>
              <a:t> Dispersion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>
                <a:solidFill>
                  <a:schemeClr val="bg2">
                    <a:lumMod val="90000"/>
                  </a:schemeClr>
                </a:solidFill>
              </a:rPr>
              <a:t> Shape</a:t>
            </a:r>
          </a:p>
        </p:txBody>
      </p:sp>
    </p:spTree>
    <p:extLst>
      <p:ext uri="{BB962C8B-B14F-4D97-AF65-F5344CB8AC3E}">
        <p14:creationId xmlns:p14="http://schemas.microsoft.com/office/powerpoint/2010/main" val="240372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6095-9B73-B088-D534-B8F9D89A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94E3-C729-80C4-96B2-146E06F8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Exploratory Data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4548-2140-98AF-CB67-E944AA605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000" dirty="0"/>
              <a:t>The analysis of datasets based on various </a:t>
            </a:r>
            <a:r>
              <a:rPr lang="en-US" altLang="en-US" sz="3000" b="1" dirty="0">
                <a:solidFill>
                  <a:srgbClr val="00B0F0"/>
                </a:solidFill>
              </a:rPr>
              <a:t>numerical methods </a:t>
            </a:r>
            <a:r>
              <a:rPr lang="en-US" altLang="en-US" sz="3000" dirty="0"/>
              <a:t>and </a:t>
            </a:r>
            <a:r>
              <a:rPr lang="en-US" altLang="en-US" sz="3000" b="1" dirty="0">
                <a:solidFill>
                  <a:srgbClr val="00B0F0"/>
                </a:solidFill>
              </a:rPr>
              <a:t>graphical tools</a:t>
            </a:r>
            <a:r>
              <a:rPr lang="en-US" altLang="en-US" sz="3000" dirty="0"/>
              <a:t>.</a:t>
            </a:r>
          </a:p>
          <a:p>
            <a:pPr marL="0" indent="0">
              <a:buNone/>
            </a:pP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Exploring data for patterns, trends, underlying structure, deviations from the trend, anomalies and strange structures.</a:t>
            </a:r>
          </a:p>
          <a:p>
            <a:pPr marL="0" indent="0">
              <a:buNone/>
            </a:pP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/>
              <a:t>Techniques for visualizing and summarizing data.</a:t>
            </a:r>
          </a:p>
          <a:p>
            <a:pPr marL="0" indent="0">
              <a:buNone/>
            </a:pPr>
            <a:endParaRPr lang="en-PH" sz="3000" dirty="0">
              <a:latin typeface="Calibri Body"/>
            </a:endParaRPr>
          </a:p>
        </p:txBody>
      </p:sp>
    </p:spTree>
    <p:extLst>
      <p:ext uri="{BB962C8B-B14F-4D97-AF65-F5344CB8AC3E}">
        <p14:creationId xmlns:p14="http://schemas.microsoft.com/office/powerpoint/2010/main" val="390436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82A0-FB06-6B3C-7115-1080979D0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 of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F3E3-E91A-4C1E-A286-F8C787588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en-US" sz="3000" dirty="0"/>
              <a:t>Maximize insight into a dataset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3000" dirty="0"/>
              <a:t>Uncover underlying structure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3000" dirty="0"/>
              <a:t>Extract important variables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3000" dirty="0"/>
              <a:t>Detect outliers and anomalies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3000" dirty="0"/>
              <a:t>Test underlying assumptions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3000" dirty="0"/>
              <a:t>Develop valid models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3000" dirty="0"/>
              <a:t>Determine optimal factor settings (</a:t>
            </a:r>
            <a:r>
              <a:rPr lang="en-US" altLang="en-US" sz="3000" dirty="0" err="1"/>
              <a:t>Xs</a:t>
            </a:r>
            <a:r>
              <a:rPr lang="en-US" altLang="en-US" sz="3000" dirty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4535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87B0-62CD-98D4-5036-F3A2C932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vs Confirmatory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0354F4-CA70-6ECA-7286-D7360172A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641991"/>
              </p:ext>
            </p:extLst>
          </p:nvPr>
        </p:nvGraphicFramePr>
        <p:xfrm>
          <a:off x="2031999" y="2414286"/>
          <a:ext cx="8128000" cy="3840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53876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4522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00B050"/>
                          </a:solidFill>
                        </a:rPr>
                        <a:t>Exploratory 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FF0000"/>
                          </a:solidFill>
                        </a:rPr>
                        <a:t>Confirmatory Data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8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No hypothesis at first</a:t>
                      </a:r>
                    </a:p>
                    <a:p>
                      <a:pPr algn="ctr"/>
                      <a:endParaRPr lang="en-US" sz="3000" dirty="0"/>
                    </a:p>
                    <a:p>
                      <a:pPr algn="ctr"/>
                      <a:r>
                        <a:rPr lang="en-US" sz="3000" dirty="0"/>
                        <a:t>Generate hypothesis</a:t>
                      </a:r>
                    </a:p>
                    <a:p>
                      <a:pPr algn="ctr"/>
                      <a:endParaRPr lang="en-US" sz="3000" dirty="0"/>
                    </a:p>
                    <a:p>
                      <a:pPr algn="ctr"/>
                      <a:r>
                        <a:rPr lang="en-US" sz="3000" dirty="0"/>
                        <a:t>Uses graphical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/>
                        <a:t>Starts with hypothesis</a:t>
                      </a:r>
                    </a:p>
                    <a:p>
                      <a:pPr algn="ctr"/>
                      <a:endParaRPr lang="en-US" sz="3000" dirty="0"/>
                    </a:p>
                    <a:p>
                      <a:pPr algn="ctr"/>
                      <a:r>
                        <a:rPr lang="en-US" sz="3000" dirty="0"/>
                        <a:t>Test the null hypothesis</a:t>
                      </a:r>
                    </a:p>
                    <a:p>
                      <a:pPr algn="ctr"/>
                      <a:endParaRPr lang="en-US" sz="3000" dirty="0"/>
                    </a:p>
                    <a:p>
                      <a:pPr algn="ctr"/>
                      <a:r>
                        <a:rPr lang="en-US" sz="3000" dirty="0"/>
                        <a:t>Use statistical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70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07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5111-2172-28CB-E3E2-E44CC097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4462541-8EB2-E7AD-DFA0-D6BC02D4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243D1EE-CF2A-0031-FF0D-244D5CF4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/>
              <a:t> Introduction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What is EDA?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Descriptive Statistics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 Central Tendency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 Dispersion</a:t>
            </a:r>
          </a:p>
          <a:p>
            <a:pPr lvl="1">
              <a:buFont typeface="Wingdings" pitchFamily="2" charset="2"/>
              <a:buChar char="§"/>
            </a:pPr>
            <a:r>
              <a:rPr lang="en-US" sz="3100" b="1" dirty="0"/>
              <a:t> Shape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Data Visualization</a:t>
            </a:r>
          </a:p>
          <a:p>
            <a:pPr marL="0" indent="0" algn="l">
              <a:buNone/>
            </a:pPr>
            <a:endParaRPr 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3791142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1B16-7A26-2403-6672-E08D4664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BD401-8EA9-2DDD-CA06-36F448C41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Refers to a branch of statistics that involves </a:t>
            </a:r>
            <a:r>
              <a:rPr lang="en-PH" b="1" dirty="0">
                <a:solidFill>
                  <a:srgbClr val="0070C0"/>
                </a:solidFill>
              </a:rPr>
              <a:t>summarizing, organizing</a:t>
            </a:r>
            <a:r>
              <a:rPr lang="en-PH" dirty="0">
                <a:solidFill>
                  <a:srgbClr val="0070C0"/>
                </a:solidFill>
              </a:rPr>
              <a:t>,</a:t>
            </a:r>
            <a:r>
              <a:rPr lang="en-PH" dirty="0"/>
              <a:t> and</a:t>
            </a:r>
            <a:r>
              <a:rPr lang="en-PH" b="1" dirty="0"/>
              <a:t> </a:t>
            </a:r>
            <a:r>
              <a:rPr lang="en-PH" b="1" dirty="0">
                <a:solidFill>
                  <a:srgbClr val="0070C0"/>
                </a:solidFill>
              </a:rPr>
              <a:t>presenting data meaningfully and concisely.</a:t>
            </a:r>
          </a:p>
          <a:p>
            <a:endParaRPr lang="en-PH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PH" dirty="0"/>
              <a:t>It focuses on describing and analyzing a dataset's main features and characteristics </a:t>
            </a:r>
            <a:r>
              <a:rPr lang="en-PH" b="1" dirty="0">
                <a:solidFill>
                  <a:srgbClr val="0070C0"/>
                </a:solidFill>
              </a:rPr>
              <a:t>without making any generalizations or inferences</a:t>
            </a:r>
            <a:r>
              <a:rPr lang="en-PH" b="1" dirty="0"/>
              <a:t> </a:t>
            </a:r>
            <a:r>
              <a:rPr lang="en-PH" dirty="0"/>
              <a:t>to a larger population.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84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62ACC-4EBF-7500-2940-0F80752E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E179-34EB-2628-9148-FD9CA22E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87FBF-6580-1EC0-E464-3B16F871A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The primary goal of descriptive statistics is to provide a clear and concise </a:t>
            </a:r>
            <a:r>
              <a:rPr lang="en-PH" b="1" dirty="0">
                <a:solidFill>
                  <a:srgbClr val="0070C0"/>
                </a:solidFill>
              </a:rPr>
              <a:t>summary of the data</a:t>
            </a:r>
            <a:r>
              <a:rPr lang="en-PH" dirty="0"/>
              <a:t>, enabling researchers or analysts to gain insights and understand patterns, trends, and distributions within the dataset. </a:t>
            </a:r>
          </a:p>
          <a:p>
            <a:endParaRPr lang="en-P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38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6B55-964B-2E9F-80F7-C89D711B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1367-22EE-991D-30E5-FA688B36B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This summary typically includes measures such as:</a:t>
            </a:r>
          </a:p>
          <a:p>
            <a:endParaRPr lang="en-PH" dirty="0"/>
          </a:p>
          <a:p>
            <a:pPr marL="514350" indent="-514350">
              <a:buFont typeface="+mj-lt"/>
              <a:buAutoNum type="arabicPeriod"/>
            </a:pPr>
            <a:r>
              <a:rPr lang="en-PH" b="1" dirty="0"/>
              <a:t>Central tendency </a:t>
            </a:r>
            <a:r>
              <a:rPr lang="en-PH" dirty="0"/>
              <a:t>(e.g., mean, median, mode)</a:t>
            </a:r>
          </a:p>
          <a:p>
            <a:pPr marL="514350" indent="-514350">
              <a:buFont typeface="+mj-lt"/>
              <a:buAutoNum type="arabicPeriod"/>
            </a:pPr>
            <a:r>
              <a:rPr lang="en-PH" b="1" dirty="0"/>
              <a:t>Dispersion</a:t>
            </a:r>
            <a:r>
              <a:rPr lang="en-PH" dirty="0"/>
              <a:t> (e.g., range, variance, standard deviation)</a:t>
            </a:r>
            <a:endParaRPr lang="en-PH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PH" b="1" dirty="0"/>
              <a:t>Shape of the distribution </a:t>
            </a:r>
            <a:r>
              <a:rPr lang="en-PH" dirty="0"/>
              <a:t>(e.g., skewness, kurtosis)</a:t>
            </a:r>
          </a:p>
          <a:p>
            <a:endParaRPr lang="en-P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FA52-5D0A-2BA6-326B-3395BA6E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2AD6D-7202-083C-3952-C71958921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addition to describing the shape of the distribution of a sample or population of measurements, we also describe the data set’s </a:t>
            </a:r>
            <a:r>
              <a:rPr lang="en-US" b="1" dirty="0"/>
              <a:t>central tendency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measure of central tendency represents the </a:t>
            </a:r>
            <a:r>
              <a:rPr lang="en-US" b="1" dirty="0"/>
              <a:t>center or middle of the data</a:t>
            </a:r>
            <a:r>
              <a:rPr lang="en-US" dirty="0"/>
              <a:t>. Sometimes we think of a measure of central tendency as a typical value.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4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4887B3-A247-9F29-0593-DF887EB9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963F-1A23-7EB0-3F45-65F1F6A5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25EA5-FF09-E446-6A87-75279D99D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Measures of central tendency estimate a dataset's average or center.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Central tendency is defined as “the statistical measure that identifies a single value as representative of an entire distribution.”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It aims to provide an accurate description of the entire data.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5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8277BE-977D-886B-C442-D0FC5DA73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793603"/>
              </p:ext>
            </p:extLst>
          </p:nvPr>
        </p:nvGraphicFramePr>
        <p:xfrm>
          <a:off x="838200" y="1694050"/>
          <a:ext cx="105156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96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B277D-E916-4E55-8D17-C0D9DEA3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B7B783-7819-F39C-53A6-65A85C47D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43100"/>
              </p:ext>
            </p:extLst>
          </p:nvPr>
        </p:nvGraphicFramePr>
        <p:xfrm>
          <a:off x="838200" y="927254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EE96D2-C985-8E14-83B0-5F059C0F4B36}"/>
              </a:ext>
            </a:extLst>
          </p:cNvPr>
          <p:cNvSpPr txBox="1">
            <a:spLocks/>
          </p:cNvSpPr>
          <p:nvPr/>
        </p:nvSpPr>
        <p:spPr>
          <a:xfrm>
            <a:off x="838200" y="5902036"/>
            <a:ext cx="10515600" cy="7361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In pandas, we can use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.describe() </a:t>
            </a:r>
            <a:r>
              <a:rPr lang="en-GB" dirty="0"/>
              <a:t>to view the statistical summary of our dataset represented in a </a:t>
            </a:r>
            <a:r>
              <a:rPr lang="en-GB" dirty="0" err="1"/>
              <a:t>dataframe</a:t>
            </a:r>
            <a:r>
              <a:rPr lang="en-GB" dirty="0"/>
              <a:t>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D633EE-DE3D-E021-8B7F-89073DD7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0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6FDE-BF87-4E9E-2A56-9E927D97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D2BE-B76C-98ED-563A-49DB939C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Tendency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39C43D-B212-A042-774B-9E20EB878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812381"/>
              </p:ext>
            </p:extLst>
          </p:nvPr>
        </p:nvGraphicFramePr>
        <p:xfrm>
          <a:off x="2031999" y="2548054"/>
          <a:ext cx="8128000" cy="326220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67638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2122417"/>
                    </a:ext>
                  </a:extLst>
                </a:gridCol>
              </a:tblGrid>
              <a:tr h="260225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rgbClr val="00B0F0"/>
                          </a:solidFill>
                        </a:rPr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rgbClr val="00B0F0"/>
                          </a:solidFill>
                        </a:rPr>
                        <a:t>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69008"/>
                  </a:ext>
                </a:extLst>
              </a:tr>
              <a:tr h="884766"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The average of the sample measurements.</a:t>
                      </a:r>
                      <a:endParaRPr lang="en-PH" sz="2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981369"/>
                  </a:ext>
                </a:extLst>
              </a:tr>
              <a:tr h="676586"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Divides a population or sample into two roughly equal parts.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944886"/>
                  </a:ext>
                </a:extLst>
              </a:tr>
              <a:tr h="468405"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300" dirty="0"/>
                        <a:t>Measure the samples that appear most frequently</a:t>
                      </a:r>
                      <a:endParaRPr lang="en-US" sz="2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77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791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F2A867-04C2-9DA4-E05B-DAD1F5AB5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056892"/>
              </p:ext>
            </p:extLst>
          </p:nvPr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E7D1D4-FA96-2CB6-116A-B1426A5C6B32}"/>
              </a:ext>
            </a:extLst>
          </p:cNvPr>
          <p:cNvSpPr txBox="1">
            <a:spLocks/>
          </p:cNvSpPr>
          <p:nvPr/>
        </p:nvSpPr>
        <p:spPr>
          <a:xfrm>
            <a:off x="838200" y="5902036"/>
            <a:ext cx="10515600" cy="7361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/>
              <a:t>We can see that student scores has an average of 69.8</a:t>
            </a:r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28F26-6CA0-D2D6-FBA2-FE9CAE8CC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04B3034-E6EA-079D-0400-1B3DBF9CFDA5}"/>
              </a:ext>
            </a:extLst>
          </p:cNvPr>
          <p:cNvSpPr/>
          <p:nvPr/>
        </p:nvSpPr>
        <p:spPr>
          <a:xfrm>
            <a:off x="10326255" y="2762057"/>
            <a:ext cx="1173018" cy="3509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DD342A-93EE-F3C0-F147-61248F0F8008}"/>
              </a:ext>
            </a:extLst>
          </p:cNvPr>
          <p:cNvSpPr/>
          <p:nvPr/>
        </p:nvSpPr>
        <p:spPr>
          <a:xfrm>
            <a:off x="3999344" y="1557431"/>
            <a:ext cx="1034473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7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79D4-7395-1E79-D58A-9B81DAC4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71F979-7BBF-679C-68A8-5A44D3B94793}"/>
              </a:ext>
            </a:extLst>
          </p:cNvPr>
          <p:cNvSpPr txBox="1">
            <a:spLocks/>
          </p:cNvSpPr>
          <p:nvPr/>
        </p:nvSpPr>
        <p:spPr>
          <a:xfrm>
            <a:off x="838200" y="5902036"/>
            <a:ext cx="10515600" cy="7361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 mean of Age, Study Hours and Score are </a:t>
            </a:r>
            <a:r>
              <a:rPr lang="en-GB" b="1" dirty="0"/>
              <a:t>19.2, 8.2 </a:t>
            </a:r>
            <a:r>
              <a:rPr lang="en-GB" dirty="0"/>
              <a:t>and</a:t>
            </a:r>
            <a:r>
              <a:rPr lang="en-GB" b="1" dirty="0"/>
              <a:t> 69.8 </a:t>
            </a:r>
            <a:r>
              <a:rPr lang="en-GB" dirty="0"/>
              <a:t>respectively.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71C5F0-1D39-F82C-FBA1-5824F6755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BA6D5C-E7BF-122B-25D4-5CF96BAAD12B}"/>
              </a:ext>
            </a:extLst>
          </p:cNvPr>
          <p:cNvSpPr/>
          <p:nvPr/>
        </p:nvSpPr>
        <p:spPr>
          <a:xfrm>
            <a:off x="6912078" y="2762057"/>
            <a:ext cx="4587195" cy="3509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1098F1-4632-0403-9B2E-B45227FCC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115599"/>
              </p:ext>
            </p:extLst>
          </p:nvPr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90CE3DA-5BC2-B778-F0B9-87A051404B9B}"/>
              </a:ext>
            </a:extLst>
          </p:cNvPr>
          <p:cNvSpPr/>
          <p:nvPr/>
        </p:nvSpPr>
        <p:spPr>
          <a:xfrm>
            <a:off x="1890944" y="1557431"/>
            <a:ext cx="3158134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62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539A-FC22-BDF7-425F-30B0A131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C4E3F7-7AF3-DB75-8FD8-2E4BE1984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875090"/>
              </p:ext>
            </p:extLst>
          </p:nvPr>
        </p:nvGraphicFramePr>
        <p:xfrm>
          <a:off x="2031999" y="2548054"/>
          <a:ext cx="8128000" cy="3413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67638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2122417"/>
                    </a:ext>
                  </a:extLst>
                </a:gridCol>
              </a:tblGrid>
              <a:tr h="260225">
                <a:tc>
                  <a:txBody>
                    <a:bodyPr/>
                    <a:lstStyle/>
                    <a:p>
                      <a:pPr algn="ctr"/>
                      <a:r>
                        <a:rPr lang="en-PH" sz="2400" dirty="0">
                          <a:solidFill>
                            <a:srgbClr val="00B0F0"/>
                          </a:solidFill>
                        </a:rPr>
                        <a:t>Measure</a:t>
                      </a:r>
                      <a:endParaRPr lang="en-US" sz="24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rgbClr val="00B0F0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069008"/>
                  </a:ext>
                </a:extLst>
              </a:tr>
              <a:tr h="88476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Calculate the difference between the highest and lowest scores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981369"/>
                  </a:ext>
                </a:extLst>
              </a:tr>
              <a:tr h="6765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Calculate the average of the squared differences from the mean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944886"/>
                  </a:ext>
                </a:extLst>
              </a:tr>
              <a:tr h="46840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Take the square root of the variance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77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42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42E055-4F5E-74FB-3905-2CC5BC6B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8D4D2-670F-706E-D699-4CBBD880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2C5B55-C895-E543-69AB-8100A617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926171"/>
              </p:ext>
            </p:extLst>
          </p:nvPr>
        </p:nvGraphicFramePr>
        <p:xfrm>
          <a:off x="2031999" y="2548054"/>
          <a:ext cx="8128000" cy="3413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67638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2122417"/>
                    </a:ext>
                  </a:extLst>
                </a:gridCol>
              </a:tblGrid>
              <a:tr h="260225">
                <a:tc>
                  <a:txBody>
                    <a:bodyPr/>
                    <a:lstStyle/>
                    <a:p>
                      <a:pPr algn="ctr"/>
                      <a:r>
                        <a:rPr lang="en-PH" sz="2400" dirty="0">
                          <a:solidFill>
                            <a:srgbClr val="00B0F0"/>
                          </a:solidFill>
                        </a:rPr>
                        <a:t>Measure</a:t>
                      </a:r>
                      <a:endParaRPr lang="en-US" sz="24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rgbClr val="00B0F0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069008"/>
                  </a:ext>
                </a:extLst>
              </a:tr>
              <a:tr h="88476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Calculate the difference between the highest and lowest scores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981369"/>
                  </a:ext>
                </a:extLst>
              </a:tr>
              <a:tr h="6765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Calculate the average of the squared differences from the mean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944886"/>
                  </a:ext>
                </a:extLst>
              </a:tr>
              <a:tr h="46840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Tells you how spread out the values are from the mean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77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934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A84A-44D4-66E5-8938-741D6C01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04E0D-1E80-2F5B-9047-F446FD974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Refers to the spread or variability of data points in a dataset.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It measures how much data values differ from each other and from a central point like the mean. Common measures of dispersion include the </a:t>
            </a:r>
            <a:r>
              <a:rPr lang="en-PH" b="1" dirty="0"/>
              <a:t>range</a:t>
            </a:r>
            <a:r>
              <a:rPr lang="en-PH" dirty="0"/>
              <a:t>, </a:t>
            </a:r>
            <a:r>
              <a:rPr lang="en-PH" b="1" dirty="0"/>
              <a:t>variance</a:t>
            </a:r>
            <a:r>
              <a:rPr lang="en-PH" dirty="0"/>
              <a:t>, </a:t>
            </a:r>
            <a:r>
              <a:rPr lang="en-PH" b="1" dirty="0"/>
              <a:t>standard deviation</a:t>
            </a:r>
            <a:r>
              <a:rPr lang="en-PH" dirty="0"/>
              <a:t>, and </a:t>
            </a:r>
            <a:r>
              <a:rPr lang="en-PH" b="1" dirty="0"/>
              <a:t>interquartile range</a:t>
            </a:r>
            <a:r>
              <a:rPr lang="en-PH" dirty="0"/>
              <a:t>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411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4FF8-EDC6-4176-4EBE-7075F869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1906-93AF-8180-A93C-479AFFDD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3837E-9B5F-89DB-9D3C-6773F972C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995532"/>
              </p:ext>
            </p:extLst>
          </p:nvPr>
        </p:nvGraphicFramePr>
        <p:xfrm>
          <a:off x="2031999" y="2548054"/>
          <a:ext cx="8128000" cy="36696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67638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2122417"/>
                    </a:ext>
                  </a:extLst>
                </a:gridCol>
              </a:tblGrid>
              <a:tr h="260225">
                <a:tc>
                  <a:txBody>
                    <a:bodyPr/>
                    <a:lstStyle/>
                    <a:p>
                      <a:pPr algn="ctr"/>
                      <a:r>
                        <a:rPr lang="en-PH" sz="2400" dirty="0">
                          <a:solidFill>
                            <a:srgbClr val="00B0F0"/>
                          </a:solidFill>
                        </a:rPr>
                        <a:t>Measure</a:t>
                      </a:r>
                      <a:endParaRPr lang="en-US" sz="24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rgbClr val="00B0F0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069008"/>
                  </a:ext>
                </a:extLst>
              </a:tr>
              <a:tr h="88476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The difference between the highest and lowest scores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981369"/>
                  </a:ext>
                </a:extLst>
              </a:tr>
              <a:tr h="6765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measure of how far a set of numbers are spread out from their average value.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944886"/>
                  </a:ext>
                </a:extLst>
              </a:tr>
              <a:tr h="46840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dirty="0"/>
                        <a:t>The square root of the </a:t>
                      </a:r>
                      <a:r>
                        <a:rPr lang="en-PH" sz="2200" b="1" dirty="0"/>
                        <a:t>Variance.</a:t>
                      </a:r>
                      <a:endParaRPr lang="en-US" sz="2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773901"/>
                  </a:ext>
                </a:extLst>
              </a:tr>
              <a:tr h="46840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Interquartile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Tells us how tightly the middle half of the data is packed.</a:t>
                      </a:r>
                      <a:endParaRPr lang="en-US" sz="2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926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728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DDA9D-7D70-A072-B3DE-D5C4BDCA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49A5CB-C33D-A7BD-BB34-BC6FF8D0B016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Ages range 17 to 22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D8A6B1-1F25-6596-FB92-BB0C7A09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920327-CCE5-007C-B962-AD25B9FE89F2}"/>
              </a:ext>
            </a:extLst>
          </p:cNvPr>
          <p:cNvSpPr/>
          <p:nvPr/>
        </p:nvSpPr>
        <p:spPr>
          <a:xfrm>
            <a:off x="7052497" y="3493116"/>
            <a:ext cx="1888304" cy="30302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21DBC7-30B7-87B6-3B46-2CCE666A71A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91F7B47D-22E2-D2FE-6C7A-07C1DC8E9897}"/>
              </a:ext>
            </a:extLst>
          </p:cNvPr>
          <p:cNvSpPr/>
          <p:nvPr/>
        </p:nvSpPr>
        <p:spPr>
          <a:xfrm>
            <a:off x="7052496" y="4855480"/>
            <a:ext cx="1888304" cy="3030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A0E5F4-7A96-33F3-24E1-E2818735F225}"/>
              </a:ext>
            </a:extLst>
          </p:cNvPr>
          <p:cNvSpPr/>
          <p:nvPr/>
        </p:nvSpPr>
        <p:spPr>
          <a:xfrm>
            <a:off x="1900883" y="1557431"/>
            <a:ext cx="1031160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27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F063-9124-6367-C84A-0D619446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5C8B92-B6DE-3FAC-4B77-7815434BC1BA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Study hours range 2 to 15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1046A5-3264-B6EB-B313-FABA7EA3F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6A9D435-9027-E7EB-AB62-FFBA57B1A2E0}"/>
              </a:ext>
            </a:extLst>
          </p:cNvPr>
          <p:cNvSpPr/>
          <p:nvPr/>
        </p:nvSpPr>
        <p:spPr>
          <a:xfrm>
            <a:off x="9158388" y="3493116"/>
            <a:ext cx="1093977" cy="30302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58AD2C-4386-440C-240D-6122F04CC69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9F9CD3C0-05CA-73E5-3D75-F3786EDB1D3D}"/>
              </a:ext>
            </a:extLst>
          </p:cNvPr>
          <p:cNvSpPr/>
          <p:nvPr/>
        </p:nvSpPr>
        <p:spPr>
          <a:xfrm>
            <a:off x="9158387" y="4855480"/>
            <a:ext cx="1093977" cy="3030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3DDB37-067A-0E00-6A66-131930E71AB3}"/>
              </a:ext>
            </a:extLst>
          </p:cNvPr>
          <p:cNvSpPr/>
          <p:nvPr/>
        </p:nvSpPr>
        <p:spPr>
          <a:xfrm>
            <a:off x="2951520" y="1557431"/>
            <a:ext cx="1031160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52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5C87-2C59-48A2-6C48-05F66A08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3E895B-8C52-C880-043E-BC2B59FAC9BE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Scores range 45 to 90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48B023-281A-80B4-8FE4-91FD07F45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A630DD-36DC-4E4E-CA9D-1B90BA70C13B}"/>
              </a:ext>
            </a:extLst>
          </p:cNvPr>
          <p:cNvSpPr/>
          <p:nvPr/>
        </p:nvSpPr>
        <p:spPr>
          <a:xfrm>
            <a:off x="10368352" y="3493116"/>
            <a:ext cx="1093977" cy="30302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C393E3-035D-B0CC-4F71-CE400DCA430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4CF36A1-4AF9-5515-AE86-142477AF58E6}"/>
              </a:ext>
            </a:extLst>
          </p:cNvPr>
          <p:cNvSpPr/>
          <p:nvPr/>
        </p:nvSpPr>
        <p:spPr>
          <a:xfrm>
            <a:off x="10368351" y="4855480"/>
            <a:ext cx="1093977" cy="3030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BDCC96-B511-84AB-7898-FA9045794BE6}"/>
              </a:ext>
            </a:extLst>
          </p:cNvPr>
          <p:cNvSpPr/>
          <p:nvPr/>
        </p:nvSpPr>
        <p:spPr>
          <a:xfrm>
            <a:off x="3998040" y="1557431"/>
            <a:ext cx="1031160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6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8FCC7-96E5-D2FC-FCE1-18FFC96B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4B7356-5469-2081-B2FE-3F46932761AF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percentile tells you the value below which a certain percentage of the data falls. 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7319D0-14EA-6B81-DD80-337B701E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269EAE-CB96-D474-08B5-67AD62D29CAD}"/>
              </a:ext>
            </a:extLst>
          </p:cNvPr>
          <p:cNvSpPr/>
          <p:nvPr/>
        </p:nvSpPr>
        <p:spPr>
          <a:xfrm>
            <a:off x="6973456" y="3825625"/>
            <a:ext cx="4525818" cy="97728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51591E-0202-5596-9E6D-EF4720811E7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C3361E1-2693-67EB-B5B5-9CBE0A31A3D4}"/>
              </a:ext>
            </a:extLst>
          </p:cNvPr>
          <p:cNvSpPr/>
          <p:nvPr/>
        </p:nvSpPr>
        <p:spPr>
          <a:xfrm>
            <a:off x="1902691" y="1557431"/>
            <a:ext cx="3126509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76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72F0-FCAF-BCA8-30C1-87EF08DA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2CA9B9-3A73-018A-BC71-744411A4AD84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Percentiles help you understand how data is spread out.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C617A0-211D-E0CC-1F08-37DED0FF1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696C80-C2C6-7632-167B-8CBBAF61402B}"/>
              </a:ext>
            </a:extLst>
          </p:cNvPr>
          <p:cNvSpPr/>
          <p:nvPr/>
        </p:nvSpPr>
        <p:spPr>
          <a:xfrm>
            <a:off x="6973456" y="3825625"/>
            <a:ext cx="4525818" cy="97728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B465A0-4B0D-1840-E390-BB9692625AC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960BD62-FC60-55EE-056E-E2FEFC18A705}"/>
              </a:ext>
            </a:extLst>
          </p:cNvPr>
          <p:cNvSpPr/>
          <p:nvPr/>
        </p:nvSpPr>
        <p:spPr>
          <a:xfrm>
            <a:off x="1884218" y="1557431"/>
            <a:ext cx="3144982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00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34DF-FAD2-92BB-0D7C-FB901D11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435402-6EFE-0935-4613-306748C124C9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25th percentile means 25% of the values are below this number.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CABCFC-D8CC-4B23-350C-EF4A5233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6E8839-70E6-679B-A77E-3D5D04F3230B}"/>
              </a:ext>
            </a:extLst>
          </p:cNvPr>
          <p:cNvSpPr/>
          <p:nvPr/>
        </p:nvSpPr>
        <p:spPr>
          <a:xfrm>
            <a:off x="6973455" y="3825625"/>
            <a:ext cx="4507345" cy="32150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4F34F3-7043-075C-8C6D-9B26C5B5EC4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C69EDA5-A3E4-771F-CB14-270B5626CBBD}"/>
              </a:ext>
            </a:extLst>
          </p:cNvPr>
          <p:cNvSpPr/>
          <p:nvPr/>
        </p:nvSpPr>
        <p:spPr>
          <a:xfrm>
            <a:off x="1884218" y="1557431"/>
            <a:ext cx="3144982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36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9545-9571-7FFB-281C-3DB4B2AE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C9CE3C-2A3A-70EE-F376-D0CADA644A5E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50th percentile (median) means half of the data is below this number.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3D5577-E8A8-E39B-4FED-1C72CE0B9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D0B007-9F67-3895-E79A-CFC12E7F7EB0}"/>
              </a:ext>
            </a:extLst>
          </p:cNvPr>
          <p:cNvSpPr/>
          <p:nvPr/>
        </p:nvSpPr>
        <p:spPr>
          <a:xfrm>
            <a:off x="6973456" y="4148898"/>
            <a:ext cx="4516580" cy="32150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873B81-7FDF-9C15-8B1D-726782DFF8D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AE3BDBC-D966-7C8D-A037-F1C2FACF673A}"/>
              </a:ext>
            </a:extLst>
          </p:cNvPr>
          <p:cNvSpPr/>
          <p:nvPr/>
        </p:nvSpPr>
        <p:spPr>
          <a:xfrm>
            <a:off x="1884218" y="1557431"/>
            <a:ext cx="3144982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40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F124-817A-7BBE-24EB-FE2DD18F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758432-2B85-2600-5CD7-70702199C62E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75th percentile means 75% of the values are below this number.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61E9B6-D6C2-C329-23B4-6442BAAF0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981833-BF11-FE65-95FE-FA68004610AF}"/>
              </a:ext>
            </a:extLst>
          </p:cNvPr>
          <p:cNvSpPr/>
          <p:nvPr/>
        </p:nvSpPr>
        <p:spPr>
          <a:xfrm>
            <a:off x="6973455" y="4518352"/>
            <a:ext cx="4599347" cy="32150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390670-61A2-27D8-8E45-49673ACEDE5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B657684-9BCB-9029-7BA1-EF41B4968356}"/>
              </a:ext>
            </a:extLst>
          </p:cNvPr>
          <p:cNvSpPr/>
          <p:nvPr/>
        </p:nvSpPr>
        <p:spPr>
          <a:xfrm>
            <a:off x="1884218" y="1557431"/>
            <a:ext cx="3144982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87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A857-6B7E-3241-BD0F-1A6BA4B7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6568499-347C-8B96-FC0B-D69B35E7A49A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If we choose Score and look closely at its percentiles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61B0CA-4812-3C5B-7FF9-CB38FF0EE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7C8634-7982-8106-ECA5-6CA0841BB4CF}"/>
              </a:ext>
            </a:extLst>
          </p:cNvPr>
          <p:cNvSpPr/>
          <p:nvPr/>
        </p:nvSpPr>
        <p:spPr>
          <a:xfrm>
            <a:off x="10317018" y="3786909"/>
            <a:ext cx="1182255" cy="105294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988DA0-A219-56B3-AF0C-3AC4889FF51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5283924-429C-E08D-35CC-7223F29EE9F9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09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4D5E-A3E0-5EE7-1A9C-E8C485DC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68D88A-F31E-43BD-FD74-FB81506AAFD2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459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We can see that the 25</a:t>
            </a:r>
            <a:r>
              <a:rPr lang="en-US" baseline="30000" dirty="0"/>
              <a:t>th</a:t>
            </a:r>
            <a:r>
              <a:rPr lang="en-US" dirty="0"/>
              <a:t>  percentile is </a:t>
            </a:r>
            <a:r>
              <a:rPr lang="en-US" b="1" dirty="0"/>
              <a:t>56.25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BDB9AF-0783-CAFB-DD7F-89E8FC1C9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82A868A-833D-0191-2F4F-BF695F1F89EC}"/>
              </a:ext>
            </a:extLst>
          </p:cNvPr>
          <p:cNvSpPr/>
          <p:nvPr/>
        </p:nvSpPr>
        <p:spPr>
          <a:xfrm>
            <a:off x="10317018" y="3786910"/>
            <a:ext cx="1182255" cy="360218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92E2B5-DA4F-417A-B0B4-F3041B85F64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A6BC386-9BDC-3683-3AB0-D1C1DB2C2A9F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33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E580-37EA-5665-F26F-37C212BD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2B3123-DB4A-BB7A-E9F2-EB41045C6F6E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If we sorted the scores from lowest to highest, </a:t>
            </a:r>
            <a:r>
              <a:rPr lang="en-US" b="1" dirty="0"/>
              <a:t>56.25 </a:t>
            </a:r>
            <a:r>
              <a:rPr lang="en-US" dirty="0"/>
              <a:t>is between the 2</a:t>
            </a:r>
            <a:r>
              <a:rPr lang="en-US" baseline="30000" dirty="0"/>
              <a:t>nd</a:t>
            </a:r>
            <a:r>
              <a:rPr lang="en-US" dirty="0"/>
              <a:t> and 3</a:t>
            </a:r>
            <a:r>
              <a:rPr lang="en-US" baseline="30000" dirty="0"/>
              <a:t>rd</a:t>
            </a:r>
            <a:r>
              <a:rPr lang="en-US" dirty="0"/>
              <a:t> value</a:t>
            </a:r>
            <a:endParaRPr lang="en-US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E0A291-9C1C-A10B-D4C4-8C53F4E97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78664A1-AB04-314E-49C5-DCC468B093A1}"/>
              </a:ext>
            </a:extLst>
          </p:cNvPr>
          <p:cNvSpPr/>
          <p:nvPr/>
        </p:nvSpPr>
        <p:spPr>
          <a:xfrm>
            <a:off x="10317018" y="3786910"/>
            <a:ext cx="1182255" cy="360218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499A1-2748-420D-EE32-4F603D9CAC4B}"/>
              </a:ext>
            </a:extLst>
          </p:cNvPr>
          <p:cNvSpPr txBox="1"/>
          <p:nvPr/>
        </p:nvSpPr>
        <p:spPr>
          <a:xfrm>
            <a:off x="323273" y="2902350"/>
            <a:ext cx="59389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45, </a:t>
            </a:r>
            <a:r>
              <a:rPr lang="en-US" sz="3000" b="1" dirty="0">
                <a:solidFill>
                  <a:srgbClr val="00B050"/>
                </a:solidFill>
              </a:rPr>
              <a:t>50, 55</a:t>
            </a:r>
            <a:r>
              <a:rPr lang="en-US" sz="3000" dirty="0"/>
              <a:t>, 60, 65, 78, 82, 85, 88, 90</a:t>
            </a:r>
          </a:p>
        </p:txBody>
      </p:sp>
    </p:spTree>
    <p:extLst>
      <p:ext uri="{BB962C8B-B14F-4D97-AF65-F5344CB8AC3E}">
        <p14:creationId xmlns:p14="http://schemas.microsoft.com/office/powerpoint/2010/main" val="4144543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DE5B-202C-E4BF-EE46-324C7DF94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43ABBC-D836-4EDA-B8B8-DD62967A54FE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Which means that 25 percent of the values in Score is below this number.</a:t>
            </a:r>
            <a:endParaRPr lang="en-US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45BAF4-037C-C712-5B6B-6BD2B4BD8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65B225-3294-C583-CB78-FECAB29FD9A5}"/>
              </a:ext>
            </a:extLst>
          </p:cNvPr>
          <p:cNvSpPr/>
          <p:nvPr/>
        </p:nvSpPr>
        <p:spPr>
          <a:xfrm>
            <a:off x="10317018" y="3786909"/>
            <a:ext cx="1182255" cy="37869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70FDB-AC02-4AD2-9FCE-0F714A96C45D}"/>
              </a:ext>
            </a:extLst>
          </p:cNvPr>
          <p:cNvSpPr txBox="1"/>
          <p:nvPr/>
        </p:nvSpPr>
        <p:spPr>
          <a:xfrm>
            <a:off x="323273" y="2902350"/>
            <a:ext cx="59389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45, </a:t>
            </a:r>
            <a:r>
              <a:rPr lang="en-US" sz="3000" b="1" dirty="0">
                <a:solidFill>
                  <a:srgbClr val="00B050"/>
                </a:solidFill>
              </a:rPr>
              <a:t>50, 55</a:t>
            </a:r>
            <a:r>
              <a:rPr lang="en-US" sz="3000" dirty="0"/>
              <a:t>, 60, 65, 78, 82, 85, 88, 90</a:t>
            </a:r>
          </a:p>
        </p:txBody>
      </p:sp>
    </p:spTree>
    <p:extLst>
      <p:ext uri="{BB962C8B-B14F-4D97-AF65-F5344CB8AC3E}">
        <p14:creationId xmlns:p14="http://schemas.microsoft.com/office/powerpoint/2010/main" val="279000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CE00F-5927-A4E7-C687-0CBB03E9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6D6AB0-2259-FC8B-FDF0-C446EFDA6C90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Next, we can see that the 50</a:t>
            </a:r>
            <a:r>
              <a:rPr lang="en-US" baseline="30000" dirty="0"/>
              <a:t>th</a:t>
            </a:r>
            <a:r>
              <a:rPr lang="en-US" dirty="0"/>
              <a:t> percentile for Score is </a:t>
            </a:r>
            <a:r>
              <a:rPr lang="en-US" b="1" dirty="0"/>
              <a:t>71.5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B6E650-CE86-CB22-EA3B-EF51338D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F9A375-5820-3592-0329-B8E249712E8F}"/>
              </a:ext>
            </a:extLst>
          </p:cNvPr>
          <p:cNvSpPr/>
          <p:nvPr/>
        </p:nvSpPr>
        <p:spPr>
          <a:xfrm>
            <a:off x="10317018" y="4119418"/>
            <a:ext cx="1182255" cy="37869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CA45E-CDB8-E117-7604-29F325705015}"/>
              </a:ext>
            </a:extLst>
          </p:cNvPr>
          <p:cNvSpPr txBox="1"/>
          <p:nvPr/>
        </p:nvSpPr>
        <p:spPr>
          <a:xfrm>
            <a:off x="323273" y="2902350"/>
            <a:ext cx="59389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45, 50, 55, 60, </a:t>
            </a:r>
            <a:r>
              <a:rPr lang="en-US" sz="3000" b="1" dirty="0">
                <a:solidFill>
                  <a:srgbClr val="00B050"/>
                </a:solidFill>
              </a:rPr>
              <a:t>65, 78</a:t>
            </a:r>
            <a:r>
              <a:rPr lang="en-US" sz="3000" dirty="0"/>
              <a:t>, 82, 85, 88, 90</a:t>
            </a:r>
          </a:p>
        </p:txBody>
      </p:sp>
    </p:spTree>
    <p:extLst>
      <p:ext uri="{BB962C8B-B14F-4D97-AF65-F5344CB8AC3E}">
        <p14:creationId xmlns:p14="http://schemas.microsoft.com/office/powerpoint/2010/main" val="4049406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9E49-DFA8-DD97-160E-3FC2759E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6F0DE2-3D32-8A42-FF5E-A4EA2FA02434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This means that 50 percent of the data in Score is below </a:t>
            </a:r>
            <a:r>
              <a:rPr lang="en-US" b="1" dirty="0"/>
              <a:t>71.5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AD0510-B096-DC32-EC9F-618704A85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E364676-3C8D-B5D6-20C7-7AB05D7F200E}"/>
              </a:ext>
            </a:extLst>
          </p:cNvPr>
          <p:cNvSpPr/>
          <p:nvPr/>
        </p:nvSpPr>
        <p:spPr>
          <a:xfrm>
            <a:off x="10317018" y="4119418"/>
            <a:ext cx="1182255" cy="37869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3E625-3A6A-495D-186A-7EAA775B91B8}"/>
              </a:ext>
            </a:extLst>
          </p:cNvPr>
          <p:cNvSpPr txBox="1"/>
          <p:nvPr/>
        </p:nvSpPr>
        <p:spPr>
          <a:xfrm>
            <a:off x="323273" y="2902350"/>
            <a:ext cx="59389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45, 50, 55, 60, </a:t>
            </a:r>
            <a:r>
              <a:rPr lang="en-US" sz="3000" b="1" dirty="0">
                <a:solidFill>
                  <a:srgbClr val="00B050"/>
                </a:solidFill>
              </a:rPr>
              <a:t>65, 78</a:t>
            </a:r>
            <a:r>
              <a:rPr lang="en-US" sz="3000" dirty="0"/>
              <a:t>, 82, 85, 88, 90</a:t>
            </a:r>
          </a:p>
        </p:txBody>
      </p:sp>
    </p:spTree>
    <p:extLst>
      <p:ext uri="{BB962C8B-B14F-4D97-AF65-F5344CB8AC3E}">
        <p14:creationId xmlns:p14="http://schemas.microsoft.com/office/powerpoint/2010/main" val="2482123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F408-5D1D-CF90-33F2-541CF346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97B6B-6701-4C50-7B08-6407E5CEC9F1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Finally, the 75</a:t>
            </a:r>
            <a:r>
              <a:rPr lang="en-US" baseline="30000" dirty="0"/>
              <a:t>th</a:t>
            </a:r>
            <a:r>
              <a:rPr lang="en-US" dirty="0"/>
              <a:t> percentile is 84.2 which means that 75% of the values in Score is below 84.2 </a:t>
            </a:r>
            <a:endParaRPr lang="en-US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A8D016-978E-DCA0-5A1F-2160D8B0E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3" y="927255"/>
            <a:ext cx="4881600" cy="4319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8900D0F-B304-C746-9152-BD98AD03145E}"/>
              </a:ext>
            </a:extLst>
          </p:cNvPr>
          <p:cNvSpPr/>
          <p:nvPr/>
        </p:nvSpPr>
        <p:spPr>
          <a:xfrm>
            <a:off x="10317018" y="4489846"/>
            <a:ext cx="1182255" cy="37869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D060E-A23B-CE49-A9A3-F4F4103D7477}"/>
              </a:ext>
            </a:extLst>
          </p:cNvPr>
          <p:cNvSpPr txBox="1"/>
          <p:nvPr/>
        </p:nvSpPr>
        <p:spPr>
          <a:xfrm>
            <a:off x="323273" y="2902350"/>
            <a:ext cx="59389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45, 50, 55, 60, 65, 78, </a:t>
            </a:r>
            <a:r>
              <a:rPr lang="en-US" sz="3000" b="1" dirty="0">
                <a:solidFill>
                  <a:srgbClr val="00B050"/>
                </a:solidFill>
              </a:rPr>
              <a:t>82, 85</a:t>
            </a:r>
            <a:r>
              <a:rPr lang="en-US" sz="3000" dirty="0"/>
              <a:t>, 88, 90</a:t>
            </a:r>
          </a:p>
        </p:txBody>
      </p:sp>
    </p:spTree>
    <p:extLst>
      <p:ext uri="{BB962C8B-B14F-4D97-AF65-F5344CB8AC3E}">
        <p14:creationId xmlns:p14="http://schemas.microsoft.com/office/powerpoint/2010/main" val="1075499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629126-4835-DC00-FA7B-B98264523A77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Variance does not appear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.describe()</a:t>
            </a:r>
            <a:r>
              <a:rPr lang="en-US" dirty="0"/>
              <a:t> but we can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.var() </a:t>
            </a:r>
            <a:r>
              <a:rPr lang="en-US" dirty="0"/>
              <a:t>to see the variance for a certain column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26DA18-0543-77AB-5C20-3448E53D464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4712EFC-8CAC-98A9-5FEA-8BA40C3E536E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BC1DF1C-F10F-C060-AE75-338F72564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355" y="927255"/>
            <a:ext cx="3922105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37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262A-F4A5-A039-E5D6-5715FF58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of the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F3243-F20A-75CE-7FFD-3789B3236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reviewing a dataset, it is important if the samples are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normally distributed.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Knowing whether a sample is normally distributed is important because many statistical methods, tests, and models assume normality. If the data is not normal, the results of those methods may be </a:t>
            </a:r>
            <a:r>
              <a:rPr lang="en-US" b="1" dirty="0">
                <a:solidFill>
                  <a:srgbClr val="FF0000"/>
                </a:solidFill>
              </a:rPr>
              <a:t>invalid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misleading</a:t>
            </a:r>
            <a:r>
              <a:rPr lang="en-US" dirty="0"/>
              <a:t>, or</a:t>
            </a:r>
            <a:r>
              <a:rPr lang="en-US" b="1" dirty="0">
                <a:solidFill>
                  <a:srgbClr val="FF0000"/>
                </a:solidFill>
              </a:rPr>
              <a:t> less powerful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7125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92BD-2EA2-9263-C28F-F4F1E0F7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1C38-8E11-A42E-FB41-04567634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of the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0192-218E-0FDF-E8FB-894168E6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676960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normal distribution has a </a:t>
            </a:r>
            <a:r>
              <a:rPr lang="en-US" b="1" dirty="0"/>
              <a:t>bell-shaped density curve </a:t>
            </a:r>
            <a:r>
              <a:rPr lang="en-US" dirty="0"/>
              <a:t>described by its mean and standard deviation 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density curve is </a:t>
            </a:r>
            <a:r>
              <a:rPr lang="en-US" b="1" dirty="0">
                <a:solidFill>
                  <a:srgbClr val="0070C0"/>
                </a:solidFill>
              </a:rPr>
              <a:t>symmetrical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</a:rPr>
              <a:t>centered about its mean</a:t>
            </a:r>
            <a:r>
              <a:rPr lang="en-US" dirty="0"/>
              <a:t>, with its spread determined by its standard deviation. </a:t>
            </a:r>
            <a:endParaRPr lang="en-PH" dirty="0"/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1D9DC2E-ECCF-4168-765B-534EAC9F5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2292" y="2286869"/>
            <a:ext cx="4519708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5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ey Properties of the Normal distribution | CFA Level 1 - AnalystPrep">
            <a:extLst>
              <a:ext uri="{FF2B5EF4-FFF2-40B4-BE49-F238E27FC236}">
                <a16:creationId xmlns:a16="http://schemas.microsoft.com/office/drawing/2014/main" id="{BC6E6A35-32B8-33F7-326A-4A0F41ACA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780" y="279510"/>
            <a:ext cx="8453595" cy="615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9588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E93DC6-5B8F-1449-D7F3-63821F8194B7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 dirty="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7D23E-7008-F116-BA75-9BB6B0E0B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3" y="25442"/>
            <a:ext cx="3915625" cy="3004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A073BE-EE9F-5D89-0761-4E51DAE39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416" y="261696"/>
            <a:ext cx="4205287" cy="27650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F13E70-7730-98E1-F5C7-66619449D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18787"/>
            <a:ext cx="5884733" cy="272556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66B8E41-C92E-FC67-0D6C-143880044A5E}"/>
              </a:ext>
            </a:extLst>
          </p:cNvPr>
          <p:cNvSpPr/>
          <p:nvPr/>
        </p:nvSpPr>
        <p:spPr>
          <a:xfrm>
            <a:off x="101393" y="3148236"/>
            <a:ext cx="31264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 is a histogram of the heights, in inches, of </a:t>
            </a:r>
            <a:r>
              <a:rPr lang="en-US" b="1" dirty="0"/>
              <a:t>5 students</a:t>
            </a:r>
            <a:r>
              <a:rPr lang="en-US" dirty="0"/>
              <a:t>. With so few students, the data are unlikely to closely resemble the normal curve that we would see for an entire population of heights.</a:t>
            </a:r>
            <a:endParaRPr lang="en-P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999888-4D02-9497-69D7-EB699CDFE7CE}"/>
              </a:ext>
            </a:extLst>
          </p:cNvPr>
          <p:cNvSpPr/>
          <p:nvPr/>
        </p:nvSpPr>
        <p:spPr>
          <a:xfrm>
            <a:off x="8582024" y="157223"/>
            <a:ext cx="26003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 is a histogram of the heights, in inches, of </a:t>
            </a:r>
            <a:r>
              <a:rPr lang="en-US" b="1" dirty="0"/>
              <a:t>30 students</a:t>
            </a:r>
            <a:r>
              <a:rPr lang="en-US" dirty="0"/>
              <a:t>. With a larger sample, the data begin to resemble the normal curve of an entire population of heights.</a:t>
            </a:r>
            <a:endParaRPr lang="en-PH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42678F-13C1-5656-7BD4-936BD64BFEE5}"/>
              </a:ext>
            </a:extLst>
          </p:cNvPr>
          <p:cNvSpPr/>
          <p:nvPr/>
        </p:nvSpPr>
        <p:spPr>
          <a:xfrm>
            <a:off x="3450982" y="4025399"/>
            <a:ext cx="2819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Here is a histogram of the heights, in inches, of </a:t>
            </a:r>
            <a:r>
              <a:rPr lang="en-US" b="1" dirty="0"/>
              <a:t>140 students.</a:t>
            </a:r>
            <a:r>
              <a:rPr lang="en-US" dirty="0"/>
              <a:t> As the sample size increases, the shape of the distribution becomes more and more like the normal curve we would see for an entire population</a:t>
            </a:r>
            <a:endParaRPr lang="en-PH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3B46C6-7447-3F54-7000-A60D491C734A}"/>
              </a:ext>
            </a:extLst>
          </p:cNvPr>
          <p:cNvSpPr/>
          <p:nvPr/>
        </p:nvSpPr>
        <p:spPr>
          <a:xfrm>
            <a:off x="8582024" y="3026748"/>
            <a:ext cx="3398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The general rule of n ≥ </a:t>
            </a:r>
            <a:r>
              <a:rPr lang="en-US" b="1" dirty="0">
                <a:solidFill>
                  <a:srgbClr val="FF0000"/>
                </a:solidFill>
              </a:rPr>
              <a:t>30</a:t>
            </a:r>
            <a:r>
              <a:rPr lang="en-US" dirty="0">
                <a:solidFill>
                  <a:srgbClr val="FF0000"/>
                </a:solidFill>
              </a:rPr>
              <a:t> applies</a:t>
            </a:r>
            <a:endParaRPr lang="en-P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987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12CF-3774-A7D6-C253-B2D303A8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6D97-9C59-7996-BECC-B34E4AAD9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83969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type of relative frequency curve describing a population is the normal curve.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normal curve </a:t>
            </a:r>
            <a:r>
              <a:rPr lang="en-US" dirty="0"/>
              <a:t>is a symmetrical, bell-shaped curve and is illustrated on the right.</a:t>
            </a:r>
          </a:p>
          <a:p>
            <a:pPr marL="0" indent="0">
              <a:buNone/>
            </a:pPr>
            <a:r>
              <a:rPr lang="en-US" b="1" dirty="0"/>
              <a:t>If a population is described by a normal curve, we say that the population is normally distributed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3AD78-03F2-F257-B9C2-78CE4DABE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112" y="819150"/>
            <a:ext cx="481012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45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C291-CD2D-6A82-B4C6-C3D7DA2D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E17A9-65FD-D6B7-3AC1-B6D4A21E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13" y="2151932"/>
            <a:ext cx="11359173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346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28ED-9F47-BA3D-0D17-BF7E4880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34B1E-7602-6BA4-F225-A88B7F0AC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methods for quantifying the </a:t>
            </a:r>
            <a:r>
              <a:rPr lang="en-US" b="1" dirty="0"/>
              <a:t>lack of symmetry </a:t>
            </a:r>
            <a:r>
              <a:rPr lang="en-US" dirty="0"/>
              <a:t>or </a:t>
            </a:r>
            <a:r>
              <a:rPr lang="en-US" b="1" dirty="0"/>
              <a:t>skewness</a:t>
            </a:r>
            <a:endParaRPr lang="en-US" dirty="0"/>
          </a:p>
        </p:txBody>
      </p:sp>
      <p:pic>
        <p:nvPicPr>
          <p:cNvPr id="5" name="Picture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61DB0824-700C-6505-DA74-E413DB4E7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02245"/>
            <a:ext cx="7772400" cy="301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659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F9F26-C018-BF78-3677-E0CFD4EC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E84DF42-BBC6-BD86-E085-948EE1DBF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8735"/>
            <a:ext cx="10515600" cy="1849265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A skewness value of nearer </a:t>
            </a:r>
            <a:r>
              <a:rPr lang="en-US" sz="2400" b="1" dirty="0"/>
              <a:t>zero</a:t>
            </a:r>
            <a:r>
              <a:rPr lang="en-US" sz="2400" dirty="0"/>
              <a:t> indicates that the distribution is </a:t>
            </a:r>
            <a:r>
              <a:rPr lang="en-US" sz="2400" b="1" dirty="0"/>
              <a:t>symmetrical</a:t>
            </a:r>
            <a:r>
              <a:rPr lang="en-US" sz="2400" dirty="0"/>
              <a:t>. </a:t>
            </a:r>
          </a:p>
          <a:p>
            <a:r>
              <a:rPr lang="en-US" sz="2400" dirty="0"/>
              <a:t>A skewness value of </a:t>
            </a:r>
            <a:r>
              <a:rPr lang="en-US" sz="2400" b="1" dirty="0"/>
              <a:t>positive</a:t>
            </a:r>
            <a:r>
              <a:rPr lang="en-US" sz="2400" dirty="0"/>
              <a:t> indicates that the right tail is longer than the left tail. </a:t>
            </a:r>
          </a:p>
          <a:p>
            <a:r>
              <a:rPr lang="en-US" sz="2400" dirty="0"/>
              <a:t>A skewness value of </a:t>
            </a:r>
            <a:r>
              <a:rPr lang="en-US" sz="2400" b="1" dirty="0"/>
              <a:t>negative</a:t>
            </a:r>
            <a:r>
              <a:rPr lang="en-US" sz="2400" dirty="0"/>
              <a:t> indicates that the left tail is longer than the right tail.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112D8-3A5E-CC1D-F1C3-1A120B06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02" y="1977040"/>
            <a:ext cx="98583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88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9DC2-6E0C-A9EA-C770-65E94287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87F-DA10-D844-B7A1-7F48DD32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8B4E6972-AF31-1537-89BC-190E6985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8735"/>
            <a:ext cx="10515600" cy="1849265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A skewness value of nearer </a:t>
            </a:r>
            <a:r>
              <a:rPr lang="en-US" sz="2400" b="1" dirty="0"/>
              <a:t>zero</a:t>
            </a:r>
            <a:r>
              <a:rPr lang="en-US" sz="2400" dirty="0"/>
              <a:t> indicates that the distribution is </a:t>
            </a:r>
            <a:r>
              <a:rPr lang="en-US" sz="2400" b="1" dirty="0"/>
              <a:t>symmetrical</a:t>
            </a:r>
            <a:r>
              <a:rPr lang="en-US" sz="2400" dirty="0"/>
              <a:t>. </a:t>
            </a:r>
          </a:p>
          <a:p>
            <a:r>
              <a:rPr lang="en-US" sz="2400" dirty="0"/>
              <a:t>A skewness value of </a:t>
            </a:r>
            <a:r>
              <a:rPr lang="en-US" sz="2400" b="1" dirty="0"/>
              <a:t>positive</a:t>
            </a:r>
            <a:r>
              <a:rPr lang="en-US" sz="2400" dirty="0"/>
              <a:t> indicates that the right tail is longer than the left tail. </a:t>
            </a:r>
          </a:p>
          <a:p>
            <a:r>
              <a:rPr lang="en-US" sz="2400" dirty="0"/>
              <a:t>A skewness value of </a:t>
            </a:r>
            <a:r>
              <a:rPr lang="en-US" sz="2400" b="1" dirty="0"/>
              <a:t>negative</a:t>
            </a:r>
            <a:r>
              <a:rPr lang="en-US" sz="2400" dirty="0"/>
              <a:t> indicates that the left tail is longer than the right tail. </a:t>
            </a:r>
          </a:p>
        </p:txBody>
      </p:sp>
      <p:pic>
        <p:nvPicPr>
          <p:cNvPr id="3" name="Picture 2" descr="Understanding Parametric Tests, Skewness, and Kurtosis - Technical Articles">
            <a:extLst>
              <a:ext uri="{FF2B5EF4-FFF2-40B4-BE49-F238E27FC236}">
                <a16:creationId xmlns:a16="http://schemas.microsoft.com/office/drawing/2014/main" id="{67D7360A-A851-0596-3158-80C633DF4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571" y="1723373"/>
            <a:ext cx="5142857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13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2EF0-2BD4-83E5-BE28-3AAFD3B7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EDFA4FB-96EB-D571-AE3C-2592983B3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363" y="927255"/>
            <a:ext cx="4892727" cy="1800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0C8B84-6F00-08D5-E405-E8A8EFE8F74A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In pandas, we can use .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skew(). We can see that for Score, it is left skewed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4919529-CF4F-B6B7-5FCE-44B3469DE2D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78302AD-FA6C-21F9-CB3F-6C825B9EACE5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699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9976-E8B8-BE9C-7119-E3CAE767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2CAA14-388E-DD17-8D5B-6E416B52A84C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We can use .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hist()</a:t>
            </a:r>
            <a:r>
              <a:rPr lang="en-US" dirty="0"/>
              <a:t> to visualize it.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589F28-1DD4-1EF1-328A-E5BCE9EAD1B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AE57600-1462-86A3-FE6B-5D85C44A0943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blue squares&#10;&#10;AI-generated content may be incorrect.">
            <a:extLst>
              <a:ext uri="{FF2B5EF4-FFF2-40B4-BE49-F238E27FC236}">
                <a16:creationId xmlns:a16="http://schemas.microsoft.com/office/drawing/2014/main" id="{97F225E6-838D-CF2A-2734-06B2098A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44" y="1791585"/>
            <a:ext cx="5080000" cy="37719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C54DAF-27A1-FA59-76BE-49BBD05517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46" t="2036" b="43254"/>
          <a:stretch>
            <a:fillRect/>
          </a:stretch>
        </p:blipFill>
        <p:spPr>
          <a:xfrm>
            <a:off x="7139710" y="904007"/>
            <a:ext cx="2687780" cy="77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07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D501-DC7B-D195-08CD-69C57D43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B0B96F-FDAB-8E9D-3E46-A9471B6D12B0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Or use a Kernel Density Estimate plot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.plot(kind=‘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’) 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8147580-076C-C83A-DB73-55D885EF795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3941857C-9762-7B11-4D50-A8A5D4444C0F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D1EC79F2-B38C-F626-BE65-8203F4B5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844" y="1902688"/>
            <a:ext cx="5410200" cy="3771900"/>
          </a:xfrm>
          <a:prstGeom prst="rect">
            <a:avLst/>
          </a:prstGeom>
        </p:spPr>
      </p:pic>
      <p:pic>
        <p:nvPicPr>
          <p:cNvPr id="8" name="Picture 7" descr="A black background with yellow and blue text&#10;&#10;AI-generated content may be incorrect.">
            <a:extLst>
              <a:ext uri="{FF2B5EF4-FFF2-40B4-BE49-F238E27FC236}">
                <a16:creationId xmlns:a16="http://schemas.microsoft.com/office/drawing/2014/main" id="{4D0F6339-F971-AA60-2AD4-B84BFCDA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19" b="32027"/>
          <a:stretch>
            <a:fillRect/>
          </a:stretch>
        </p:blipFill>
        <p:spPr>
          <a:xfrm>
            <a:off x="7136153" y="927255"/>
            <a:ext cx="3881582" cy="63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37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C0BA-AF9C-6710-6075-3BB37A17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Kurtosis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DB23-BDF7-8B52-DDC1-2B3205531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measurement of how heavily the tails of a distribution differ from the tails of a normal distribution is also important. This measurement is defined as </a:t>
            </a:r>
            <a:r>
              <a:rPr lang="en-US" b="1" dirty="0"/>
              <a:t>kurtosis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Kurtosis identifies whether the tails of a given distribution contain </a:t>
            </a:r>
            <a:r>
              <a:rPr lang="en-US" b="1" dirty="0"/>
              <a:t>extreme values or outliers</a:t>
            </a:r>
            <a:r>
              <a:rPr lang="en-US" dirty="0"/>
              <a:t>. </a:t>
            </a:r>
            <a:r>
              <a:rPr lang="en-US" b="1" dirty="0"/>
              <a:t>The kurtosis of a normal distribution equals / approx. =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586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5225-49E1-F8B3-9D77-27E38659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6CB95-A0D4-A791-4844-8EA090295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1879"/>
            <a:ext cx="10591801" cy="2416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Kurtosis identifies whether the tails of a given distribution contain </a:t>
            </a:r>
            <a:r>
              <a:rPr lang="en-US" b="1" dirty="0"/>
              <a:t>extreme values or outliers</a:t>
            </a:r>
            <a:r>
              <a:rPr lang="en-US" dirty="0"/>
              <a:t>. </a:t>
            </a:r>
            <a:r>
              <a:rPr lang="en-US" b="1" dirty="0"/>
              <a:t>The kurtosis of a normal distribution equals / approx. = 1.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B33DB-44C7-D811-0C1E-0859D97E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448179"/>
            <a:ext cx="5905500" cy="2471759"/>
          </a:xfrm>
          <a:prstGeom prst="rect">
            <a:avLst/>
          </a:prstGeom>
        </p:spPr>
      </p:pic>
      <p:pic>
        <p:nvPicPr>
          <p:cNvPr id="5" name="Picture 2" descr="Measure of Kurtosis | Kurtosis Example | Kurtosis Applications">
            <a:extLst>
              <a:ext uri="{FF2B5EF4-FFF2-40B4-BE49-F238E27FC236}">
                <a16:creationId xmlns:a16="http://schemas.microsoft.com/office/drawing/2014/main" id="{319E92C5-BF73-0E1F-57B8-16BE59977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1352303"/>
            <a:ext cx="4114800" cy="256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576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05C2-6672-426E-0B6A-85E7FF52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1A83A-0E85-4C18-49E7-0564A73F4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1879"/>
            <a:ext cx="10591801" cy="2416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measurement of how heavily the tails of a distribution differ from the tails of a normal distribution is also important. This measurement is defined as </a:t>
            </a:r>
            <a:r>
              <a:rPr lang="en-US" b="1" dirty="0"/>
              <a:t>kurtosis</a:t>
            </a:r>
            <a:r>
              <a:rPr lang="en-US" dirty="0"/>
              <a:t>. 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B628F-7EF7-D8E9-C223-00C5D282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448179"/>
            <a:ext cx="5905500" cy="2471759"/>
          </a:xfrm>
          <a:prstGeom prst="rect">
            <a:avLst/>
          </a:prstGeom>
        </p:spPr>
      </p:pic>
      <p:pic>
        <p:nvPicPr>
          <p:cNvPr id="5" name="Picture 2" descr="Measure of Kurtosis | Kurtosis Example | Kurtosis Applications">
            <a:extLst>
              <a:ext uri="{FF2B5EF4-FFF2-40B4-BE49-F238E27FC236}">
                <a16:creationId xmlns:a16="http://schemas.microsoft.com/office/drawing/2014/main" id="{1C93573A-6D29-AA84-BEF0-C53BD8EE3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1352303"/>
            <a:ext cx="4114800" cy="256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38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1F31-076D-C20D-186D-9567D24E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F58B-FA96-644F-C76F-90C3FBE5E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1879"/>
            <a:ext cx="10591801" cy="2416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Variables with a </a:t>
            </a:r>
            <a:r>
              <a:rPr lang="en-US" b="1" dirty="0"/>
              <a:t>pronounced peak </a:t>
            </a:r>
            <a:r>
              <a:rPr lang="en-US" dirty="0"/>
              <a:t>(leptokurtic) toward the mean have a high kurtosis score (+ excess kurtosis) and </a:t>
            </a:r>
            <a:r>
              <a:rPr lang="en-US" b="1" dirty="0"/>
              <a:t>variables with a flat peak </a:t>
            </a:r>
            <a:r>
              <a:rPr lang="en-US" dirty="0"/>
              <a:t>(platykurtic) have a low kurtosis score (- excess kurtosis).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9BC07-DA92-D49F-86DD-DBC3A466D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1448179"/>
            <a:ext cx="5905500" cy="2471759"/>
          </a:xfrm>
          <a:prstGeom prst="rect">
            <a:avLst/>
          </a:prstGeom>
        </p:spPr>
      </p:pic>
      <p:pic>
        <p:nvPicPr>
          <p:cNvPr id="5" name="Picture 2" descr="Measure of Kurtosis | Kurtosis Example | Kurtosis Applications">
            <a:extLst>
              <a:ext uri="{FF2B5EF4-FFF2-40B4-BE49-F238E27FC236}">
                <a16:creationId xmlns:a16="http://schemas.microsoft.com/office/drawing/2014/main" id="{96C11017-49C7-9007-225D-D04FFCA18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1352303"/>
            <a:ext cx="4114800" cy="256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536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A5125-AEBF-75B1-83F7-FC3F0506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13B1-EAA3-80E2-8663-6FDFB14EC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1879"/>
            <a:ext cx="10591801" cy="2416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leptokurtic distribution may be prone to extreme values on either side / outliers while a platykurtic distribution often has flat tails indicating small outliers in a distribution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F68B2-8F88-9CFC-099E-23491D819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448179"/>
            <a:ext cx="5905500" cy="2471759"/>
          </a:xfrm>
          <a:prstGeom prst="rect">
            <a:avLst/>
          </a:prstGeom>
        </p:spPr>
      </p:pic>
      <p:pic>
        <p:nvPicPr>
          <p:cNvPr id="5" name="Picture 2" descr="Measure of Kurtosis | Kurtosis Example | Kurtosis Applications">
            <a:extLst>
              <a:ext uri="{FF2B5EF4-FFF2-40B4-BE49-F238E27FC236}">
                <a16:creationId xmlns:a16="http://schemas.microsoft.com/office/drawing/2014/main" id="{617B31DE-3010-AC2A-CC26-556F3F176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1352303"/>
            <a:ext cx="4114800" cy="256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481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C931-C878-1ECE-C0DF-F407B929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4733C6-26E0-0D6D-D564-872059C56BD5}"/>
              </a:ext>
            </a:extLst>
          </p:cNvPr>
          <p:cNvSpPr txBox="1">
            <a:spLocks/>
          </p:cNvSpPr>
          <p:nvPr/>
        </p:nvSpPr>
        <p:spPr>
          <a:xfrm>
            <a:off x="838200" y="5902035"/>
            <a:ext cx="10515600" cy="840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We can use 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kurt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to find the kurtosis.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70AB1CD-1605-DF2C-7573-E80B630F8D1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927255"/>
          <a:ext cx="52578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877669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618833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755099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26889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7356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Study</a:t>
                      </a:r>
                    </a:p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Hours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11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9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8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78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86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866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30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62552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AC7725B1-57B9-204B-B736-982A981C0FC2}"/>
              </a:ext>
            </a:extLst>
          </p:cNvPr>
          <p:cNvSpPr/>
          <p:nvPr/>
        </p:nvSpPr>
        <p:spPr>
          <a:xfrm>
            <a:off x="3999344" y="1557431"/>
            <a:ext cx="1029855" cy="3667504"/>
          </a:xfrm>
          <a:prstGeom prst="rect">
            <a:avLst/>
          </a:prstGeom>
          <a:solidFill>
            <a:srgbClr val="00B050">
              <a:alpha val="5012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15B22-70C4-7EF8-232E-0E00B13C3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78" y="959735"/>
            <a:ext cx="32893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2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B0E4-B8A0-8730-86CF-620A05BF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20 student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7197-FFF1-5360-E82A-49A849452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1980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500" dirty="0"/>
              <a:t>Suppose you have the following scores of 20 students on an exam:</a:t>
            </a:r>
          </a:p>
          <a:p>
            <a:endParaRPr lang="en-PH" sz="2500" dirty="0"/>
          </a:p>
          <a:p>
            <a:pPr marL="0" indent="0">
              <a:buNone/>
            </a:pPr>
            <a:r>
              <a:rPr lang="en-PH" sz="2500" dirty="0"/>
              <a:t>85, 90, 75, 92, 88, 79, 83, 95, 87, 91, 78, 86, 89, 94, 82, 80, 84, 93, 88, 81</a:t>
            </a:r>
          </a:p>
          <a:p>
            <a:endParaRPr lang="en-US" sz="25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C5F17C-52DF-D6AE-4C30-963E35ED6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352297"/>
              </p:ext>
            </p:extLst>
          </p:nvPr>
        </p:nvGraphicFramePr>
        <p:xfrm>
          <a:off x="2040237" y="4044623"/>
          <a:ext cx="812800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367638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2122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98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94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3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RANGE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903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VARIANCE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33.25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717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706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5363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D6D0-1415-577D-9BE8-AD4013C2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9A30-FA4A-A401-0622-901D5C83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8107</TotalTime>
  <Words>2708</Words>
  <Application>Microsoft Office PowerPoint</Application>
  <PresentationFormat>Widescreen</PresentationFormat>
  <Paragraphs>1253</Paragraphs>
  <Slides>56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Abadi</vt:lpstr>
      <vt:lpstr>Aptos</vt:lpstr>
      <vt:lpstr>Aptos Display</vt:lpstr>
      <vt:lpstr>Arial</vt:lpstr>
      <vt:lpstr>Calibri Body</vt:lpstr>
      <vt:lpstr>Consolas</vt:lpstr>
      <vt:lpstr>Wingdings</vt:lpstr>
      <vt:lpstr>Office Theme</vt:lpstr>
      <vt:lpstr>Introduction to Exploratory Data Analysis</vt:lpstr>
      <vt:lpstr>Outline</vt:lpstr>
      <vt:lpstr>What is Exploratory Data Analysis?</vt:lpstr>
      <vt:lpstr>Aims of Exploratory Data Analysis</vt:lpstr>
      <vt:lpstr>Exploratory vs Confirmatory</vt:lpstr>
      <vt:lpstr>Outline</vt:lpstr>
      <vt:lpstr>Descriptive Statistics</vt:lpstr>
      <vt:lpstr>Descriptive Statistics</vt:lpstr>
      <vt:lpstr>Descriptive Statistics</vt:lpstr>
      <vt:lpstr>Central Tendency</vt:lpstr>
      <vt:lpstr>Central Tendency</vt:lpstr>
      <vt:lpstr>PowerPoint Presentation</vt:lpstr>
      <vt:lpstr>PowerPoint Presentation</vt:lpstr>
      <vt:lpstr>Central Tendency</vt:lpstr>
      <vt:lpstr>PowerPoint Presentation</vt:lpstr>
      <vt:lpstr>PowerPoint Presentation</vt:lpstr>
      <vt:lpstr>Dispersion</vt:lpstr>
      <vt:lpstr>Dispersion</vt:lpstr>
      <vt:lpstr>Dispersion</vt:lpstr>
      <vt:lpstr>Dispersion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Shape of the Distribution</vt:lpstr>
      <vt:lpstr>Shape of the Distribution</vt:lpstr>
      <vt:lpstr>PowerPoint Presentation</vt:lpstr>
      <vt:lpstr>PowerPoint Presentation</vt:lpstr>
      <vt:lpstr>Empirical Rule</vt:lpstr>
      <vt:lpstr>Empirical Rule</vt:lpstr>
      <vt:lpstr>Skewness</vt:lpstr>
      <vt:lpstr>Skewness</vt:lpstr>
      <vt:lpstr>Skewness</vt:lpstr>
      <vt:lpstr>PowerPoint Presentation</vt:lpstr>
      <vt:lpstr>PowerPoint Presentation</vt:lpstr>
      <vt:lpstr>PowerPoint Presentation</vt:lpstr>
      <vt:lpstr>Kurtosis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20 student data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SLY Ponio</cp:lastModifiedBy>
  <cp:revision>884</cp:revision>
  <dcterms:created xsi:type="dcterms:W3CDTF">2024-08-08T01:29:50Z</dcterms:created>
  <dcterms:modified xsi:type="dcterms:W3CDTF">2025-12-08T05:49:40Z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