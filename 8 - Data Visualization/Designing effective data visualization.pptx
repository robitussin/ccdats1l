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7" r:id="rId2"/>
    <p:sldId id="441" r:id="rId3"/>
    <p:sldId id="529" r:id="rId4"/>
    <p:sldId id="530" r:id="rId5"/>
    <p:sldId id="558" r:id="rId6"/>
    <p:sldId id="562" r:id="rId7"/>
    <p:sldId id="563" r:id="rId8"/>
    <p:sldId id="564" r:id="rId9"/>
    <p:sldId id="560" r:id="rId10"/>
    <p:sldId id="565" r:id="rId11"/>
    <p:sldId id="566" r:id="rId12"/>
    <p:sldId id="567" r:id="rId13"/>
    <p:sldId id="561" r:id="rId14"/>
    <p:sldId id="568" r:id="rId15"/>
    <p:sldId id="569" r:id="rId16"/>
    <p:sldId id="570" r:id="rId17"/>
    <p:sldId id="531" r:id="rId18"/>
    <p:sldId id="533" r:id="rId19"/>
    <p:sldId id="534" r:id="rId20"/>
    <p:sldId id="537" r:id="rId21"/>
    <p:sldId id="538" r:id="rId22"/>
    <p:sldId id="539" r:id="rId23"/>
    <p:sldId id="541" r:id="rId24"/>
    <p:sldId id="542" r:id="rId25"/>
    <p:sldId id="543" r:id="rId26"/>
    <p:sldId id="544" r:id="rId27"/>
    <p:sldId id="545" r:id="rId28"/>
    <p:sldId id="546" r:id="rId29"/>
    <p:sldId id="554" r:id="rId30"/>
    <p:sldId id="547" r:id="rId31"/>
    <p:sldId id="548" r:id="rId32"/>
    <p:sldId id="549" r:id="rId33"/>
    <p:sldId id="555" r:id="rId34"/>
    <p:sldId id="557" r:id="rId35"/>
    <p:sldId id="550" r:id="rId36"/>
    <p:sldId id="553" r:id="rId37"/>
    <p:sldId id="551" r:id="rId38"/>
    <p:sldId id="552" r:id="rId39"/>
    <p:sldId id="556" r:id="rId40"/>
    <p:sldId id="53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E72DE6-BB83-154E-81E2-BC0DD659BA3C}">
          <p14:sldIdLst>
            <p14:sldId id="257"/>
            <p14:sldId id="441"/>
            <p14:sldId id="529"/>
            <p14:sldId id="530"/>
            <p14:sldId id="558"/>
            <p14:sldId id="562"/>
            <p14:sldId id="563"/>
            <p14:sldId id="564"/>
            <p14:sldId id="560"/>
            <p14:sldId id="565"/>
            <p14:sldId id="566"/>
            <p14:sldId id="567"/>
            <p14:sldId id="561"/>
            <p14:sldId id="568"/>
            <p14:sldId id="569"/>
            <p14:sldId id="570"/>
            <p14:sldId id="531"/>
            <p14:sldId id="533"/>
            <p14:sldId id="534"/>
            <p14:sldId id="537"/>
            <p14:sldId id="538"/>
            <p14:sldId id="539"/>
            <p14:sldId id="541"/>
            <p14:sldId id="542"/>
            <p14:sldId id="543"/>
            <p14:sldId id="544"/>
            <p14:sldId id="545"/>
            <p14:sldId id="546"/>
            <p14:sldId id="554"/>
            <p14:sldId id="547"/>
            <p14:sldId id="548"/>
            <p14:sldId id="549"/>
            <p14:sldId id="555"/>
            <p14:sldId id="557"/>
            <p14:sldId id="550"/>
            <p14:sldId id="553"/>
            <p14:sldId id="551"/>
            <p14:sldId id="552"/>
            <p14:sldId id="556"/>
            <p14:sldId id="5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7"/>
    <p:restoredTop sz="94694"/>
  </p:normalViewPr>
  <p:slideViewPr>
    <p:cSldViewPr snapToGrid="0">
      <p:cViewPr varScale="1">
        <p:scale>
          <a:sx n="82" d="100"/>
          <a:sy n="82" d="100"/>
        </p:scale>
        <p:origin x="18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66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1C5E-8290-F382-173C-DC5CF0A2C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E75638-1197-F0ED-E11B-6F0316452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046FE-E4CF-487F-7760-264C7263D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BB15F-D52F-AF8E-2184-82AD01DF8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7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85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63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118C4-19A2-BD00-F598-B10C176C8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03602-2634-3C86-CB47-56F00BE8B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07A14-2135-CD1F-99EB-D655F1436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DC07F-DDEF-67DF-5ABC-FAAC28E71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29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news.mit.edu/2014/in-the-blink-of-an-eye-0116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gi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jhu.edu/datavisualization/design" TargetMode="External"/><Relationship Id="rId2" Type="http://schemas.openxmlformats.org/officeDocument/2006/relationships/hyperlink" Target="https://help.tableau.com/current/blueprint/en-us/bp_why_visual_analytics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eb.natur.cuni.cz/~langhamr/lectures/vtfg1/mapinfo_2/barvy/colors.html" TargetMode="External"/><Relationship Id="rId4" Type="http://schemas.openxmlformats.org/officeDocument/2006/relationships/hyperlink" Target="https://www.datawrapper.de/blog/quantitative-vs-qualitative-color-sca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Designing Effective Data Visualization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4E8B32D-D13C-D701-5CF1-796DC9E3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ED421C-D127-257D-0162-034D034A4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/>
              <a:t> Introduction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Pre-attentive attributes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Color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/>
              <a:t>Color Palettes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/>
              <a:t>Sequential Palette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/>
              <a:t>Qualitative Palette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/>
              <a:t>Diverging Palette</a:t>
            </a:r>
          </a:p>
          <a:p>
            <a:pPr lvl="1">
              <a:buFont typeface="Wingdings" pitchFamily="2" charset="2"/>
              <a:buChar char="§"/>
            </a:pPr>
            <a:endParaRPr lang="en-US" sz="3100" b="1" dirty="0"/>
          </a:p>
          <a:p>
            <a:pPr algn="l">
              <a:buFont typeface="Wingdings" pitchFamily="2" charset="2"/>
              <a:buChar char="Ø"/>
            </a:pPr>
            <a:endParaRPr lang="en-US" sz="3500" b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 algn="l">
              <a:buNone/>
            </a:pPr>
            <a:endParaRPr lang="en-US" sz="35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72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70EC-447C-506A-CA11-95EE7024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3470-0E60-EC6F-6C23-D52C0B7BA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Data visualization relies on </a:t>
            </a:r>
            <a:r>
              <a:rPr lang="en-PH" b="1" dirty="0"/>
              <a:t>communication</a:t>
            </a:r>
            <a:r>
              <a:rPr lang="en-PH" dirty="0"/>
              <a:t> </a:t>
            </a:r>
            <a:r>
              <a:rPr lang="en-PH" b="1" dirty="0"/>
              <a:t>through</a:t>
            </a:r>
            <a:r>
              <a:rPr lang="en-PH" dirty="0"/>
              <a:t> </a:t>
            </a:r>
            <a:r>
              <a:rPr lang="en-PH" b="1" dirty="0"/>
              <a:t>perception</a:t>
            </a:r>
            <a:r>
              <a:rPr lang="en-PH" dirty="0"/>
              <a:t>. A good data visualization can exploit the natural tendency of the human visual system to recognize structure and patterns.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2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EAFCE-94A1-ACFD-3682-359E071F1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4000" b="1" dirty="0"/>
              <a:t>The brain can process information faster and more efficiently when it is in a visual format</a:t>
            </a:r>
            <a:r>
              <a:rPr lang="en-PH" sz="4000" dirty="0"/>
              <a:t>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1708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england with a map of the united kingdom&#10;&#10;AI-generated content may be incorrect.">
            <a:extLst>
              <a:ext uri="{FF2B5EF4-FFF2-40B4-BE49-F238E27FC236}">
                <a16:creationId xmlns:a16="http://schemas.microsoft.com/office/drawing/2014/main" id="{CB5A0163-3DEE-58E7-54D3-1B6BDE940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22" y="0"/>
            <a:ext cx="5541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57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BE1778-646E-0B2B-53FF-54E5B420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england with a map of the united kingdom&#10;&#10;AI-generated content may be incorrect.">
            <a:extLst>
              <a:ext uri="{FF2B5EF4-FFF2-40B4-BE49-F238E27FC236}">
                <a16:creationId xmlns:a16="http://schemas.microsoft.com/office/drawing/2014/main" id="{61DC9628-D9AA-4ABB-E510-AB6D35B5C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644" y="0"/>
            <a:ext cx="5541356" cy="6858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E63946-B24F-634A-D0DE-AB01706A6742}"/>
              </a:ext>
            </a:extLst>
          </p:cNvPr>
          <p:cNvSpPr txBox="1">
            <a:spLocks/>
          </p:cNvSpPr>
          <p:nvPr/>
        </p:nvSpPr>
        <p:spPr>
          <a:xfrm>
            <a:off x="477982" y="1386324"/>
            <a:ext cx="453736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dirty="0"/>
              <a:t>In </a:t>
            </a:r>
            <a:r>
              <a:rPr lang="en-PH" b="1" dirty="0"/>
              <a:t>1854</a:t>
            </a:r>
            <a:r>
              <a:rPr lang="en-PH" dirty="0"/>
              <a:t>, a severe cholera outbreak occurred in Soho, London, England during the 1846-1860 cholera pandemic which killed 616 people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98975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69DCB8-61AC-0831-C066-418DE86B5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men in hats&#10;&#10;AI-generated content may be incorrect.">
            <a:extLst>
              <a:ext uri="{FF2B5EF4-FFF2-40B4-BE49-F238E27FC236}">
                <a16:creationId xmlns:a16="http://schemas.microsoft.com/office/drawing/2014/main" id="{D26EC0F9-1EFA-6C9C-8152-2CFF576F6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63" b="802"/>
          <a:stretch>
            <a:fillRect/>
          </a:stretch>
        </p:blipFill>
        <p:spPr>
          <a:xfrm>
            <a:off x="4512001" y="0"/>
            <a:ext cx="7679999" cy="6858000"/>
          </a:xfrm>
          <a:prstGeom prst="rect">
            <a:avLst/>
          </a:prstGeom>
          <a:noFill/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6C74FF-6B49-C6D3-B8BA-A212CF3D072A}"/>
              </a:ext>
            </a:extLst>
          </p:cNvPr>
          <p:cNvSpPr txBox="1">
            <a:spLocks/>
          </p:cNvSpPr>
          <p:nvPr/>
        </p:nvSpPr>
        <p:spPr>
          <a:xfrm>
            <a:off x="0" y="1994043"/>
            <a:ext cx="4537364" cy="20376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dirty="0"/>
              <a:t>Many people believed that cholera was caused by miasma, meaning “bad air” arising from rotting organic matter, sewage which was called the </a:t>
            </a:r>
            <a:r>
              <a:rPr lang="en-PH" b="1" dirty="0"/>
              <a:t>miasma theory</a:t>
            </a:r>
            <a:r>
              <a:rPr lang="en-PH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7620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3E7B45-F391-2599-B196-D886711F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men in hats&#10;&#10;AI-generated content may be incorrect.">
            <a:extLst>
              <a:ext uri="{FF2B5EF4-FFF2-40B4-BE49-F238E27FC236}">
                <a16:creationId xmlns:a16="http://schemas.microsoft.com/office/drawing/2014/main" id="{4EECB57B-1624-0A7D-BEA0-E047A171C9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63" b="802"/>
          <a:stretch>
            <a:fillRect/>
          </a:stretch>
        </p:blipFill>
        <p:spPr>
          <a:xfrm>
            <a:off x="4512001" y="0"/>
            <a:ext cx="7679999" cy="6858000"/>
          </a:xfrm>
          <a:prstGeom prst="rect">
            <a:avLst/>
          </a:prstGeom>
          <a:noFill/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717BF7-D1F9-F787-A791-D33901555B56}"/>
              </a:ext>
            </a:extLst>
          </p:cNvPr>
          <p:cNvSpPr txBox="1">
            <a:spLocks/>
          </p:cNvSpPr>
          <p:nvPr/>
        </p:nvSpPr>
        <p:spPr>
          <a:xfrm>
            <a:off x="0" y="1495279"/>
            <a:ext cx="4537364" cy="38802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dirty="0"/>
              <a:t>The miasma theory:</a:t>
            </a:r>
          </a:p>
          <a:p>
            <a:r>
              <a:rPr lang="en-PH" dirty="0"/>
              <a:t>Diseases like cholera were thought to spread through noxious vapors</a:t>
            </a:r>
          </a:p>
          <a:p>
            <a:r>
              <a:rPr lang="en-PH" dirty="0"/>
              <a:t>Bad smells = bad health</a:t>
            </a:r>
          </a:p>
          <a:p>
            <a:r>
              <a:rPr lang="en-PH" dirty="0"/>
              <a:t>Poor, dirty, overcrowded areas were seen as dangerous because of the air, not microbes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PH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5895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death of a person&#10;&#10;AI-generated content may be incorrect.">
            <a:extLst>
              <a:ext uri="{FF2B5EF4-FFF2-40B4-BE49-F238E27FC236}">
                <a16:creationId xmlns:a16="http://schemas.microsoft.com/office/drawing/2014/main" id="{ED0D877F-D00D-5FCE-52EA-B9DC0624A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841" y="189000"/>
            <a:ext cx="8526317" cy="6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7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055A15-5C7D-CA6D-CECC-83D4419D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death of a person&#10;&#10;AI-generated content may be incorrect.">
            <a:extLst>
              <a:ext uri="{FF2B5EF4-FFF2-40B4-BE49-F238E27FC236}">
                <a16:creationId xmlns:a16="http://schemas.microsoft.com/office/drawing/2014/main" id="{1B0D5C81-637A-D781-347A-C519FE65E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736" y="735421"/>
            <a:ext cx="7105264" cy="54000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4786E9-DFBD-E624-23B2-565AFCA70299}"/>
              </a:ext>
            </a:extLst>
          </p:cNvPr>
          <p:cNvSpPr txBox="1">
            <a:spLocks/>
          </p:cNvSpPr>
          <p:nvPr/>
        </p:nvSpPr>
        <p:spPr>
          <a:xfrm>
            <a:off x="0" y="858476"/>
            <a:ext cx="4537364" cy="5141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dirty="0"/>
              <a:t>William Farr, one of the well known statisticians at that time, gathered data and supported this theory and observed that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>
              <a:buFont typeface="Wingdings" pitchFamily="2" charset="2"/>
              <a:buChar char="§"/>
            </a:pPr>
            <a:r>
              <a:rPr lang="en-PH" dirty="0"/>
              <a:t>Cholera peaked in the summer months</a:t>
            </a:r>
          </a:p>
          <a:p>
            <a:pPr>
              <a:buFont typeface="Wingdings" pitchFamily="2" charset="2"/>
              <a:buChar char="§"/>
            </a:pPr>
            <a:r>
              <a:rPr lang="en-PH" dirty="0"/>
              <a:t>Mortality dropped sharply in winter</a:t>
            </a:r>
          </a:p>
          <a:p>
            <a:pPr>
              <a:buFont typeface="Wingdings" pitchFamily="2" charset="2"/>
              <a:buChar char="§"/>
            </a:pPr>
            <a:r>
              <a:rPr lang="en-PH" dirty="0"/>
              <a:t>Outbreaks were worse during hot weather</a:t>
            </a:r>
          </a:p>
        </p:txBody>
      </p:sp>
    </p:spTree>
    <p:extLst>
      <p:ext uri="{BB962C8B-B14F-4D97-AF65-F5344CB8AC3E}">
        <p14:creationId xmlns:p14="http://schemas.microsoft.com/office/powerpoint/2010/main" val="3950868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05D8C6-9AF2-8DBB-89BD-990F0866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death of a person&#10;&#10;AI-generated content may be incorrect.">
            <a:extLst>
              <a:ext uri="{FF2B5EF4-FFF2-40B4-BE49-F238E27FC236}">
                <a16:creationId xmlns:a16="http://schemas.microsoft.com/office/drawing/2014/main" id="{7B5B9FBA-3973-CBBE-FF9F-693E4DFE6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736" y="735421"/>
            <a:ext cx="7105264" cy="54000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CCD85-4966-3EAD-A39C-4FAEC80208F3}"/>
              </a:ext>
            </a:extLst>
          </p:cNvPr>
          <p:cNvSpPr txBox="1">
            <a:spLocks/>
          </p:cNvSpPr>
          <p:nvPr/>
        </p:nvSpPr>
        <p:spPr>
          <a:xfrm>
            <a:off x="0" y="858476"/>
            <a:ext cx="4537364" cy="5141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dirty="0"/>
              <a:t>So his interpretation was: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>
              <a:buFont typeface="Wingdings" pitchFamily="2" charset="2"/>
              <a:buChar char="§"/>
            </a:pPr>
            <a:r>
              <a:rPr lang="en-PH" dirty="0"/>
              <a:t>Heat intensified miasma</a:t>
            </a:r>
          </a:p>
          <a:p>
            <a:pPr>
              <a:buFont typeface="Wingdings" pitchFamily="2" charset="2"/>
              <a:buChar char="§"/>
            </a:pPr>
            <a:r>
              <a:rPr lang="en-PH" dirty="0"/>
              <a:t>Warm temperatures were thought to accelerate decomposition of matter</a:t>
            </a:r>
          </a:p>
          <a:p>
            <a:pPr>
              <a:buFont typeface="Wingdings" pitchFamily="2" charset="2"/>
              <a:buChar char="§"/>
            </a:pPr>
            <a:r>
              <a:rPr lang="en-PH" dirty="0"/>
              <a:t>This produced “bad air” which was assumed to cause cholera</a:t>
            </a:r>
          </a:p>
        </p:txBody>
      </p:sp>
    </p:spTree>
    <p:extLst>
      <p:ext uri="{BB962C8B-B14F-4D97-AF65-F5344CB8AC3E}">
        <p14:creationId xmlns:p14="http://schemas.microsoft.com/office/powerpoint/2010/main" val="3540112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suit&#10;&#10;AI-generated content may be incorrect.">
            <a:extLst>
              <a:ext uri="{FF2B5EF4-FFF2-40B4-BE49-F238E27FC236}">
                <a16:creationId xmlns:a16="http://schemas.microsoft.com/office/drawing/2014/main" id="{9CE5C1D6-8202-52CD-114C-CF1ED5DEA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942" y="729000"/>
            <a:ext cx="3652941" cy="54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8E2B92-DDAC-88C9-9F44-63CEEA030345}"/>
              </a:ext>
            </a:extLst>
          </p:cNvPr>
          <p:cNvSpPr txBox="1"/>
          <p:nvPr/>
        </p:nvSpPr>
        <p:spPr>
          <a:xfrm>
            <a:off x="703117" y="2228671"/>
            <a:ext cx="611678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The turning point was when in 1854, a physician named John challenged the miasma theory. His approach was different</a:t>
            </a:r>
          </a:p>
          <a:p>
            <a:r>
              <a:rPr lang="en-US" sz="2500" dirty="0"/>
              <a:t>He mapped cholera cases in London that showed they clustered around the Broad Street water pump</a:t>
            </a:r>
          </a:p>
        </p:txBody>
      </p:sp>
    </p:spTree>
    <p:extLst>
      <p:ext uri="{BB962C8B-B14F-4D97-AF65-F5344CB8AC3E}">
        <p14:creationId xmlns:p14="http://schemas.microsoft.com/office/powerpoint/2010/main" val="3871809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a city&#10;&#10;AI-generated content may be incorrect.">
            <a:extLst>
              <a:ext uri="{FF2B5EF4-FFF2-40B4-BE49-F238E27FC236}">
                <a16:creationId xmlns:a16="http://schemas.microsoft.com/office/drawing/2014/main" id="{6EAC5263-630E-60C6-C480-61E67CDF2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58" y="369000"/>
            <a:ext cx="9074483" cy="6120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309A3D5-95B8-1ABB-8E4C-E381A75F90F8}"/>
              </a:ext>
            </a:extLst>
          </p:cNvPr>
          <p:cNvSpPr/>
          <p:nvPr/>
        </p:nvSpPr>
        <p:spPr>
          <a:xfrm>
            <a:off x="4318000" y="1405467"/>
            <a:ext cx="360000" cy="36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81CF71-4C02-79CE-AB6C-D7B320A8046A}"/>
              </a:ext>
            </a:extLst>
          </p:cNvPr>
          <p:cNvSpPr/>
          <p:nvPr/>
        </p:nvSpPr>
        <p:spPr>
          <a:xfrm>
            <a:off x="4394200" y="2621934"/>
            <a:ext cx="360000" cy="36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7B80F9-9945-4B44-6324-5E3CD18E153F}"/>
              </a:ext>
            </a:extLst>
          </p:cNvPr>
          <p:cNvSpPr/>
          <p:nvPr/>
        </p:nvSpPr>
        <p:spPr>
          <a:xfrm>
            <a:off x="6461760" y="3249000"/>
            <a:ext cx="360000" cy="36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655CA3-3489-F31D-A1A2-6DA1E64A578E}"/>
              </a:ext>
            </a:extLst>
          </p:cNvPr>
          <p:cNvSpPr/>
          <p:nvPr/>
        </p:nvSpPr>
        <p:spPr>
          <a:xfrm>
            <a:off x="5323155" y="5605885"/>
            <a:ext cx="360000" cy="36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4AB435-FF8B-87C1-297B-52A303653C01}"/>
              </a:ext>
            </a:extLst>
          </p:cNvPr>
          <p:cNvSpPr/>
          <p:nvPr/>
        </p:nvSpPr>
        <p:spPr>
          <a:xfrm>
            <a:off x="6977294" y="5328483"/>
            <a:ext cx="360000" cy="36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EE0105-44E1-B813-5B9D-5C58257439BD}"/>
              </a:ext>
            </a:extLst>
          </p:cNvPr>
          <p:cNvSpPr/>
          <p:nvPr/>
        </p:nvSpPr>
        <p:spPr>
          <a:xfrm>
            <a:off x="8662257" y="4670937"/>
            <a:ext cx="360000" cy="36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484C7E-7C23-E168-5D89-5A6BD34120E0}"/>
              </a:ext>
            </a:extLst>
          </p:cNvPr>
          <p:cNvSpPr/>
          <p:nvPr/>
        </p:nvSpPr>
        <p:spPr>
          <a:xfrm>
            <a:off x="10080090" y="4490937"/>
            <a:ext cx="360000" cy="36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8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60CB70-C6DE-6AE8-C086-DD83D72A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a city&#10;&#10;AI-generated content may be incorrect.">
            <a:extLst>
              <a:ext uri="{FF2B5EF4-FFF2-40B4-BE49-F238E27FC236}">
                <a16:creationId xmlns:a16="http://schemas.microsoft.com/office/drawing/2014/main" id="{D01DE555-FFA8-7727-8F96-C9C6B9AF2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97307" y="-3266510"/>
            <a:ext cx="21351724" cy="14400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C9EB25B-3F37-288C-E8FC-D645E93CBAD4}"/>
              </a:ext>
            </a:extLst>
          </p:cNvPr>
          <p:cNvSpPr/>
          <p:nvPr/>
        </p:nvSpPr>
        <p:spPr>
          <a:xfrm>
            <a:off x="6169495" y="3573490"/>
            <a:ext cx="720000" cy="72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813B3A-3C40-7406-A2CE-82937DFD17CE}"/>
              </a:ext>
            </a:extLst>
          </p:cNvPr>
          <p:cNvSpPr/>
          <p:nvPr/>
        </p:nvSpPr>
        <p:spPr>
          <a:xfrm>
            <a:off x="3535152" y="9139719"/>
            <a:ext cx="720000" cy="72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F184AE-DEF1-1260-25A7-CDA81EA689E0}"/>
              </a:ext>
            </a:extLst>
          </p:cNvPr>
          <p:cNvSpPr/>
          <p:nvPr/>
        </p:nvSpPr>
        <p:spPr>
          <a:xfrm>
            <a:off x="7381438" y="8559147"/>
            <a:ext cx="720000" cy="72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246BDF-A8B2-CCAC-D839-BB13CFF3C305}"/>
              </a:ext>
            </a:extLst>
          </p:cNvPr>
          <p:cNvSpPr/>
          <p:nvPr/>
        </p:nvSpPr>
        <p:spPr>
          <a:xfrm>
            <a:off x="14638581" y="6309433"/>
            <a:ext cx="720000" cy="72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ABFB63-54BC-E82B-093E-58E8AF56608D}"/>
              </a:ext>
            </a:extLst>
          </p:cNvPr>
          <p:cNvSpPr/>
          <p:nvPr/>
        </p:nvSpPr>
        <p:spPr>
          <a:xfrm>
            <a:off x="1159959" y="-772369"/>
            <a:ext cx="720000" cy="7200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49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0B1EDE7E-0F4A-37C3-909B-FC2239A6C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9" y="130639"/>
            <a:ext cx="12170821" cy="6840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4FAC10-0E28-2CD4-0C00-F894ADBA2D2A}"/>
              </a:ext>
            </a:extLst>
          </p:cNvPr>
          <p:cNvSpPr/>
          <p:nvPr/>
        </p:nvSpPr>
        <p:spPr>
          <a:xfrm>
            <a:off x="499730" y="318977"/>
            <a:ext cx="4688958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23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805424-7C58-DF32-D8C0-F9A3B8B2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519EA6CF-FA62-F037-6D5D-43B047B3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9" y="130639"/>
            <a:ext cx="12170821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5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19A4-271F-EBE3-22EE-0647884B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99F2-3EA5-2F20-382A-59B18FB37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They key to achieving effective visualization is to correspond your data to </a:t>
            </a:r>
            <a:r>
              <a:rPr lang="en-PH" b="1" dirty="0"/>
              <a:t>pre-attentive attributes</a:t>
            </a:r>
            <a:r>
              <a:rPr lang="en-PH" dirty="0"/>
              <a:t>. </a:t>
            </a:r>
            <a:r>
              <a:rPr lang="en-PH" dirty="0" err="1"/>
              <a:t>Preattentive</a:t>
            </a:r>
            <a:r>
              <a:rPr lang="en-PH" dirty="0"/>
              <a:t> attributes are visual attributes, including size, color, shape, and position that are processed at a high speed by the visual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41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4F9F-44E3-B5AA-D900-3913FEB2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9B04D-F32A-65D5-C01E-8FEDC74B9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34000" cy="4351338"/>
          </a:xfrm>
        </p:spPr>
        <p:txBody>
          <a:bodyPr/>
          <a:lstStyle/>
          <a:p>
            <a:pPr marL="0" indent="0">
              <a:buNone/>
            </a:pPr>
            <a:r>
              <a:rPr lang="en-PH" dirty="0"/>
              <a:t>Pre-attentive attributes are information we can process visually almost immediately, before sending the information to the attention processing parts of our brain. </a:t>
            </a:r>
            <a:endParaRPr lang="en-US" dirty="0"/>
          </a:p>
        </p:txBody>
      </p:sp>
      <p:pic>
        <p:nvPicPr>
          <p:cNvPr id="6" name="Picture 5" descr="A group of symbols of different sizes and colors&#10;&#10;AI-generated content may be incorrect.">
            <a:extLst>
              <a:ext uri="{FF2B5EF4-FFF2-40B4-BE49-F238E27FC236}">
                <a16:creationId xmlns:a16="http://schemas.microsoft.com/office/drawing/2014/main" id="{608FC0E3-1924-3B0C-A9FE-3FDAB790A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182" y="2151932"/>
            <a:ext cx="5949818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19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2973C7-6531-F918-5954-B14CC29A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symbols of different sizes and colors&#10;&#10;AI-generated content may be incorrect.">
            <a:extLst>
              <a:ext uri="{FF2B5EF4-FFF2-40B4-BE49-F238E27FC236}">
                <a16:creationId xmlns:a16="http://schemas.microsoft.com/office/drawing/2014/main" id="{895CA1EC-F434-7B6B-2A89-C0668903A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18" y="218740"/>
            <a:ext cx="9916363" cy="54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44CF9A-6F08-CE56-CEBB-DEF26441DBEC}"/>
              </a:ext>
            </a:extLst>
          </p:cNvPr>
          <p:cNvSpPr txBox="1"/>
          <p:nvPr/>
        </p:nvSpPr>
        <p:spPr>
          <a:xfrm>
            <a:off x="1137818" y="5631810"/>
            <a:ext cx="105652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dirty="0"/>
              <a:t>What stands out to you in each image? Was the </a:t>
            </a:r>
            <a:r>
              <a:rPr lang="en-PH" sz="2500" b="1" dirty="0">
                <a:solidFill>
                  <a:srgbClr val="FF0000"/>
                </a:solidFill>
              </a:rPr>
              <a:t>red dot </a:t>
            </a:r>
            <a:r>
              <a:rPr lang="en-PH" sz="2500" dirty="0"/>
              <a:t>in the color hue figure immediately apparent? That is pre-attentive processing at work.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489082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of mathematical equations&#10;&#10;AI-generated content may be incorrect.">
            <a:extLst>
              <a:ext uri="{FF2B5EF4-FFF2-40B4-BE49-F238E27FC236}">
                <a16:creationId xmlns:a16="http://schemas.microsoft.com/office/drawing/2014/main" id="{0C1A8D60-BBC6-1E1E-07D3-DD9E4D57B7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74"/>
          <a:stretch>
            <a:fillRect/>
          </a:stretch>
        </p:blipFill>
        <p:spPr>
          <a:xfrm>
            <a:off x="1091039" y="0"/>
            <a:ext cx="10009921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67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4D4EA-3DB6-6C95-3DE8-3F6F4A231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in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07428-ADF1-8ED8-9536-2C5993AF6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Colors play a pivotal role in shaping how we perceive and understand the information conveyed in your data visualization approach.</a:t>
            </a:r>
            <a:endParaRPr lang="en-US" dirty="0"/>
          </a:p>
        </p:txBody>
      </p:sp>
      <p:pic>
        <p:nvPicPr>
          <p:cNvPr id="5" name="Picture 4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DF79AE3F-BAE8-FC30-267B-82FDB4179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41392"/>
            <a:ext cx="7772400" cy="309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72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6D971-895C-A707-808B-2BCD310C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AFA4-7838-000D-1DA1-88CB35E8B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in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9CCA8-9AEC-B408-6825-2DB0C999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37447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According to MIT neuroscientists, </a:t>
            </a:r>
            <a:r>
              <a:rPr lang="en-US" b="1" dirty="0"/>
              <a:t>pre-attentive processing (</a:t>
            </a:r>
            <a:r>
              <a:rPr lang="en-US" b="1" dirty="0" err="1"/>
              <a:t>PaP</a:t>
            </a:r>
            <a:r>
              <a:rPr lang="en-US" b="1" dirty="0"/>
              <a:t>) </a:t>
            </a:r>
            <a:r>
              <a:rPr lang="en-US" dirty="0"/>
              <a:t>takes approximately 13 milliseconds.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process refers to how our eyes interpret images, colors, patterns, and shapes as information.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does this mean for the role of color in data visualization?  By carefully selecting a color palette, we embrace the power of </a:t>
            </a:r>
            <a:r>
              <a:rPr lang="en-US" dirty="0" err="1"/>
              <a:t>PaP</a:t>
            </a:r>
            <a:r>
              <a:rPr lang="en-US" dirty="0"/>
              <a:t>, making data easier to understand and find.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C6E55-DF8F-4205-9349-0466F526044F}"/>
              </a:ext>
            </a:extLst>
          </p:cNvPr>
          <p:cNvSpPr txBox="1"/>
          <p:nvPr/>
        </p:nvSpPr>
        <p:spPr>
          <a:xfrm>
            <a:off x="838200" y="6210535"/>
            <a:ext cx="5619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https://news.mit.edu/2014/in-the-blink-of-an-eye-0116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84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CB25-EC9F-663C-221B-B95A1DEB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Palette</a:t>
            </a:r>
          </a:p>
        </p:txBody>
      </p:sp>
      <p:pic>
        <p:nvPicPr>
          <p:cNvPr id="4" name="Content Placeholder 3" descr="A row of different colors&#10;&#10;AI-generated content may be incorrect.">
            <a:extLst>
              <a:ext uri="{FF2B5EF4-FFF2-40B4-BE49-F238E27FC236}">
                <a16:creationId xmlns:a16="http://schemas.microsoft.com/office/drawing/2014/main" id="{DB2595C0-40FC-78F0-8B21-DD4F7F1FB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4930" y="2287588"/>
            <a:ext cx="6962139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17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50AA-2152-D82B-65C7-DB8FEB33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Palette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FF911-7A79-CB1E-1F47-DD41BD7EC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PH" dirty="0"/>
              <a:t>To effectively convey the information, it’s essential to have a clear understanding of how to use color in data visualization. In doing so, you must know the different color palette types and the significance of each one. </a:t>
            </a:r>
            <a:endParaRPr lang="en-US" dirty="0"/>
          </a:p>
        </p:txBody>
      </p:sp>
      <p:pic>
        <p:nvPicPr>
          <p:cNvPr id="4" name="Content Placeholder 3" descr="A row of different colors&#10;&#10;AI-generated content may be incorrect.">
            <a:extLst>
              <a:ext uri="{FF2B5EF4-FFF2-40B4-BE49-F238E27FC236}">
                <a16:creationId xmlns:a16="http://schemas.microsoft.com/office/drawing/2014/main" id="{5EFD80BF-31AD-02C7-4DCD-097CF1769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408" y="1828800"/>
            <a:ext cx="576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75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4AA1-B309-CC35-04B9-FB9C0556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Palette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5DA83-AD1C-134A-C378-FBBEE5164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This palette is designed with discrete steps or a continuous gradient. This progression of hues is typically used in numerical representations like heat maps, pie charts, and other scales. </a:t>
            </a:r>
            <a:endParaRPr lang="en-US" dirty="0"/>
          </a:p>
        </p:txBody>
      </p:sp>
      <p:pic>
        <p:nvPicPr>
          <p:cNvPr id="5" name="Picture 4" descr="A row of different colors&#10;&#10;AI-generated content may be incorrect.">
            <a:extLst>
              <a:ext uri="{FF2B5EF4-FFF2-40B4-BE49-F238E27FC236}">
                <a16:creationId xmlns:a16="http://schemas.microsoft.com/office/drawing/2014/main" id="{288B5A20-16A2-BC52-2371-13713212C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45" b="66133"/>
          <a:stretch>
            <a:fillRect/>
          </a:stretch>
        </p:blipFill>
        <p:spPr>
          <a:xfrm>
            <a:off x="1776000" y="4303643"/>
            <a:ext cx="8640000" cy="9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93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75DB4-0C47-61D3-C09F-29E49CB0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51EF-476F-F19C-6D56-CDB09ADD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Palette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CD713-C751-145B-2D7F-3269EF1A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06069"/>
            <a:ext cx="10515600" cy="19321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dirty="0"/>
              <a:t>Using the sequential palette is useful when illustrating data with a clear hierarchy or progression. These graphs depict data like population density, temperature variations, and other kinds of sequential data. The palette helps to convey trends and patterns more effectively. </a:t>
            </a:r>
            <a:endParaRPr lang="en-US" dirty="0"/>
          </a:p>
        </p:txBody>
      </p:sp>
      <p:pic>
        <p:nvPicPr>
          <p:cNvPr id="6" name="Picture 5" descr="A map of the world&#10;&#10;AI-generated content may be incorrect.">
            <a:extLst>
              <a:ext uri="{FF2B5EF4-FFF2-40B4-BE49-F238E27FC236}">
                <a16:creationId xmlns:a16="http://schemas.microsoft.com/office/drawing/2014/main" id="{60393A29-A7E5-B508-75E0-716152027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1" y="2031131"/>
            <a:ext cx="4799999" cy="2520000"/>
          </a:xfrm>
          <a:prstGeom prst="rect">
            <a:avLst/>
          </a:prstGeom>
        </p:spPr>
      </p:pic>
      <p:pic>
        <p:nvPicPr>
          <p:cNvPr id="8" name="Picture 7" descr="A map of the world&#10;&#10;AI-generated content may be incorrect.">
            <a:extLst>
              <a:ext uri="{FF2B5EF4-FFF2-40B4-BE49-F238E27FC236}">
                <a16:creationId xmlns:a16="http://schemas.microsoft.com/office/drawing/2014/main" id="{B24D94CC-3047-82FF-9D44-D950AD85A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801" y="2031131"/>
            <a:ext cx="504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56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94FD7-A068-8E95-3EF5-44799E07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E39B7-C3A6-C157-E768-E737AC359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06069"/>
            <a:ext cx="10515600" cy="19321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dirty="0"/>
              <a:t>Using the sequential palette is useful when illustrating data with a clear hierarchy or progression. These graphs depict data like population density, temperature variations, and other kinds of sequential data. The palette helps to convey trends and patterns more effectively. </a:t>
            </a:r>
            <a:endParaRPr lang="en-US" dirty="0"/>
          </a:p>
        </p:txBody>
      </p:sp>
      <p:pic>
        <p:nvPicPr>
          <p:cNvPr id="6" name="Picture 5" descr="A map of the world&#10;&#10;AI-generated content may be incorrect.">
            <a:extLst>
              <a:ext uri="{FF2B5EF4-FFF2-40B4-BE49-F238E27FC236}">
                <a16:creationId xmlns:a16="http://schemas.microsoft.com/office/drawing/2014/main" id="{99530076-B103-2099-E535-7BBAAD658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429" y="878192"/>
            <a:ext cx="685714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3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4DD1E-32D3-651C-FF1A-688C450E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832FF-7735-196D-D804-8C096EB19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06069"/>
            <a:ext cx="10515600" cy="19321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dirty="0"/>
              <a:t>Using the sequential palette is useful when illustrating data with a clear hierarchy or progression. These graphs depict data like population density, temperature variations, and other kinds of sequential data. The palette helps to convey trends and patterns more effectively. </a:t>
            </a:r>
            <a:endParaRPr lang="en-US" dirty="0"/>
          </a:p>
        </p:txBody>
      </p:sp>
      <p:pic>
        <p:nvPicPr>
          <p:cNvPr id="2" name="Picture 1" descr="A map of the world&#10;&#10;AI-generated content may be incorrect.">
            <a:extLst>
              <a:ext uri="{FF2B5EF4-FFF2-40B4-BE49-F238E27FC236}">
                <a16:creationId xmlns:a16="http://schemas.microsoft.com/office/drawing/2014/main" id="{EBEBA09C-08AB-DB8E-E019-4C394DD73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878191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63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europe with different colored areas&#10;&#10;AI-generated content may be incorrect.">
            <a:extLst>
              <a:ext uri="{FF2B5EF4-FFF2-40B4-BE49-F238E27FC236}">
                <a16:creationId xmlns:a16="http://schemas.microsoft.com/office/drawing/2014/main" id="{A808F150-59C7-C210-EF99-353A9EFC3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1483865"/>
            <a:ext cx="5342857" cy="3600000"/>
          </a:xfrm>
          <a:prstGeom prst="rect">
            <a:avLst/>
          </a:prstGeom>
        </p:spPr>
      </p:pic>
      <p:pic>
        <p:nvPicPr>
          <p:cNvPr id="5" name="Picture 4" descr="A map of europe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F7BC9576-EB71-6FE9-6B40-F35E2F9C8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83865"/>
            <a:ext cx="534285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50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8AF5-47BE-C2FC-61B8-66667CC13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 palettes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5A378-9D6E-40A4-B27C-8D355CE79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Also known as categorical palettes, qualitative palettes are used when dealing with categorical variables. It represents data without an inherent order, like country or gender. Each category is assigned a distinct color to aid in visualization. </a:t>
            </a:r>
            <a:endParaRPr lang="en-US" dirty="0"/>
          </a:p>
        </p:txBody>
      </p:sp>
      <p:pic>
        <p:nvPicPr>
          <p:cNvPr id="4" name="Picture 3" descr="A row of different colors&#10;&#10;AI-generated content may be incorrect.">
            <a:extLst>
              <a:ext uri="{FF2B5EF4-FFF2-40B4-BE49-F238E27FC236}">
                <a16:creationId xmlns:a16="http://schemas.microsoft.com/office/drawing/2014/main" id="{0244C836-D120-27F7-FC5D-462D6732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966" b="37051"/>
          <a:stretch>
            <a:fillRect/>
          </a:stretch>
        </p:blipFill>
        <p:spPr>
          <a:xfrm>
            <a:off x="1776000" y="4462538"/>
            <a:ext cx="8640000" cy="113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72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092DACE5-3398-369B-47DF-996974906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11505"/>
            <a:ext cx="7772400" cy="563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52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D7E890-571A-E00B-5633-AAEE0EA3D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79FED8E-4F9D-D9F8-90F2-EB1C1B2A2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38" y="1269000"/>
            <a:ext cx="9945324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08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europe with different colored sections&#10;&#10;AI-generated content may be incorrect.">
            <a:extLst>
              <a:ext uri="{FF2B5EF4-FFF2-40B4-BE49-F238E27FC236}">
                <a16:creationId xmlns:a16="http://schemas.microsoft.com/office/drawing/2014/main" id="{568647FD-241A-BAE6-2172-A2A7355E8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571" y="1629000"/>
            <a:ext cx="534285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16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flags in circles&#10;&#10;AI-generated content may be incorrect.">
            <a:extLst>
              <a:ext uri="{FF2B5EF4-FFF2-40B4-BE49-F238E27FC236}">
                <a16:creationId xmlns:a16="http://schemas.microsoft.com/office/drawing/2014/main" id="{BFEF2FE9-5B31-FF96-006C-628248D8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373" y="0"/>
            <a:ext cx="6819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58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ECCD-04A0-76F9-A4EE-66FBD57BA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Diverging Palette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75ED-C3A8-C963-5C6D-756D1A75B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The diverging palettes are designed to emphasize the contrast between two diverging segments of the data.</a:t>
            </a:r>
          </a:p>
          <a:p>
            <a:endParaRPr lang="en-PH" dirty="0"/>
          </a:p>
          <a:p>
            <a:pPr marL="0" indent="0">
              <a:buNone/>
            </a:pPr>
            <a:r>
              <a:rPr lang="en-PH" dirty="0"/>
              <a:t>It is especially effective when highlighting deviations from a central value or trend. By utilizing colors that diverge from a midpoint, they help draw attention to both positive and negative variations from the norm.</a:t>
            </a:r>
            <a:endParaRPr lang="en-US" dirty="0"/>
          </a:p>
        </p:txBody>
      </p:sp>
      <p:pic>
        <p:nvPicPr>
          <p:cNvPr id="4" name="Picture 3" descr="A row of different colors&#10;&#10;AI-generated content may be incorrect.">
            <a:extLst>
              <a:ext uri="{FF2B5EF4-FFF2-40B4-BE49-F238E27FC236}">
                <a16:creationId xmlns:a16="http://schemas.microsoft.com/office/drawing/2014/main" id="{E459F9D2-A99A-EEA7-D1FC-B7DF98D85A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400" b="10175"/>
          <a:stretch>
            <a:fillRect/>
          </a:stretch>
        </p:blipFill>
        <p:spPr>
          <a:xfrm>
            <a:off x="1776000" y="5411484"/>
            <a:ext cx="8640000" cy="104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15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21E838-ABBD-B948-FEE3-B338C686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BCBAEA9C-8979-2DA7-7E05-57F2DF0B16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38"/>
          <a:stretch>
            <a:fillRect/>
          </a:stretch>
        </p:blipFill>
        <p:spPr>
          <a:xfrm>
            <a:off x="461087" y="1449000"/>
            <a:ext cx="11269825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79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arison of a few voting results&#10;&#10;AI-generated content may be incorrect.">
            <a:extLst>
              <a:ext uri="{FF2B5EF4-FFF2-40B4-BE49-F238E27FC236}">
                <a16:creationId xmlns:a16="http://schemas.microsoft.com/office/drawing/2014/main" id="{6D16F657-2459-3798-01D0-672114E32A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872" b="7126"/>
          <a:stretch>
            <a:fillRect/>
          </a:stretch>
        </p:blipFill>
        <p:spPr>
          <a:xfrm>
            <a:off x="2667057" y="729000"/>
            <a:ext cx="685788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446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42949D-97F8-6361-FD8B-DB426BA6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arison of a graph&#10;&#10;AI-generated content may be incorrect.">
            <a:extLst>
              <a:ext uri="{FF2B5EF4-FFF2-40B4-BE49-F238E27FC236}">
                <a16:creationId xmlns:a16="http://schemas.microsoft.com/office/drawing/2014/main" id="{13F2104A-0732-FA19-833F-E074D4181B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872" b="7126"/>
          <a:stretch>
            <a:fillRect/>
          </a:stretch>
        </p:blipFill>
        <p:spPr>
          <a:xfrm>
            <a:off x="2667057" y="729000"/>
            <a:ext cx="6857885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76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europe with different colored areas&#10;&#10;AI-generated content may be incorrect.">
            <a:extLst>
              <a:ext uri="{FF2B5EF4-FFF2-40B4-BE49-F238E27FC236}">
                <a16:creationId xmlns:a16="http://schemas.microsoft.com/office/drawing/2014/main" id="{557433BA-B145-43C3-2ACC-A3BD655D9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59" y="1499792"/>
            <a:ext cx="5342857" cy="3600000"/>
          </a:xfrm>
          <a:prstGeom prst="rect">
            <a:avLst/>
          </a:prstGeom>
        </p:spPr>
      </p:pic>
      <p:pic>
        <p:nvPicPr>
          <p:cNvPr id="5" name="Picture 4" descr="A map of europe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CF5AD3DD-0BED-3645-E574-93943CCF2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85" y="1499792"/>
            <a:ext cx="534285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73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979D-7871-F828-3E43-AF982139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DC7DC-5BF1-E9F8-E214-81E575427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hlinkClick r:id="rId2"/>
              </a:rPr>
              <a:t>https://help.tableau.com/current/blueprint/en-us/bp_why_visual_analytics.htm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>
                <a:hlinkClick r:id="rId3"/>
              </a:rPr>
              <a:t>https://guides.library.jhu.edu/datavisualization/design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>
                <a:hlinkClick r:id="rId4"/>
              </a:rPr>
              <a:t>https://www.datawrapper.de/blog/quantitative-vs-qualitative-color-scales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>
                <a:hlinkClick r:id="rId5"/>
              </a:rPr>
              <a:t>https://web.natur.cuni.cz/~langhamr/lectures/vtfg1/mapinfo_2/barvy/colors.html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18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8509</TotalTime>
  <Words>859</Words>
  <Application>Microsoft Macintosh PowerPoint</Application>
  <PresentationFormat>Widescreen</PresentationFormat>
  <Paragraphs>77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Wingdings</vt:lpstr>
      <vt:lpstr>Office Theme</vt:lpstr>
      <vt:lpstr>Designing Effective Data Visualization</vt:lpstr>
      <vt:lpstr>Outline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Pre-Attentive Attributes</vt:lpstr>
      <vt:lpstr>PowerPoint Presentation</vt:lpstr>
      <vt:lpstr>PowerPoint Presentation</vt:lpstr>
      <vt:lpstr>Color in Data Visualization</vt:lpstr>
      <vt:lpstr>Color in Data Visualization</vt:lpstr>
      <vt:lpstr>Color Palette</vt:lpstr>
      <vt:lpstr>Color Palette</vt:lpstr>
      <vt:lpstr>Sequential Palette</vt:lpstr>
      <vt:lpstr>Sequential Palette</vt:lpstr>
      <vt:lpstr>PowerPoint Presentation</vt:lpstr>
      <vt:lpstr>PowerPoint Presentation</vt:lpstr>
      <vt:lpstr>PowerPoint Presentation</vt:lpstr>
      <vt:lpstr>Qualitative palettes</vt:lpstr>
      <vt:lpstr>PowerPoint Presentation</vt:lpstr>
      <vt:lpstr>PowerPoint Presentation</vt:lpstr>
      <vt:lpstr>PowerPoint Presentation</vt:lpstr>
      <vt:lpstr>PowerPoint Presentation</vt:lpstr>
      <vt:lpstr>Diverging Palette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918</cp:revision>
  <dcterms:created xsi:type="dcterms:W3CDTF">2024-08-08T01:29:50Z</dcterms:created>
  <dcterms:modified xsi:type="dcterms:W3CDTF">2026-01-06T10:46:44Z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